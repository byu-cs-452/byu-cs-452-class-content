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6"/>
  </p:notesMasterIdLst>
  <p:sldIdLst>
    <p:sldId id="258" r:id="rId2"/>
    <p:sldId id="562" r:id="rId3"/>
    <p:sldId id="563" r:id="rId4"/>
    <p:sldId id="335" r:id="rId5"/>
    <p:sldId id="336" r:id="rId6"/>
    <p:sldId id="338" r:id="rId7"/>
    <p:sldId id="339" r:id="rId8"/>
    <p:sldId id="340" r:id="rId9"/>
    <p:sldId id="341" r:id="rId10"/>
    <p:sldId id="342" r:id="rId11"/>
    <p:sldId id="306" r:id="rId12"/>
    <p:sldId id="1992" r:id="rId13"/>
    <p:sldId id="1993" r:id="rId14"/>
    <p:sldId id="1994" r:id="rId15"/>
    <p:sldId id="574" r:id="rId16"/>
    <p:sldId id="575" r:id="rId17"/>
    <p:sldId id="576" r:id="rId18"/>
    <p:sldId id="577" r:id="rId19"/>
    <p:sldId id="580" r:id="rId20"/>
    <p:sldId id="1995" r:id="rId21"/>
    <p:sldId id="1996" r:id="rId22"/>
    <p:sldId id="1980" r:id="rId23"/>
    <p:sldId id="1960" r:id="rId24"/>
    <p:sldId id="1981" r:id="rId25"/>
    <p:sldId id="1997" r:id="rId26"/>
    <p:sldId id="1987" r:id="rId27"/>
    <p:sldId id="1982" r:id="rId28"/>
    <p:sldId id="1983" r:id="rId29"/>
    <p:sldId id="1984" r:id="rId30"/>
    <p:sldId id="1985" r:id="rId31"/>
    <p:sldId id="1986" r:id="rId32"/>
    <p:sldId id="1998" r:id="rId33"/>
    <p:sldId id="1967" r:id="rId34"/>
    <p:sldId id="196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59"/>
    <p:restoredTop sz="96327"/>
  </p:normalViewPr>
  <p:slideViewPr>
    <p:cSldViewPr snapToGrid="0" snapToObjects="1">
      <p:cViewPr varScale="1">
        <p:scale>
          <a:sx n="150" d="100"/>
          <a:sy n="15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xin/Downloads/benchmark-0425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875377500815802"/>
          <c:y val="6.4686322271097205E-2"/>
          <c:w val="0.66484266317390806"/>
          <c:h val="0.625266757122033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filter</c:v>
                </c:pt>
              </c:strCache>
            </c:strRef>
          </c:tx>
          <c:invertIfNegative val="0"/>
          <c:dPt>
            <c:idx val="2"/>
            <c:invertIfNegative val="0"/>
            <c:bubble3D val="0"/>
            <c:spPr>
              <a:solidFill>
                <a:srgbClr val="9BBB59"/>
              </a:solidFill>
            </c:spPr>
            <c:extLst>
              <c:ext xmlns:c16="http://schemas.microsoft.com/office/drawing/2014/chart" uri="{C3380CC4-5D6E-409C-BE32-E72D297353CC}">
                <c16:uniqueId val="{00000001-A2F8-BC4F-9A83-B7A411B7E38C}"/>
              </c:ext>
            </c:extLst>
          </c:dPt>
          <c:dPt>
            <c:idx val="3"/>
            <c:invertIfNegative val="0"/>
            <c:bubble3D val="0"/>
            <c:spPr>
              <a:solidFill>
                <a:srgbClr val="9BBB59"/>
              </a:solidFill>
            </c:spPr>
            <c:extLst>
              <c:ext xmlns:c16="http://schemas.microsoft.com/office/drawing/2014/chart" uri="{C3380CC4-5D6E-409C-BE32-E72D297353CC}">
                <c16:uniqueId val="{00000003-A2F8-BC4F-9A83-B7A411B7E38C}"/>
              </c:ext>
            </c:extLst>
          </c:dPt>
          <c:dPt>
            <c:idx val="4"/>
            <c:invertIfNegative val="0"/>
            <c:bubble3D val="0"/>
            <c:spPr>
              <a:solidFill>
                <a:srgbClr val="A3B95E"/>
              </a:solidFill>
            </c:spPr>
            <c:extLst>
              <c:ext xmlns:c16="http://schemas.microsoft.com/office/drawing/2014/chart" uri="{C3380CC4-5D6E-409C-BE32-E72D297353CC}">
                <c16:uniqueId val="{00000005-A2F8-BC4F-9A83-B7A411B7E38C}"/>
              </c:ext>
            </c:extLst>
          </c:dPt>
          <c:dPt>
            <c:idx val="5"/>
            <c:invertIfNegative val="0"/>
            <c:bubble3D val="0"/>
            <c:spPr>
              <a:solidFill>
                <a:srgbClr val="A3B95E"/>
              </a:solidFill>
            </c:spPr>
            <c:extLst>
              <c:ext xmlns:c16="http://schemas.microsoft.com/office/drawing/2014/chart" uri="{C3380CC4-5D6E-409C-BE32-E72D297353CC}">
                <c16:uniqueId val="{00000007-A2F8-BC4F-9A83-B7A411B7E38C}"/>
              </c:ext>
            </c:extLst>
          </c:dPt>
          <c:cat>
            <c:strRef>
              <c:f>Sheet1!$A$2:$A$7</c:f>
              <c:strCache>
                <c:ptCount val="2"/>
                <c:pt idx="0">
                  <c:v>Java/Scala</c:v>
                </c:pt>
                <c:pt idx="1">
                  <c:v>Python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</c:v>
                </c:pt>
                <c:pt idx="1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F8-BC4F-9A83-B7A411B7E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132164488"/>
        <c:axId val="2132161048"/>
      </c:barChart>
      <c:catAx>
        <c:axId val="213216448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0" i="0">
                <a:latin typeface="Source Sans Pro Light"/>
              </a:defRPr>
            </a:pPr>
            <a:endParaRPr lang="en-US"/>
          </a:p>
        </c:txPr>
        <c:crossAx val="2132161048"/>
        <c:crosses val="autoZero"/>
        <c:auto val="1"/>
        <c:lblAlgn val="ctr"/>
        <c:lblOffset val="100"/>
        <c:noMultiLvlLbl val="0"/>
      </c:catAx>
      <c:valAx>
        <c:axId val="213216104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800" b="0" i="0">
                    <a:latin typeface="Source Sans Pro Light"/>
                  </a:defRPr>
                </a:pPr>
                <a:r>
                  <a:rPr lang="en-US" sz="1800" b="0" i="0" dirty="0">
                    <a:latin typeface="Source Sans Pro Light"/>
                  </a:rPr>
                  <a:t>Runtime</a:t>
                </a:r>
                <a:r>
                  <a:rPr lang="en-US" sz="1800" b="0" i="0" baseline="0" dirty="0">
                    <a:latin typeface="Source Sans Pro Light"/>
                  </a:rPr>
                  <a:t> for an example aggregation workload (sec)</a:t>
                </a:r>
                <a:endParaRPr lang="en-US" sz="1800" b="0" i="0" dirty="0">
                  <a:latin typeface="Source Sans Pro Light"/>
                </a:endParaRPr>
              </a:p>
            </c:rich>
          </c:tx>
          <c:layout>
            <c:manualLayout>
              <c:xMode val="edge"/>
              <c:yMode val="edge"/>
              <c:x val="0.27749801362935"/>
              <c:y val="0.8188239190359910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Source Sans Pro Light"/>
              </a:defRPr>
            </a:pPr>
            <a:endParaRPr lang="en-US"/>
          </a:p>
        </c:txPr>
        <c:crossAx val="2132164488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800">
          <a:latin typeface="Newslab Light"/>
          <a:cs typeface="Newslab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875377500815802"/>
          <c:y val="6.4686322271097205E-2"/>
          <c:w val="0.66484266317390806"/>
          <c:h val="0.625266757122033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filter</c:v>
                </c:pt>
              </c:strCache>
            </c:strRef>
          </c:tx>
          <c:invertIfNegative val="0"/>
          <c:dPt>
            <c:idx val="2"/>
            <c:invertIfNegative val="0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1-9233-7740-AE21-D97E25EDE401}"/>
              </c:ext>
            </c:extLst>
          </c:dPt>
          <c:dPt>
            <c:idx val="3"/>
            <c:invertIfNegative val="0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3-9233-7740-AE21-D97E25EDE401}"/>
              </c:ext>
            </c:extLst>
          </c:dPt>
          <c:dPt>
            <c:idx val="4"/>
            <c:invertIfNegative val="0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5-9233-7740-AE21-D97E25EDE401}"/>
              </c:ext>
            </c:extLst>
          </c:dPt>
          <c:dPt>
            <c:idx val="5"/>
            <c:invertIfNegative val="0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7-9233-7740-AE21-D97E25EDE401}"/>
              </c:ext>
            </c:extLst>
          </c:dPt>
          <c:cat>
            <c:strRef>
              <c:f>Sheet1!$A$2:$A$7</c:f>
              <c:strCache>
                <c:ptCount val="6"/>
                <c:pt idx="0">
                  <c:v>Java/Scala</c:v>
                </c:pt>
                <c:pt idx="1">
                  <c:v>Python</c:v>
                </c:pt>
                <c:pt idx="2">
                  <c:v>Java/Scala</c:v>
                </c:pt>
                <c:pt idx="3">
                  <c:v>Python</c:v>
                </c:pt>
                <c:pt idx="4">
                  <c:v>R</c:v>
                </c:pt>
                <c:pt idx="5">
                  <c:v>SQL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</c:v>
                </c:pt>
                <c:pt idx="1">
                  <c:v>9.5</c:v>
                </c:pt>
                <c:pt idx="2">
                  <c:v>2.1</c:v>
                </c:pt>
                <c:pt idx="3">
                  <c:v>2.08</c:v>
                </c:pt>
                <c:pt idx="4">
                  <c:v>2.11</c:v>
                </c:pt>
                <c:pt idx="5">
                  <c:v>2.09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33-7740-AE21-D97E25EDE4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114831064"/>
        <c:axId val="2117231736"/>
      </c:barChart>
      <c:catAx>
        <c:axId val="21148310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0" i="0">
                <a:latin typeface="Source Sans Pro Light"/>
              </a:defRPr>
            </a:pPr>
            <a:endParaRPr lang="en-US"/>
          </a:p>
        </c:txPr>
        <c:crossAx val="2117231736"/>
        <c:crosses val="autoZero"/>
        <c:auto val="1"/>
        <c:lblAlgn val="ctr"/>
        <c:lblOffset val="100"/>
        <c:noMultiLvlLbl val="0"/>
      </c:catAx>
      <c:valAx>
        <c:axId val="2117231736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800" b="0" i="0">
                    <a:latin typeface="Source Sans Pro Light"/>
                  </a:defRPr>
                </a:pPr>
                <a:r>
                  <a:rPr lang="en-US" sz="1800" b="0" i="0" dirty="0">
                    <a:latin typeface="Source Sans Pro Light"/>
                  </a:rPr>
                  <a:t>Runtime</a:t>
                </a:r>
                <a:r>
                  <a:rPr lang="en-US" sz="1800" b="0" i="0" baseline="0" dirty="0">
                    <a:latin typeface="Source Sans Pro Light"/>
                  </a:rPr>
                  <a:t> for an example aggregation workload (sec)</a:t>
                </a:r>
                <a:endParaRPr lang="en-US" sz="1800" b="0" i="0" dirty="0">
                  <a:latin typeface="Source Sans Pro Light"/>
                </a:endParaRPr>
              </a:p>
            </c:rich>
          </c:tx>
          <c:layout>
            <c:manualLayout>
              <c:xMode val="edge"/>
              <c:yMode val="edge"/>
              <c:x val="0.28467290192707329"/>
              <c:y val="0.8188239190359910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Source Sans Pro Light"/>
              </a:defRPr>
            </a:pPr>
            <a:endParaRPr lang="en-US"/>
          </a:p>
        </c:txPr>
        <c:crossAx val="2114831064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800">
          <a:latin typeface="Newslab Light"/>
          <a:cs typeface="Newslab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0" dirty="0">
                <a:latin typeface="Newslab" charset="0"/>
                <a:ea typeface="Newslab" charset="0"/>
                <a:cs typeface="Newslab" charset="0"/>
              </a:rPr>
              <a:t>TPC-DS Spark</a:t>
            </a:r>
            <a:r>
              <a:rPr lang="en-US" sz="2400" b="0" i="0" baseline="0" dirty="0">
                <a:latin typeface="Newslab" charset="0"/>
                <a:ea typeface="Newslab" charset="0"/>
                <a:cs typeface="Newslab" charset="0"/>
              </a:rPr>
              <a:t> 2.0 vs 1.6 – Lower is Better</a:t>
            </a:r>
            <a:endParaRPr lang="en-US" sz="2400" b="0" i="0" dirty="0">
              <a:latin typeface="Newslab" charset="0"/>
              <a:ea typeface="Newslab" charset="0"/>
              <a:cs typeface="Newslab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(1.6)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Sheet1!$A$2:$A$39</c:f>
              <c:strCache>
                <c:ptCount val="38"/>
                <c:pt idx="0">
                  <c:v>q1</c:v>
                </c:pt>
                <c:pt idx="1">
                  <c:v>q11</c:v>
                </c:pt>
                <c:pt idx="2">
                  <c:v>q13</c:v>
                </c:pt>
                <c:pt idx="3">
                  <c:v>q15</c:v>
                </c:pt>
                <c:pt idx="4">
                  <c:v>q17</c:v>
                </c:pt>
                <c:pt idx="5">
                  <c:v>q19</c:v>
                </c:pt>
                <c:pt idx="6">
                  <c:v>q2</c:v>
                </c:pt>
                <c:pt idx="7">
                  <c:v>q21</c:v>
                </c:pt>
                <c:pt idx="8">
                  <c:v>q25</c:v>
                </c:pt>
                <c:pt idx="9">
                  <c:v>q26</c:v>
                </c:pt>
                <c:pt idx="10">
                  <c:v>q28</c:v>
                </c:pt>
                <c:pt idx="11">
                  <c:v>q29</c:v>
                </c:pt>
                <c:pt idx="12">
                  <c:v>q3</c:v>
                </c:pt>
                <c:pt idx="13">
                  <c:v>q31</c:v>
                </c:pt>
                <c:pt idx="14">
                  <c:v>q34</c:v>
                </c:pt>
                <c:pt idx="15">
                  <c:v>q37</c:v>
                </c:pt>
                <c:pt idx="16">
                  <c:v>q38</c:v>
                </c:pt>
                <c:pt idx="17">
                  <c:v>q39a</c:v>
                </c:pt>
                <c:pt idx="18">
                  <c:v>q39b</c:v>
                </c:pt>
                <c:pt idx="19">
                  <c:v>q4</c:v>
                </c:pt>
                <c:pt idx="20">
                  <c:v>q40</c:v>
                </c:pt>
                <c:pt idx="21">
                  <c:v>q42</c:v>
                </c:pt>
                <c:pt idx="22">
                  <c:v>q43</c:v>
                </c:pt>
                <c:pt idx="23">
                  <c:v>q46</c:v>
                </c:pt>
                <c:pt idx="24">
                  <c:v>q48</c:v>
                </c:pt>
                <c:pt idx="25">
                  <c:v>q50</c:v>
                </c:pt>
                <c:pt idx="26">
                  <c:v>q52</c:v>
                </c:pt>
                <c:pt idx="27">
                  <c:v>q55</c:v>
                </c:pt>
                <c:pt idx="28">
                  <c:v>q59</c:v>
                </c:pt>
                <c:pt idx="29">
                  <c:v>q61</c:v>
                </c:pt>
                <c:pt idx="30">
                  <c:v>q62</c:v>
                </c:pt>
                <c:pt idx="31">
                  <c:v>q66</c:v>
                </c:pt>
                <c:pt idx="32">
                  <c:v>q68</c:v>
                </c:pt>
                <c:pt idx="33">
                  <c:v>q7</c:v>
                </c:pt>
                <c:pt idx="34">
                  <c:v>q71</c:v>
                </c:pt>
                <c:pt idx="35">
                  <c:v>q73</c:v>
                </c:pt>
                <c:pt idx="36">
                  <c:v>q74</c:v>
                </c:pt>
                <c:pt idx="37">
                  <c:v>q75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5.0599999999999996</c:v>
                </c:pt>
                <c:pt idx="1">
                  <c:v>129.876</c:v>
                </c:pt>
                <c:pt idx="2">
                  <c:v>172.96799999999999</c:v>
                </c:pt>
                <c:pt idx="3">
                  <c:v>22.091999999999999</c:v>
                </c:pt>
                <c:pt idx="4">
                  <c:v>70.994</c:v>
                </c:pt>
                <c:pt idx="5">
                  <c:v>8.8819999999999997</c:v>
                </c:pt>
                <c:pt idx="6">
                  <c:v>32.326000000000001</c:v>
                </c:pt>
                <c:pt idx="7">
                  <c:v>242.30600000000001</c:v>
                </c:pt>
                <c:pt idx="8">
                  <c:v>75.382000000000005</c:v>
                </c:pt>
                <c:pt idx="9">
                  <c:v>5.2859999999999996</c:v>
                </c:pt>
                <c:pt idx="10">
                  <c:v>50.213999999999999</c:v>
                </c:pt>
                <c:pt idx="11">
                  <c:v>71.251999999999995</c:v>
                </c:pt>
                <c:pt idx="12">
                  <c:v>10.442</c:v>
                </c:pt>
                <c:pt idx="13">
                  <c:v>25.263999999999999</c:v>
                </c:pt>
                <c:pt idx="14">
                  <c:v>7.9820000000000011</c:v>
                </c:pt>
                <c:pt idx="15">
                  <c:v>74.47</c:v>
                </c:pt>
                <c:pt idx="16">
                  <c:v>27.641999999999999</c:v>
                </c:pt>
                <c:pt idx="17">
                  <c:v>486.77333333333343</c:v>
                </c:pt>
                <c:pt idx="18">
                  <c:v>485.86666666666662</c:v>
                </c:pt>
                <c:pt idx="19">
                  <c:v>319.33</c:v>
                </c:pt>
                <c:pt idx="20">
                  <c:v>38.932000000000002</c:v>
                </c:pt>
                <c:pt idx="21">
                  <c:v>5.48</c:v>
                </c:pt>
                <c:pt idx="22">
                  <c:v>7.234</c:v>
                </c:pt>
                <c:pt idx="23">
                  <c:v>15.25</c:v>
                </c:pt>
                <c:pt idx="24">
                  <c:v>94.986000000000004</c:v>
                </c:pt>
                <c:pt idx="25">
                  <c:v>34.097999999999999</c:v>
                </c:pt>
                <c:pt idx="26">
                  <c:v>5.6639999999999846</c:v>
                </c:pt>
                <c:pt idx="27">
                  <c:v>5.4880000000000004</c:v>
                </c:pt>
                <c:pt idx="28">
                  <c:v>47.204000000000001</c:v>
                </c:pt>
                <c:pt idx="29">
                  <c:v>16.641999999999999</c:v>
                </c:pt>
                <c:pt idx="30">
                  <c:v>9.0100000000000016</c:v>
                </c:pt>
                <c:pt idx="31">
                  <c:v>29.036000000000001</c:v>
                </c:pt>
                <c:pt idx="32">
                  <c:v>13.814</c:v>
                </c:pt>
                <c:pt idx="33">
                  <c:v>10.518000000000001</c:v>
                </c:pt>
                <c:pt idx="34">
                  <c:v>12.103999999999999</c:v>
                </c:pt>
                <c:pt idx="35">
                  <c:v>7.4639999999999986</c:v>
                </c:pt>
                <c:pt idx="36">
                  <c:v>100.03</c:v>
                </c:pt>
                <c:pt idx="37">
                  <c:v>181.06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CE-DF49-9C54-B35E58A088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Time (2.0)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Sheet1!$A$2:$A$39</c:f>
              <c:strCache>
                <c:ptCount val="38"/>
                <c:pt idx="0">
                  <c:v>q1</c:v>
                </c:pt>
                <c:pt idx="1">
                  <c:v>q11</c:v>
                </c:pt>
                <c:pt idx="2">
                  <c:v>q13</c:v>
                </c:pt>
                <c:pt idx="3">
                  <c:v>q15</c:v>
                </c:pt>
                <c:pt idx="4">
                  <c:v>q17</c:v>
                </c:pt>
                <c:pt idx="5">
                  <c:v>q19</c:v>
                </c:pt>
                <c:pt idx="6">
                  <c:v>q2</c:v>
                </c:pt>
                <c:pt idx="7">
                  <c:v>q21</c:v>
                </c:pt>
                <c:pt idx="8">
                  <c:v>q25</c:v>
                </c:pt>
                <c:pt idx="9">
                  <c:v>q26</c:v>
                </c:pt>
                <c:pt idx="10">
                  <c:v>q28</c:v>
                </c:pt>
                <c:pt idx="11">
                  <c:v>q29</c:v>
                </c:pt>
                <c:pt idx="12">
                  <c:v>q3</c:v>
                </c:pt>
                <c:pt idx="13">
                  <c:v>q31</c:v>
                </c:pt>
                <c:pt idx="14">
                  <c:v>q34</c:v>
                </c:pt>
                <c:pt idx="15">
                  <c:v>q37</c:v>
                </c:pt>
                <c:pt idx="16">
                  <c:v>q38</c:v>
                </c:pt>
                <c:pt idx="17">
                  <c:v>q39a</c:v>
                </c:pt>
                <c:pt idx="18">
                  <c:v>q39b</c:v>
                </c:pt>
                <c:pt idx="19">
                  <c:v>q4</c:v>
                </c:pt>
                <c:pt idx="20">
                  <c:v>q40</c:v>
                </c:pt>
                <c:pt idx="21">
                  <c:v>q42</c:v>
                </c:pt>
                <c:pt idx="22">
                  <c:v>q43</c:v>
                </c:pt>
                <c:pt idx="23">
                  <c:v>q46</c:v>
                </c:pt>
                <c:pt idx="24">
                  <c:v>q48</c:v>
                </c:pt>
                <c:pt idx="25">
                  <c:v>q50</c:v>
                </c:pt>
                <c:pt idx="26">
                  <c:v>q52</c:v>
                </c:pt>
                <c:pt idx="27">
                  <c:v>q55</c:v>
                </c:pt>
                <c:pt idx="28">
                  <c:v>q59</c:v>
                </c:pt>
                <c:pt idx="29">
                  <c:v>q61</c:v>
                </c:pt>
                <c:pt idx="30">
                  <c:v>q62</c:v>
                </c:pt>
                <c:pt idx="31">
                  <c:v>q66</c:v>
                </c:pt>
                <c:pt idx="32">
                  <c:v>q68</c:v>
                </c:pt>
                <c:pt idx="33">
                  <c:v>q7</c:v>
                </c:pt>
                <c:pt idx="34">
                  <c:v>q71</c:v>
                </c:pt>
                <c:pt idx="35">
                  <c:v>q73</c:v>
                </c:pt>
                <c:pt idx="36">
                  <c:v>q74</c:v>
                </c:pt>
                <c:pt idx="37">
                  <c:v>q75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4.059333333333333</c:v>
                </c:pt>
                <c:pt idx="1">
                  <c:v>18.693999999999999</c:v>
                </c:pt>
                <c:pt idx="2">
                  <c:v>10.423999999999999</c:v>
                </c:pt>
                <c:pt idx="3">
                  <c:v>3.8239999999999998</c:v>
                </c:pt>
                <c:pt idx="4">
                  <c:v>45.006000000000007</c:v>
                </c:pt>
                <c:pt idx="5">
                  <c:v>2.762</c:v>
                </c:pt>
                <c:pt idx="6">
                  <c:v>6.6759999999999966</c:v>
                </c:pt>
                <c:pt idx="7">
                  <c:v>11.548</c:v>
                </c:pt>
                <c:pt idx="8">
                  <c:v>48.137999999999998</c:v>
                </c:pt>
                <c:pt idx="9">
                  <c:v>1.954</c:v>
                </c:pt>
                <c:pt idx="10">
                  <c:v>10.206</c:v>
                </c:pt>
                <c:pt idx="11">
                  <c:v>43.55</c:v>
                </c:pt>
                <c:pt idx="12">
                  <c:v>1.6739999999999999</c:v>
                </c:pt>
                <c:pt idx="13">
                  <c:v>7.4079999999999986</c:v>
                </c:pt>
                <c:pt idx="14">
                  <c:v>4.9020000000000001</c:v>
                </c:pt>
                <c:pt idx="15">
                  <c:v>10.616</c:v>
                </c:pt>
                <c:pt idx="16">
                  <c:v>8.8180000000000014</c:v>
                </c:pt>
                <c:pt idx="17">
                  <c:v>22.303999999999998</c:v>
                </c:pt>
                <c:pt idx="18">
                  <c:v>20.838000000000001</c:v>
                </c:pt>
                <c:pt idx="19">
                  <c:v>111.96</c:v>
                </c:pt>
                <c:pt idx="20">
                  <c:v>8.1660000000000004</c:v>
                </c:pt>
                <c:pt idx="21">
                  <c:v>1.714</c:v>
                </c:pt>
                <c:pt idx="22">
                  <c:v>2.0019999999999998</c:v>
                </c:pt>
                <c:pt idx="23">
                  <c:v>4.774</c:v>
                </c:pt>
                <c:pt idx="24">
                  <c:v>11.858000000000001</c:v>
                </c:pt>
                <c:pt idx="25">
                  <c:v>22.3125</c:v>
                </c:pt>
                <c:pt idx="26">
                  <c:v>1.53</c:v>
                </c:pt>
                <c:pt idx="27">
                  <c:v>1.5980000000000001</c:v>
                </c:pt>
                <c:pt idx="28">
                  <c:v>10.084</c:v>
                </c:pt>
                <c:pt idx="29">
                  <c:v>5.2140000000000004</c:v>
                </c:pt>
                <c:pt idx="30">
                  <c:v>1.694</c:v>
                </c:pt>
                <c:pt idx="31">
                  <c:v>13.262</c:v>
                </c:pt>
                <c:pt idx="32">
                  <c:v>4.6579999999999746</c:v>
                </c:pt>
                <c:pt idx="33">
                  <c:v>3.7679999999999998</c:v>
                </c:pt>
                <c:pt idx="34">
                  <c:v>3.6120000000000001</c:v>
                </c:pt>
                <c:pt idx="35">
                  <c:v>4.17</c:v>
                </c:pt>
                <c:pt idx="36">
                  <c:v>13.432</c:v>
                </c:pt>
                <c:pt idx="37">
                  <c:v>51.303333333333327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CE-DF49-9C54-B35E58A088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7002248"/>
        <c:axId val="2137005816"/>
      </c:barChart>
      <c:catAx>
        <c:axId val="2137002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7005816"/>
        <c:crosses val="autoZero"/>
        <c:auto val="1"/>
        <c:lblAlgn val="ctr"/>
        <c:lblOffset val="100"/>
        <c:noMultiLvlLbl val="0"/>
      </c:catAx>
      <c:valAx>
        <c:axId val="2137005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 i="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Runtime (seconds)</a:t>
                </a:r>
              </a:p>
            </c:rich>
          </c:tx>
          <c:layout>
            <c:manualLayout>
              <c:xMode val="edge"/>
              <c:yMode val="edge"/>
              <c:x val="9.9584166095187197E-3"/>
              <c:y val="0.3701130217899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defRPr>
            </a:pPr>
            <a:endParaRPr lang="en-US"/>
          </a:p>
        </c:txPr>
        <c:crossAx val="2137002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83797432139943895"/>
          <c:y val="0.14203305240710201"/>
          <c:w val="0.13499569066043901"/>
          <c:h val="0.18315472280477099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686BE-5348-9E4C-B5DF-C6F17847F68D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BE598-9299-8B4B-91ED-F9A52B2F8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2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3075" y="728663"/>
            <a:ext cx="6372225" cy="358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897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38458" y="6948170"/>
            <a:ext cx="4160520" cy="365760"/>
          </a:xfrm>
          <a:prstGeom prst="rect">
            <a:avLst/>
          </a:prstGeom>
        </p:spPr>
        <p:txBody>
          <a:bodyPr/>
          <a:lstStyle/>
          <a:p>
            <a:fld id="{F4DB17D3-99E1-4420-81D7-8B4A93584CA0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72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217709" tIns="108855" rIns="217709" bIns="108855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217709" tIns="108855" rIns="217709" bIns="108855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217709" tIns="108855" rIns="217709" bIns="108855"/>
          <a:lstStyle>
            <a:lvl1pPr>
              <a:defRPr/>
            </a:lvl1pPr>
          </a:lstStyle>
          <a:p>
            <a:pPr>
              <a:defRPr/>
            </a:pPr>
            <a:fld id="{74F38D69-7854-5743-8814-6FD6FB500D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5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E35366-9ADD-EB4E-BBBA-F0C9011757AA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87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eSQA3Qd303Wl1Jl05FbZ9SetDGXv3gVl?usp=shari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p1RUAcrucqvmiKB6uXQ3xNx5mJviCJqA#scrollTo=sIlbT4okLvU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CN" sz="7200" b="1" dirty="0">
                <a:latin typeface="微软雅黑" pitchFamily="34" charset="-122"/>
                <a:ea typeface="微软雅黑" pitchFamily="34" charset="-122"/>
              </a:rPr>
              <a:t>Spark</a:t>
            </a:r>
            <a:endParaRPr lang="zh-CN" altLang="en-US" sz="7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1C581-9986-7F46-ADC0-ECC2D03C6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Fast,  Interactive, Language-Integrated Cluster Computing</a:t>
            </a:r>
            <a:endParaRPr lang="zh-CN" alt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6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Resilient Distributed Datasets (RDD)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RDD can be created from existing collections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RDD can also be created from an existing file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156" y="2292744"/>
            <a:ext cx="832485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044" y="4560094"/>
            <a:ext cx="56197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ED2E4C-140A-5549-BC27-4EE30080852F}"/>
              </a:ext>
            </a:extLst>
          </p:cNvPr>
          <p:cNvSpPr/>
          <p:nvPr/>
        </p:nvSpPr>
        <p:spPr>
          <a:xfrm>
            <a:off x="2097156" y="525363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sc.textFile</a:t>
            </a:r>
            <a:r>
              <a:rPr lang="en-US" dirty="0">
                <a:latin typeface="Consolas"/>
                <a:cs typeface="Consolas"/>
              </a:rPr>
              <a:t>(</a:t>
            </a:r>
            <a:r>
              <a:rPr lang="en-US" dirty="0">
                <a:solidFill>
                  <a:srgbClr val="000090"/>
                </a:solidFill>
                <a:latin typeface="Consolas"/>
                <a:cs typeface="Consolas"/>
              </a:rPr>
              <a:t>“</a:t>
            </a:r>
            <a:r>
              <a:rPr lang="en-US" dirty="0" err="1">
                <a:solidFill>
                  <a:srgbClr val="000090"/>
                </a:solidFill>
                <a:latin typeface="Consolas"/>
                <a:cs typeface="Consolas"/>
              </a:rPr>
              <a:t>file.txt</a:t>
            </a:r>
            <a:r>
              <a:rPr lang="en-US" dirty="0">
                <a:solidFill>
                  <a:srgbClr val="000090"/>
                </a:solidFill>
                <a:latin typeface="Consolas"/>
                <a:cs typeface="Consolas"/>
              </a:rPr>
              <a:t>”</a:t>
            </a:r>
            <a:r>
              <a:rPr lang="en-US" dirty="0">
                <a:latin typeface="Consolas"/>
                <a:cs typeface="Consolas"/>
              </a:rPr>
              <a:t>)</a:t>
            </a:r>
          </a:p>
          <a:p>
            <a:r>
              <a:rPr lang="en-US" dirty="0" err="1">
                <a:latin typeface="Consolas"/>
                <a:cs typeface="Consolas"/>
              </a:rPr>
              <a:t>sc.textFile</a:t>
            </a:r>
            <a:r>
              <a:rPr lang="en-US" dirty="0">
                <a:latin typeface="Consolas"/>
                <a:cs typeface="Consolas"/>
              </a:rPr>
              <a:t>(</a:t>
            </a:r>
            <a:r>
              <a:rPr lang="en-US" dirty="0">
                <a:solidFill>
                  <a:srgbClr val="000090"/>
                </a:solidFill>
                <a:latin typeface="Consolas"/>
                <a:cs typeface="Consolas"/>
              </a:rPr>
              <a:t>“directory/*.txt”</a:t>
            </a:r>
            <a:r>
              <a:rPr lang="en-US" dirty="0">
                <a:latin typeface="Consolas"/>
                <a:cs typeface="Consolas"/>
              </a:rPr>
              <a:t>)</a:t>
            </a:r>
          </a:p>
          <a:p>
            <a:r>
              <a:rPr lang="en-US" dirty="0" err="1">
                <a:latin typeface="Consolas"/>
                <a:cs typeface="Consolas"/>
              </a:rPr>
              <a:t>sc.textFile</a:t>
            </a:r>
            <a:r>
              <a:rPr lang="en-US" dirty="0">
                <a:latin typeface="Consolas"/>
                <a:cs typeface="Consolas"/>
              </a:rPr>
              <a:t>(</a:t>
            </a:r>
            <a:r>
              <a:rPr lang="en-US" dirty="0">
                <a:solidFill>
                  <a:srgbClr val="000090"/>
                </a:solidFill>
                <a:latin typeface="Consolas"/>
                <a:cs typeface="Consolas"/>
              </a:rPr>
              <a:t>“</a:t>
            </a:r>
            <a:r>
              <a:rPr lang="en-US" dirty="0" err="1">
                <a:solidFill>
                  <a:srgbClr val="000090"/>
                </a:solidFill>
                <a:latin typeface="Consolas"/>
                <a:cs typeface="Consolas"/>
              </a:rPr>
              <a:t>hdfs</a:t>
            </a:r>
            <a:r>
              <a:rPr lang="en-US" dirty="0">
                <a:solidFill>
                  <a:srgbClr val="000090"/>
                </a:solidFill>
                <a:latin typeface="Consolas"/>
                <a:cs typeface="Consolas"/>
              </a:rPr>
              <a:t>://namenode:9000/path/file”</a:t>
            </a:r>
            <a:r>
              <a:rPr lang="en-US" dirty="0">
                <a:latin typeface="Consolas"/>
                <a:cs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562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an RDD is created, we have a distributed collection of records that we can manipulate</a:t>
            </a:r>
          </a:p>
          <a:p>
            <a:endParaRPr lang="en-US" dirty="0"/>
          </a:p>
          <a:p>
            <a:r>
              <a:rPr lang="en-US" dirty="0"/>
              <a:t>There are 2 types of operations we can perform</a:t>
            </a:r>
          </a:p>
          <a:p>
            <a:pPr lvl="1"/>
            <a:r>
              <a:rPr lang="en-US" dirty="0"/>
              <a:t>Transformation</a:t>
            </a:r>
          </a:p>
          <a:p>
            <a:pPr lvl="2"/>
            <a:r>
              <a:rPr lang="en-US" dirty="0"/>
              <a:t> Applies the same function to all the records</a:t>
            </a:r>
          </a:p>
          <a:p>
            <a:pPr lvl="2"/>
            <a:r>
              <a:rPr lang="en-US" dirty="0"/>
              <a:t> Lazy evaluation – not evaluated immediately</a:t>
            </a:r>
          </a:p>
          <a:p>
            <a:pPr lvl="1"/>
            <a:r>
              <a:rPr lang="en-US" dirty="0"/>
              <a:t>Action</a:t>
            </a:r>
          </a:p>
          <a:p>
            <a:pPr lvl="2"/>
            <a:r>
              <a:rPr lang="en-US" dirty="0"/>
              <a:t> Runs some computation or aggregation operation and returns the result to the driver program where </a:t>
            </a:r>
            <a:r>
              <a:rPr lang="en-US" dirty="0" err="1"/>
              <a:t>SparkContext</a:t>
            </a:r>
            <a:r>
              <a:rPr lang="en-US" dirty="0"/>
              <a:t> is running</a:t>
            </a:r>
          </a:p>
          <a:p>
            <a:pPr lvl="2"/>
            <a:r>
              <a:rPr lang="en-US" dirty="0"/>
              <a:t> Eager evaluation – evaluated right way</a:t>
            </a:r>
          </a:p>
        </p:txBody>
      </p:sp>
    </p:spTree>
    <p:extLst>
      <p:ext uri="{BB962C8B-B14F-4D97-AF65-F5344CB8AC3E}">
        <p14:creationId xmlns:p14="http://schemas.microsoft.com/office/powerpoint/2010/main" val="23172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dataset from an existing one.</a:t>
            </a:r>
          </a:p>
          <a:p>
            <a:r>
              <a:rPr lang="en-US" dirty="0"/>
              <a:t>Evaluated lazily </a:t>
            </a:r>
            <a:r>
              <a:rPr lang="mr-IN" dirty="0"/>
              <a:t>–</a:t>
            </a:r>
            <a:r>
              <a:rPr lang="en-US" dirty="0"/>
              <a:t> won’t be executed until action is called for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604" y="2892422"/>
            <a:ext cx="7128792" cy="308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90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31" y="1845734"/>
            <a:ext cx="6338738" cy="445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1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09" y="1845734"/>
            <a:ext cx="6696744" cy="459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0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3" y="1600201"/>
            <a:ext cx="762267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3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Kick off evaluations and begin computation</a:t>
            </a:r>
          </a:p>
          <a:p>
            <a:r>
              <a:rPr lang="en-US" dirty="0"/>
              <a:t>Specify the result of an operation or aggregation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20" y="2849621"/>
            <a:ext cx="6480720" cy="31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1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601953"/>
            <a:ext cx="6624736" cy="452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1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600200"/>
            <a:ext cx="6480720" cy="459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Transformations &amp; Actions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82" b="4586"/>
          <a:stretch/>
        </p:blipFill>
        <p:spPr>
          <a:xfrm>
            <a:off x="2047461" y="1908313"/>
            <a:ext cx="7942761" cy="4313584"/>
          </a:xfrm>
        </p:spPr>
      </p:pic>
    </p:spTree>
    <p:extLst>
      <p:ext uri="{BB962C8B-B14F-4D97-AF65-F5344CB8AC3E}">
        <p14:creationId xmlns:p14="http://schemas.microsoft.com/office/powerpoint/2010/main" val="81105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7013-74F6-A1D0-6EA9-D01DA53A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interact with Spark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FBF2-B81E-5767-F458-4A5955CF0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/>
              <a:t>Pyspark</a:t>
            </a:r>
            <a:r>
              <a:rPr lang="en-US" sz="2800" b="1" dirty="0"/>
              <a:t> API:</a:t>
            </a:r>
          </a:p>
          <a:p>
            <a:r>
              <a:rPr lang="en-US" sz="2800" dirty="0"/>
              <a:t>- Transformations on RDD’s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b="1" dirty="0"/>
              <a:t>Spark </a:t>
            </a:r>
            <a:r>
              <a:rPr lang="en-US" sz="2800" b="1" dirty="0" err="1"/>
              <a:t>DataFrames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 - Abstract RDD’s as </a:t>
            </a:r>
            <a:r>
              <a:rPr lang="en-US" sz="2800" dirty="0" err="1"/>
              <a:t>DataFrames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b="1" dirty="0" err="1"/>
              <a:t>SparkSQL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 </a:t>
            </a:r>
            <a:r>
              <a:rPr lang="en-US" sz="2800" dirty="0"/>
              <a:t>- Register data frames and execute SQL code with spark context</a:t>
            </a:r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7967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05F0-ED78-5A3B-4B46-4D425686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97240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6146-58F8-76D1-C2AD-16EE42E4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Wordcount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49FF-04FA-56A5-8C02-5DBDAF551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https://colab.research.google.com/drive/1eSQA3Qd303Wl1Jl05FbZ9SetDGXv3gVl?usp=sharing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2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data: Shakespeare’s quotes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703" y="2220718"/>
            <a:ext cx="7103165" cy="396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8814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</a:t>
            </a:r>
            <a:r>
              <a:rPr lang="en-US" dirty="0" err="1"/>
              <a:t>WordCount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perform more preprocessing:</a:t>
            </a:r>
          </a:p>
          <a:p>
            <a:pPr lvl="1"/>
            <a:r>
              <a:rPr lang="en-US" dirty="0"/>
              <a:t>Remove punctuations (colons, periods, commas, semicolons)</a:t>
            </a:r>
          </a:p>
          <a:p>
            <a:pPr lvl="1"/>
            <a:r>
              <a:rPr lang="en-US" dirty="0"/>
              <a:t>Convert letters to lower-case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3154398"/>
            <a:ext cx="8890000" cy="2789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373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</a:t>
            </a:r>
            <a:r>
              <a:rPr lang="en-US" dirty="0" err="1"/>
              <a:t>WordCount</a:t>
            </a:r>
            <a:r>
              <a:rPr lang="en-US" dirty="0"/>
              <a:t>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the frequency of words and filter out the words that appear only once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880423"/>
            <a:ext cx="8801100" cy="253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5149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Grade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Input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Schema:</a:t>
            </a:r>
          </a:p>
          <a:p>
            <a:pPr marL="457200" lvl="1" indent="0">
              <a:buNone/>
            </a:pPr>
            <a:r>
              <a:rPr lang="en-US" dirty="0"/>
              <a:t>	grade( name, hw1, hw2, hw3 )</a:t>
            </a:r>
          </a:p>
          <a:p>
            <a:pPr marL="457200" lvl="1" indent="0">
              <a:buNone/>
            </a:pPr>
            <a:r>
              <a:rPr lang="en-US" dirty="0"/>
              <a:t>	major( name, </a:t>
            </a:r>
            <a:r>
              <a:rPr lang="en-US" dirty="0" err="1"/>
              <a:t>dept</a:t>
            </a:r>
            <a:r>
              <a:rPr lang="en-US" dirty="0"/>
              <a:t> )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757" y="2130552"/>
            <a:ext cx="5460140" cy="2596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529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Grade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joined RDD from RDDs for grade and major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7" y="2312989"/>
            <a:ext cx="858202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8" y="4010026"/>
            <a:ext cx="8839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5322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Grade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joined RDD from RDDs for grade and major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7" y="2312989"/>
            <a:ext cx="858202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8" y="4010026"/>
            <a:ext cx="8839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04987" y="5650088"/>
            <a:ext cx="8497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</a:t>
            </a:r>
            <a:r>
              <a:rPr lang="en-US" sz="2000" dirty="0" err="1"/>
              <a:t>rdd.keyBy</a:t>
            </a:r>
            <a:r>
              <a:rPr lang="en-US" sz="2000" dirty="0"/>
              <a:t>() to specify the keys for joining</a:t>
            </a:r>
          </a:p>
          <a:p>
            <a:r>
              <a:rPr lang="en-US" sz="2000" dirty="0"/>
              <a:t>We still need to process the result to merge the tuples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FF0000"/>
                </a:solidFill>
                <a:sym typeface="Wingdings" pitchFamily="2" charset="2"/>
              </a:rPr>
              <a:t>PAINFUL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3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69C0-FFE9-4C97-5958-987237F5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DataFrames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086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r>
              <a:rPr lang="en-US" dirty="0"/>
              <a:t> in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195" y="1875551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Distributed collection of data grouped into named columns </a:t>
            </a:r>
            <a:br>
              <a:rPr lang="en-US" sz="1600" dirty="0"/>
            </a:br>
            <a:r>
              <a:rPr lang="en-US" sz="1600" dirty="0"/>
              <a:t>(i.e. RDD with schema)</a:t>
            </a:r>
          </a:p>
          <a:p>
            <a:pPr marL="0" indent="0">
              <a:buNone/>
            </a:pPr>
            <a:r>
              <a:rPr lang="en-US" sz="1600" dirty="0"/>
              <a:t>Domain-specific functions designed for common tasks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Metadata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Sampling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Project, filter, aggregation, join, …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User Defined Functions</a:t>
            </a:r>
          </a:p>
          <a:p>
            <a:pPr marL="0" indent="0">
              <a:buNone/>
            </a:pPr>
            <a:r>
              <a:rPr lang="en-US" sz="1600" dirty="0"/>
              <a:t>Available in Python, Scala, Java, and R</a:t>
            </a:r>
          </a:p>
          <a:p>
            <a:pPr marL="0" indent="0">
              <a:buNone/>
            </a:pPr>
            <a:r>
              <a:rPr lang="en-US" sz="1600" dirty="0"/>
              <a:t>Analogous to pandas </a:t>
            </a:r>
            <a:r>
              <a:rPr lang="en-US" sz="1600" dirty="0" err="1"/>
              <a:t>DataFrame</a:t>
            </a:r>
            <a:endParaRPr lang="en-US" sz="1100" dirty="0"/>
          </a:p>
          <a:p>
            <a:pPr marL="0" indent="0">
              <a:buNone/>
            </a:pPr>
            <a:r>
              <a:rPr lang="en-US" sz="1600" dirty="0"/>
              <a:t>Useful commands</a:t>
            </a:r>
          </a:p>
          <a:p>
            <a:pPr marL="457200" lvl="1" indent="0">
              <a:buNone/>
            </a:pPr>
            <a:r>
              <a:rPr lang="en-US" sz="1200" dirty="0" err="1"/>
              <a:t>rdd.toDF</a:t>
            </a:r>
            <a:r>
              <a:rPr lang="en-US" sz="1200" dirty="0"/>
              <a:t>(schema): convert </a:t>
            </a:r>
            <a:r>
              <a:rPr lang="en-US" sz="1200" dirty="0" err="1"/>
              <a:t>rdd</a:t>
            </a:r>
            <a:r>
              <a:rPr lang="en-US" sz="1200" dirty="0"/>
              <a:t> to </a:t>
            </a:r>
            <a:r>
              <a:rPr lang="en-US" sz="1200" dirty="0" err="1"/>
              <a:t>DataFrame</a:t>
            </a:r>
            <a:r>
              <a:rPr lang="en-US" sz="1200" dirty="0"/>
              <a:t> with specified schema</a:t>
            </a:r>
          </a:p>
          <a:p>
            <a:pPr marL="457200" lvl="1" indent="0">
              <a:buNone/>
            </a:pPr>
            <a:r>
              <a:rPr lang="en-US" sz="1200" dirty="0" err="1"/>
              <a:t>df.join</a:t>
            </a:r>
            <a:r>
              <a:rPr lang="en-US" sz="1200" dirty="0"/>
              <a:t>(df2, condition, type): join two data frames</a:t>
            </a:r>
          </a:p>
          <a:p>
            <a:pPr marL="457200" lvl="1" indent="0">
              <a:buNone/>
            </a:pPr>
            <a:r>
              <a:rPr lang="en-US" sz="1200" dirty="0" err="1"/>
              <a:t>df.filter</a:t>
            </a:r>
            <a:r>
              <a:rPr lang="en-US" sz="1200" dirty="0"/>
              <a:t>( expression ): apply filter to the rows </a:t>
            </a:r>
          </a:p>
          <a:p>
            <a:pPr marL="457200" lvl="1" indent="0">
              <a:buNone/>
            </a:pPr>
            <a:r>
              <a:rPr lang="en-US" sz="1200" dirty="0" err="1"/>
              <a:t>df.groupBy</a:t>
            </a:r>
            <a:r>
              <a:rPr lang="en-US" sz="1200" dirty="0"/>
              <a:t>( group ): apply group by operator</a:t>
            </a:r>
          </a:p>
          <a:p>
            <a:pPr marL="457200" lvl="1" indent="0">
              <a:buNone/>
            </a:pPr>
            <a:r>
              <a:rPr lang="en-US" sz="1200" dirty="0" err="1"/>
              <a:t>df.agg</a:t>
            </a:r>
            <a:r>
              <a:rPr lang="en-US" sz="1200" dirty="0"/>
              <a:t>([col: </a:t>
            </a:r>
            <a:r>
              <a:rPr lang="en-US" sz="1200" dirty="0" err="1"/>
              <a:t>func</a:t>
            </a:r>
            <a:r>
              <a:rPr lang="en-US" sz="1200" dirty="0"/>
              <a:t>]) : apply aggregation function on columns</a:t>
            </a:r>
          </a:p>
        </p:txBody>
      </p:sp>
    </p:spTree>
    <p:extLst>
      <p:ext uri="{BB962C8B-B14F-4D97-AF65-F5344CB8AC3E}">
        <p14:creationId xmlns:p14="http://schemas.microsoft.com/office/powerpoint/2010/main" val="2988891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5-02-17 at 6.06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061963"/>
            <a:ext cx="7315200" cy="115630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657600" y="2650864"/>
            <a:ext cx="4648200" cy="1692537"/>
            <a:chOff x="2057400" y="2514600"/>
            <a:chExt cx="4495800" cy="1692537"/>
          </a:xfrm>
        </p:grpSpPr>
        <p:pic>
          <p:nvPicPr>
            <p:cNvPr id="6" name="Picture 5" descr="Screen Shot 2015-02-17 at 6.06.28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7400" y="3657600"/>
              <a:ext cx="4495800" cy="549537"/>
            </a:xfrm>
            <a:prstGeom prst="rect">
              <a:avLst/>
            </a:prstGeom>
          </p:spPr>
        </p:pic>
        <p:sp>
          <p:nvSpPr>
            <p:cNvPr id="2" name="Down Arrow 1"/>
            <p:cNvSpPr/>
            <p:nvPr/>
          </p:nvSpPr>
          <p:spPr bwMode="auto">
            <a:xfrm>
              <a:off x="4114800" y="2514600"/>
              <a:ext cx="457200" cy="6858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/>
              <a:endParaRPr lang="en-US" b="1">
                <a:latin typeface="Comic Sans MS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620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7574" y="2326851"/>
            <a:ext cx="8850312" cy="2119689"/>
          </a:xfrm>
          <a:solidFill>
            <a:schemeClr val="tx2">
              <a:lumMod val="10000"/>
              <a:lumOff val="90000"/>
            </a:schemeClr>
          </a:solidFill>
        </p:spPr>
        <p:txBody>
          <a:bodyPr/>
          <a:lstStyle/>
          <a:p>
            <a:r>
              <a:rPr lang="en-US" sz="1600" dirty="0">
                <a:latin typeface="Consolas"/>
                <a:cs typeface="Consolas"/>
              </a:rPr>
              <a:t>&gt; head(filter(</a:t>
            </a:r>
            <a:r>
              <a:rPr lang="en-US" sz="1600" dirty="0" err="1">
                <a:latin typeface="Consolas"/>
                <a:cs typeface="Consolas"/>
              </a:rPr>
              <a:t>df</a:t>
            </a:r>
            <a:r>
              <a:rPr lang="en-US" sz="1600" dirty="0">
                <a:latin typeface="Consolas"/>
                <a:cs typeface="Consolas"/>
              </a:rPr>
              <a:t>, </a:t>
            </a:r>
            <a:r>
              <a:rPr lang="en-US" sz="1600" dirty="0" err="1">
                <a:latin typeface="Consolas"/>
                <a:cs typeface="Consolas"/>
              </a:rPr>
              <a:t>df$waiting</a:t>
            </a:r>
            <a:r>
              <a:rPr lang="en-US" sz="1600" dirty="0">
                <a:latin typeface="Consolas"/>
                <a:cs typeface="Consolas"/>
              </a:rPr>
              <a:t> &lt; 50))  # an example in R</a:t>
            </a:r>
          </a:p>
          <a:p>
            <a:r>
              <a:rPr lang="en-US" sz="1600" dirty="0">
                <a:latin typeface="Consolas"/>
                <a:cs typeface="Consolas"/>
              </a:rPr>
              <a:t>##  eruptions waiting</a:t>
            </a:r>
          </a:p>
          <a:p>
            <a:r>
              <a:rPr lang="en-US" sz="1600" dirty="0">
                <a:latin typeface="Consolas"/>
                <a:cs typeface="Consolas"/>
              </a:rPr>
              <a:t>##1     1.750      47</a:t>
            </a:r>
          </a:p>
          <a:p>
            <a:r>
              <a:rPr lang="en-US" sz="1600" dirty="0">
                <a:latin typeface="Consolas"/>
                <a:cs typeface="Consolas"/>
              </a:rPr>
              <a:t>##2     1.750      47</a:t>
            </a:r>
          </a:p>
          <a:p>
            <a:r>
              <a:rPr lang="en-US" sz="1600" dirty="0">
                <a:latin typeface="Consolas"/>
                <a:cs typeface="Consolas"/>
              </a:rPr>
              <a:t>##3     1.867      48</a:t>
            </a:r>
          </a:p>
          <a:p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7280" y="1737360"/>
            <a:ext cx="8850312" cy="117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defRPr sz="2400"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ＭＳ Ｐゴシック" charset="0"/>
              </a:defRPr>
            </a:lvl1pPr>
            <a:lvl2pPr marL="628650" indent="-1714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•"/>
              <a:defRPr sz="2000"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2pPr>
            <a:lvl3pPr marL="1089025" indent="-17462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Lucida Grande" charset="0"/>
              <a:buChar char="–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3pPr>
            <a:lvl4pPr marL="15414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•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4pPr>
            <a:lvl5pPr marL="2001838" indent="-173038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Lucida Grande" charset="0"/>
              <a:buChar char="-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APIs as single-node tools like Pandas, R, i.e., easy to learn</a:t>
            </a:r>
          </a:p>
        </p:txBody>
      </p:sp>
      <p:sp>
        <p:nvSpPr>
          <p:cNvPr id="2" name="Rectangle 1"/>
          <p:cNvSpPr/>
          <p:nvPr/>
        </p:nvSpPr>
        <p:spPr>
          <a:xfrm>
            <a:off x="1697574" y="5756646"/>
            <a:ext cx="71593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Source Sans Pro Light"/>
                <a:cs typeface="Source Sans Pro Light"/>
              </a:rPr>
              <a:t>*Old Faithful geyser data from http://</a:t>
            </a:r>
            <a:r>
              <a:rPr lang="en-US" sz="1400" dirty="0" err="1">
                <a:latin typeface="Source Sans Pro Light"/>
                <a:cs typeface="Source Sans Pro Light"/>
              </a:rPr>
              <a:t>www.stat.cmu.edu</a:t>
            </a:r>
            <a:r>
              <a:rPr lang="en-US" sz="1400" dirty="0">
                <a:latin typeface="Source Sans Pro Light"/>
                <a:cs typeface="Source Sans Pro Light"/>
              </a:rPr>
              <a:t>/~</a:t>
            </a:r>
            <a:r>
              <a:rPr lang="en-US" sz="1400" dirty="0" err="1">
                <a:latin typeface="Source Sans Pro Light"/>
                <a:cs typeface="Source Sans Pro Light"/>
              </a:rPr>
              <a:t>larry</a:t>
            </a:r>
            <a:r>
              <a:rPr lang="en-US" sz="1400" dirty="0">
                <a:latin typeface="Source Sans Pro Light"/>
                <a:cs typeface="Source Sans Pro Light"/>
              </a:rPr>
              <a:t>/all-of-statistics/=data/</a:t>
            </a:r>
            <a:r>
              <a:rPr lang="en-US" sz="1400" dirty="0" err="1">
                <a:latin typeface="Source Sans Pro Light"/>
                <a:cs typeface="Source Sans Pro Light"/>
              </a:rPr>
              <a:t>faithful.dat</a:t>
            </a:r>
            <a:endParaRPr lang="en-US" sz="1400" dirty="0"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A73C1-DEEB-2844-AB06-8E20B3391C50}"/>
              </a:ext>
            </a:extLst>
          </p:cNvPr>
          <p:cNvSpPr txBox="1"/>
          <p:nvPr/>
        </p:nvSpPr>
        <p:spPr>
          <a:xfrm>
            <a:off x="1697574" y="4686300"/>
            <a:ext cx="783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= </a:t>
            </a:r>
            <a:r>
              <a:rPr lang="en-US" dirty="0" err="1"/>
              <a:t>gradeDF.join</a:t>
            </a:r>
            <a:r>
              <a:rPr lang="en-US" dirty="0"/>
              <a:t>(</a:t>
            </a:r>
            <a:r>
              <a:rPr lang="en-US" dirty="0" err="1"/>
              <a:t>majorDF</a:t>
            </a:r>
            <a:r>
              <a:rPr lang="en-US" dirty="0"/>
              <a:t>, </a:t>
            </a:r>
            <a:r>
              <a:rPr lang="en-US" dirty="0" err="1"/>
              <a:t>gradeDF</a:t>
            </a:r>
            <a:r>
              <a:rPr lang="en-US" dirty="0"/>
              <a:t>['name'] == </a:t>
            </a:r>
            <a:r>
              <a:rPr lang="en-US" dirty="0" err="1"/>
              <a:t>majorDF</a:t>
            </a:r>
            <a:r>
              <a:rPr lang="en-US" dirty="0"/>
              <a:t>['name'], how='inner')</a:t>
            </a:r>
          </a:p>
        </p:txBody>
      </p:sp>
    </p:spTree>
    <p:extLst>
      <p:ext uri="{BB962C8B-B14F-4D97-AF65-F5344CB8AC3E}">
        <p14:creationId xmlns:p14="http://schemas.microsoft.com/office/powerpoint/2010/main" val="1967477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D5A9-38D6-3A8B-106C-BA0253AF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AC9D-2B39-077F-7599-FCA23F0D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https://colab.research.google.com/drive/1p1RUAcrucqvmiKB6uXQ3xNx5mJviCJqA#scrollTo=sIlbT4okLvUs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5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2799-0A0F-464F-9B42-F71A4088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Grade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820D4-5556-1A4C-B941-D7607740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this all with SQL inside Spark too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55A2E-E550-3A4B-88E5-A0F47B72E99B}"/>
              </a:ext>
            </a:extLst>
          </p:cNvPr>
          <p:cNvSpPr txBox="1"/>
          <p:nvPr/>
        </p:nvSpPr>
        <p:spPr>
          <a:xfrm>
            <a:off x="1440842" y="2438038"/>
            <a:ext cx="93103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First, register the table for SQL so it will be recognized in the SQL statement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studentsDF.registerTempTable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("""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collegename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AVG(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hwgrade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from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group by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studentsDF.collegename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order by 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""")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res.show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+-----------+-----------------+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collegename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 avg(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hwgrade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|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+-----------+-----------------+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 EGR       |75.33333333333333|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| NATSCI    | 87.0            |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+-----------+-----------------+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966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RDD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9286" y="2310777"/>
            <a:ext cx="960095" cy="734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Java/</a:t>
            </a:r>
            <a:r>
              <a:rPr lang="en-US" sz="1600" dirty="0" err="1">
                <a:latin typeface="Source Sans Pro Light"/>
                <a:cs typeface="Source Sans Pro"/>
              </a:rPr>
              <a:t>Scala</a:t>
            </a:r>
            <a:endParaRPr lang="en-US" sz="1600" dirty="0">
              <a:latin typeface="Source Sans Pro Light"/>
              <a:cs typeface="Source Sans Pro"/>
            </a:endParaRP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99946" y="4901086"/>
            <a:ext cx="1014675" cy="816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JVM</a:t>
            </a: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backend</a:t>
            </a: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707282" y="3045652"/>
            <a:ext cx="2050" cy="1855432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7810097" y="2317271"/>
            <a:ext cx="1014675" cy="3406315"/>
            <a:chOff x="3829521" y="1387598"/>
            <a:chExt cx="1014675" cy="2554736"/>
          </a:xfrm>
        </p:grpSpPr>
        <p:sp>
          <p:nvSpPr>
            <p:cNvPr id="10" name="Rectangle 9"/>
            <p:cNvSpPr/>
            <p:nvPr/>
          </p:nvSpPr>
          <p:spPr>
            <a:xfrm>
              <a:off x="3858861" y="1387598"/>
              <a:ext cx="960095" cy="5511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mpd="sng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latin typeface="Source Sans Pro Light"/>
                  <a:cs typeface="Source Sans Pro"/>
                </a:rPr>
                <a:t>Python</a:t>
              </a:r>
            </a:p>
            <a:p>
              <a:pPr algn="ctr"/>
              <a:r>
                <a:rPr lang="en-US" sz="1600" dirty="0">
                  <a:latin typeface="Source Sans Pro Light"/>
                  <a:cs typeface="Source Sans Pro"/>
                </a:rPr>
                <a:t>frontend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829521" y="3330329"/>
              <a:ext cx="1014675" cy="6120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mpd="sng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Source Sans Pro Light"/>
                  <a:cs typeface="Source Sans Pro"/>
                </a:rPr>
                <a:t>Python</a:t>
              </a:r>
            </a:p>
            <a:p>
              <a:pPr algn="ctr"/>
              <a:r>
                <a:rPr lang="en-US" sz="1600" dirty="0">
                  <a:latin typeface="Source Sans Pro Light"/>
                  <a:cs typeface="Source Sans Pro"/>
                </a:rPr>
                <a:t>backend</a:t>
              </a:r>
            </a:p>
          </p:txBody>
        </p:sp>
        <p:cxnSp>
          <p:nvCxnSpPr>
            <p:cNvPr id="12" name="Straight Arrow Connector 11"/>
            <p:cNvCxnSpPr>
              <a:stCxn id="10" idx="2"/>
              <a:endCxn id="11" idx="0"/>
            </p:cNvCxnSpPr>
            <p:nvPr/>
          </p:nvCxnSpPr>
          <p:spPr>
            <a:xfrm flipH="1">
              <a:off x="4336859" y="1938755"/>
              <a:ext cx="2050" cy="1391574"/>
            </a:xfrm>
            <a:prstGeom prst="straightConnector1">
              <a:avLst/>
            </a:prstGeom>
            <a:ln w="19050" cmpd="sng">
              <a:solidFill>
                <a:srgbClr val="646464"/>
              </a:solidFill>
              <a:headEnd type="none" w="lg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5066833" y="2228946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opaque closures</a:t>
            </a:r>
          </a:p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(user-defined functions)</a:t>
            </a:r>
          </a:p>
        </p:txBody>
      </p:sp>
    </p:spTree>
    <p:extLst>
      <p:ext uri="{BB962C8B-B14F-4D97-AF65-F5344CB8AC3E}">
        <p14:creationId xmlns:p14="http://schemas.microsoft.com/office/powerpoint/2010/main" val="369852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DataFrame</a:t>
            </a:r>
            <a:r>
              <a:rPr lang="en-US" dirty="0"/>
              <a:t>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9900" y="2022540"/>
            <a:ext cx="1423002" cy="734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 err="1">
                <a:latin typeface="Source Sans Pro Light"/>
                <a:cs typeface="Source Sans Pro"/>
              </a:rPr>
              <a:t>DataFrame</a:t>
            </a:r>
            <a:endParaRPr lang="en-US" sz="1600" dirty="0">
              <a:latin typeface="Source Sans Pro Light"/>
              <a:cs typeface="Source Sans Pro"/>
            </a:endParaRP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1625" y="3720129"/>
            <a:ext cx="1014675" cy="816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Logical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9946" y="5260205"/>
            <a:ext cx="1014675" cy="816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Physical execution</a:t>
            </a:r>
          </a:p>
        </p:txBody>
      </p:sp>
      <p:cxnSp>
        <p:nvCxnSpPr>
          <p:cNvPr id="12" name="Straight Arrow Connector 11"/>
          <p:cNvCxnSpPr>
            <a:stCxn id="7" idx="2"/>
            <a:endCxn id="9" idx="0"/>
          </p:cNvCxnSpPr>
          <p:nvPr/>
        </p:nvCxnSpPr>
        <p:spPr>
          <a:xfrm flipH="1">
            <a:off x="3707284" y="4536136"/>
            <a:ext cx="1679" cy="724069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6" idx="2"/>
            <a:endCxn id="7" idx="0"/>
          </p:cNvCxnSpPr>
          <p:nvPr/>
        </p:nvCxnSpPr>
        <p:spPr>
          <a:xfrm flipH="1">
            <a:off x="3708962" y="2757416"/>
            <a:ext cx="12439" cy="962713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12407" y="4705496"/>
            <a:ext cx="777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Catalyst</a:t>
            </a:r>
          </a:p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2121" y="3694661"/>
            <a:ext cx="5849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latin typeface="Source Sans Pro Light"/>
                <a:cs typeface="Source Sans Pro Light"/>
              </a:rPr>
              <a:t>Intermediate representation for computation </a:t>
            </a:r>
          </a:p>
        </p:txBody>
      </p:sp>
    </p:spTree>
    <p:extLst>
      <p:ext uri="{BB962C8B-B14F-4D97-AF65-F5344CB8AC3E}">
        <p14:creationId xmlns:p14="http://schemas.microsoft.com/office/powerpoint/2010/main" val="145550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8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DataFrame</a:t>
            </a:r>
            <a:r>
              <a:rPr lang="en-US" dirty="0"/>
              <a:t>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8370" y="1843638"/>
            <a:ext cx="960095" cy="734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Python</a:t>
            </a: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1625" y="3541227"/>
            <a:ext cx="1014675" cy="816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Logical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9946" y="5111454"/>
            <a:ext cx="1014675" cy="816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Physical</a:t>
            </a: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execution</a:t>
            </a:r>
          </a:p>
        </p:txBody>
      </p:sp>
      <p:cxnSp>
        <p:nvCxnSpPr>
          <p:cNvPr id="12" name="Straight Arrow Connector 11"/>
          <p:cNvCxnSpPr>
            <a:stCxn id="7" idx="2"/>
            <a:endCxn id="9" idx="0"/>
          </p:cNvCxnSpPr>
          <p:nvPr/>
        </p:nvCxnSpPr>
        <p:spPr>
          <a:xfrm flipH="1">
            <a:off x="3707284" y="4357234"/>
            <a:ext cx="1679" cy="754220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2"/>
            <a:endCxn id="7" idx="0"/>
          </p:cNvCxnSpPr>
          <p:nvPr/>
        </p:nvCxnSpPr>
        <p:spPr>
          <a:xfrm>
            <a:off x="2288418" y="2578513"/>
            <a:ext cx="1420545" cy="962712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12407" y="4526594"/>
            <a:ext cx="777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Catalyst</a:t>
            </a:r>
          </a:p>
          <a:p>
            <a:pPr algn="ctr"/>
            <a:r>
              <a:rPr lang="en-US" sz="1200" dirty="0">
                <a:latin typeface="Source Sans Pro Light"/>
                <a:cs typeface="Source Sans Pro Light"/>
              </a:rPr>
              <a:t>optimizer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6100" y="1845657"/>
            <a:ext cx="1306574" cy="734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Java/</a:t>
            </a:r>
            <a:r>
              <a:rPr lang="en-US" sz="1600" dirty="0" err="1">
                <a:latin typeface="Source Sans Pro Light"/>
                <a:cs typeface="Source Sans Pro"/>
              </a:rPr>
              <a:t>Scala</a:t>
            </a:r>
            <a:endParaRPr lang="en-US" sz="1600" dirty="0">
              <a:latin typeface="Source Sans Pro Light"/>
              <a:cs typeface="Source Sans Pro"/>
            </a:endParaRP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9203" y="1847675"/>
            <a:ext cx="960095" cy="734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latin typeface="Source Sans Pro Light"/>
                <a:cs typeface="Source Sans Pro"/>
              </a:rPr>
              <a:t>R</a:t>
            </a:r>
          </a:p>
          <a:p>
            <a:pPr algn="ctr"/>
            <a:r>
              <a:rPr lang="en-US" sz="1600" dirty="0">
                <a:latin typeface="Source Sans Pro Light"/>
                <a:cs typeface="Source Sans Pro"/>
              </a:rPr>
              <a:t>DF</a:t>
            </a:r>
          </a:p>
        </p:txBody>
      </p:sp>
      <p:cxnSp>
        <p:nvCxnSpPr>
          <p:cNvPr id="13" name="Straight Arrow Connector 12"/>
          <p:cNvCxnSpPr>
            <a:cxnSpLocks/>
            <a:stCxn id="10" idx="2"/>
            <a:endCxn id="7" idx="0"/>
          </p:cNvCxnSpPr>
          <p:nvPr/>
        </p:nvCxnSpPr>
        <p:spPr>
          <a:xfrm flipH="1">
            <a:off x="3708962" y="2580533"/>
            <a:ext cx="30425" cy="960694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7" idx="0"/>
          </p:cNvCxnSpPr>
          <p:nvPr/>
        </p:nvCxnSpPr>
        <p:spPr>
          <a:xfrm flipH="1">
            <a:off x="3708961" y="2582552"/>
            <a:ext cx="1380288" cy="958675"/>
          </a:xfrm>
          <a:prstGeom prst="straightConnector1">
            <a:avLst/>
          </a:prstGeom>
          <a:ln w="19050" cmpd="sng">
            <a:solidFill>
              <a:srgbClr val="646464"/>
            </a:solidFill>
            <a:headEnd type="none" w="lg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42121" y="3694661"/>
            <a:ext cx="5849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latin typeface="Source Sans Pro Light"/>
                <a:cs typeface="Source Sans Pro Light"/>
              </a:rPr>
              <a:t>Intermediate representation for computation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2330" y="1889659"/>
            <a:ext cx="4943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latin typeface="Source Sans Pro Light"/>
                <a:cs typeface="Source Sans Pro Light"/>
              </a:rPr>
              <a:t>Simple wrappers to create logical plan</a:t>
            </a:r>
          </a:p>
        </p:txBody>
      </p:sp>
    </p:spTree>
    <p:extLst>
      <p:ext uri="{BB962C8B-B14F-4D97-AF65-F5344CB8AC3E}">
        <p14:creationId xmlns:p14="http://schemas.microsoft.com/office/powerpoint/2010/main" val="1289436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graphicFrame>
        <p:nvGraphicFramePr>
          <p:cNvPr id="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545511"/>
              </p:ext>
            </p:extLst>
          </p:nvPr>
        </p:nvGraphicFramePr>
        <p:xfrm>
          <a:off x="1693863" y="1750486"/>
          <a:ext cx="8850312" cy="4976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Left Brace 5"/>
          <p:cNvSpPr/>
          <p:nvPr/>
        </p:nvSpPr>
        <p:spPr>
          <a:xfrm>
            <a:off x="2762147" y="4254936"/>
            <a:ext cx="304800" cy="868135"/>
          </a:xfrm>
          <a:prstGeom prst="leftBrace">
            <a:avLst/>
          </a:prstGeom>
          <a:ln w="12700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sz="1200"/>
          </a:p>
        </p:txBody>
      </p:sp>
      <p:sp>
        <p:nvSpPr>
          <p:cNvPr id="10" name="TextBox 9"/>
          <p:cNvSpPr txBox="1"/>
          <p:nvPr/>
        </p:nvSpPr>
        <p:spPr>
          <a:xfrm>
            <a:off x="1957725" y="4458136"/>
            <a:ext cx="543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ource Sans Pro Light"/>
                <a:cs typeface="Source Sans Pro Light"/>
              </a:rPr>
              <a:t>RDD</a:t>
            </a:r>
          </a:p>
        </p:txBody>
      </p:sp>
    </p:spTree>
    <p:extLst>
      <p:ext uri="{BB962C8B-B14F-4D97-AF65-F5344CB8AC3E}">
        <p14:creationId xmlns:p14="http://schemas.microsoft.com/office/powerpoint/2010/main" val="2425576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874815"/>
            <a:ext cx="10896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 of Logical Plan:</a:t>
            </a:r>
            <a:br>
              <a:rPr lang="en-US" dirty="0"/>
            </a:br>
            <a:r>
              <a:rPr lang="en-US" dirty="0"/>
              <a:t>Performance Parity Across Languages</a:t>
            </a:r>
          </a:p>
        </p:txBody>
      </p:sp>
      <p:graphicFrame>
        <p:nvGraphicFramePr>
          <p:cNvPr id="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246355"/>
              </p:ext>
            </p:extLst>
          </p:nvPr>
        </p:nvGraphicFramePr>
        <p:xfrm>
          <a:off x="1693863" y="1750486"/>
          <a:ext cx="8850312" cy="4976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Left Brace 5"/>
          <p:cNvSpPr/>
          <p:nvPr/>
        </p:nvSpPr>
        <p:spPr>
          <a:xfrm>
            <a:off x="2762147" y="4254936"/>
            <a:ext cx="304800" cy="868135"/>
          </a:xfrm>
          <a:prstGeom prst="leftBrace">
            <a:avLst/>
          </a:prstGeom>
          <a:ln w="12700">
            <a:solidFill>
              <a:srgbClr val="606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sz="1200"/>
          </a:p>
        </p:txBody>
      </p:sp>
      <p:sp>
        <p:nvSpPr>
          <p:cNvPr id="8" name="Left Brace 7"/>
          <p:cNvSpPr/>
          <p:nvPr/>
        </p:nvSpPr>
        <p:spPr>
          <a:xfrm>
            <a:off x="2761829" y="2240004"/>
            <a:ext cx="304800" cy="1725552"/>
          </a:xfrm>
          <a:prstGeom prst="leftBrace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sz="120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6530" y="2850915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Source Sans Pro Light"/>
                <a:cs typeface="Source Sans Pro Light"/>
              </a:rPr>
              <a:t>DataFrame</a:t>
            </a:r>
            <a:endParaRPr lang="en-US" sz="1600" dirty="0">
              <a:latin typeface="Source Sans Pro Light"/>
              <a:cs typeface="Source Sans Pro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57725" y="4458136"/>
            <a:ext cx="543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ource Sans Pro Light"/>
                <a:cs typeface="Source Sans Pro Light"/>
              </a:rPr>
              <a:t>RDD</a:t>
            </a:r>
          </a:p>
        </p:txBody>
      </p:sp>
    </p:spTree>
    <p:extLst>
      <p:ext uri="{BB962C8B-B14F-4D97-AF65-F5344CB8AC3E}">
        <p14:creationId xmlns:p14="http://schemas.microsoft.com/office/powerpoint/2010/main" val="1856851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83D6-8E41-6E47-BC15-373FA53B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92864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540" y="1228327"/>
            <a:ext cx="7162800" cy="533400"/>
          </a:xfrm>
        </p:spPr>
        <p:txBody>
          <a:bodyPr anchor="t" anchorCtr="0">
            <a:normAutofit fontScale="90000"/>
          </a:bodyPr>
          <a:lstStyle/>
          <a:p>
            <a:r>
              <a:rPr lang="en-US" sz="4000" dirty="0"/>
              <a:t>Further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864" y="2094577"/>
            <a:ext cx="4859337" cy="1918233"/>
          </a:xfrm>
        </p:spPr>
        <p:txBody>
          <a:bodyPr/>
          <a:lstStyle/>
          <a:p>
            <a:r>
              <a:rPr lang="en-US" dirty="0"/>
              <a:t>Whole-stage code generation</a:t>
            </a:r>
          </a:p>
          <a:p>
            <a:pPr marL="539496" lvl="1"/>
            <a:r>
              <a:rPr lang="en-US" dirty="0"/>
              <a:t>Remove expensive iterator calls</a:t>
            </a:r>
          </a:p>
          <a:p>
            <a:pPr marL="539496" lvl="1"/>
            <a:r>
              <a:rPr lang="en-US" dirty="0"/>
              <a:t>Fuse across multiple operators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268600" y="1827152"/>
            <a:ext cx="4161745" cy="1767840"/>
            <a:chOff x="-352828" y="842652"/>
            <a:chExt cx="9458148" cy="2435214"/>
          </a:xfrm>
        </p:grpSpPr>
        <p:sp>
          <p:nvSpPr>
            <p:cNvPr id="4" name="TextBox 3"/>
            <p:cNvSpPr txBox="1"/>
            <p:nvPr/>
          </p:nvSpPr>
          <p:spPr>
            <a:xfrm>
              <a:off x="-352828" y="1105474"/>
              <a:ext cx="2040838" cy="4451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Spark 1.6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738056" y="993805"/>
              <a:ext cx="2166922" cy="763137"/>
              <a:chOff x="1738056" y="993805"/>
              <a:chExt cx="2166922" cy="76313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738056" y="1235489"/>
                <a:ext cx="552154" cy="433421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301309" y="993805"/>
                <a:ext cx="1603669" cy="76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14M</a:t>
                </a:r>
              </a:p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rows/s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-352712" y="2388884"/>
              <a:ext cx="2040838" cy="4451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Spark 2.0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738056" y="2216808"/>
              <a:ext cx="7367264" cy="763137"/>
              <a:chOff x="1738056" y="2216808"/>
              <a:chExt cx="7367264" cy="763137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738056" y="2462831"/>
                <a:ext cx="5756290" cy="433421"/>
              </a:xfrm>
              <a:prstGeom prst="rect">
                <a:avLst/>
              </a:prstGeom>
              <a:solidFill>
                <a:srgbClr val="618FF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rgbClr val="92D050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501650" y="2216808"/>
                <a:ext cx="1603670" cy="76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125M</a:t>
                </a:r>
              </a:p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rows/s</a:t>
                </a:r>
              </a:p>
            </p:txBody>
          </p:sp>
        </p:grpSp>
        <p:cxnSp>
          <p:nvCxnSpPr>
            <p:cNvPr id="12" name="Straight Connector 11"/>
            <p:cNvCxnSpPr/>
            <p:nvPr/>
          </p:nvCxnSpPr>
          <p:spPr>
            <a:xfrm>
              <a:off x="1738055" y="842652"/>
              <a:ext cx="0" cy="243521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6333638" y="3784011"/>
            <a:ext cx="4085543" cy="1767841"/>
            <a:chOff x="-201509" y="877994"/>
            <a:chExt cx="9284967" cy="2435214"/>
          </a:xfrm>
        </p:grpSpPr>
        <p:sp>
          <p:nvSpPr>
            <p:cNvPr id="15" name="TextBox 14"/>
            <p:cNvSpPr txBox="1"/>
            <p:nvPr/>
          </p:nvSpPr>
          <p:spPr>
            <a:xfrm>
              <a:off x="-179760" y="964107"/>
              <a:ext cx="1825895" cy="763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Parquet</a:t>
              </a:r>
              <a:b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</a:br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in 1.6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738056" y="976134"/>
              <a:ext cx="2232515" cy="763136"/>
              <a:chOff x="1738056" y="976134"/>
              <a:chExt cx="2232515" cy="763136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1738056" y="1235487"/>
                <a:ext cx="643127" cy="433421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366902" y="976134"/>
                <a:ext cx="1603669" cy="76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11M</a:t>
                </a:r>
              </a:p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rows/s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-201509" y="2194505"/>
              <a:ext cx="1825895" cy="763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Parquet</a:t>
              </a:r>
              <a:b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</a:br>
              <a:r>
                <a:rPr lang="en-US" sz="1500" dirty="0">
                  <a:latin typeface="Source Sans Pro Light" charset="0"/>
                  <a:ea typeface="Source Sans Pro Light" charset="0"/>
                  <a:cs typeface="Source Sans Pro Light" charset="0"/>
                </a:rPr>
                <a:t>in 2.0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738056" y="2199137"/>
              <a:ext cx="7345402" cy="763137"/>
              <a:chOff x="1738056" y="2199137"/>
              <a:chExt cx="7345402" cy="763137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1738056" y="2462830"/>
                <a:ext cx="5760719" cy="433421"/>
              </a:xfrm>
              <a:prstGeom prst="rect">
                <a:avLst/>
              </a:prstGeom>
              <a:solidFill>
                <a:srgbClr val="618FF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solidFill>
                    <a:srgbClr val="92D050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479788" y="2199137"/>
                <a:ext cx="1603670" cy="76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90M</a:t>
                </a:r>
              </a:p>
              <a:p>
                <a:pPr algn="ctr"/>
                <a:r>
                  <a:rPr lang="en-US" sz="1500" dirty="0">
                    <a:latin typeface="Source Sans Pro Light" charset="0"/>
                    <a:ea typeface="Source Sans Pro Light" charset="0"/>
                    <a:cs typeface="Source Sans Pro Light" charset="0"/>
                  </a:rPr>
                  <a:t>rows/s</a:t>
                </a:r>
              </a:p>
            </p:txBody>
          </p:sp>
        </p:grpSp>
        <p:cxnSp>
          <p:nvCxnSpPr>
            <p:cNvPr id="19" name="Straight Connector 18"/>
            <p:cNvCxnSpPr/>
            <p:nvPr/>
          </p:nvCxnSpPr>
          <p:spPr>
            <a:xfrm>
              <a:off x="1738055" y="877994"/>
              <a:ext cx="0" cy="243521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1693863" y="3951970"/>
            <a:ext cx="4525412" cy="191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defRPr sz="2400"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ＭＳ Ｐゴシック" charset="0"/>
              </a:defRPr>
            </a:lvl1pPr>
            <a:lvl2pPr marL="628650" indent="-1714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Lucida Grande"/>
              <a:buChar char="–"/>
              <a:defRPr sz="2200"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2pPr>
            <a:lvl3pPr marL="1089025" indent="-17462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Lucida Grande" charset="0"/>
              <a:buChar char="–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3pPr>
            <a:lvl4pPr marL="15414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•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4pPr>
            <a:lvl5pPr marL="2001838" indent="-173038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Lucida Grande" charset="0"/>
              <a:buChar char="-"/>
              <a:defRPr kern="1200">
                <a:solidFill>
                  <a:srgbClr val="404040"/>
                </a:solidFill>
                <a:latin typeface="Source Sans Pro Ligh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Optimized input / output</a:t>
            </a:r>
          </a:p>
          <a:p>
            <a:pPr marL="539496" lvl="1">
              <a:buFont typeface="Arial"/>
              <a:buChar char="•"/>
            </a:pPr>
            <a:r>
              <a:rPr lang="en-US" dirty="0"/>
              <a:t>Parquet + built-in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57300" y="5791200"/>
            <a:ext cx="8839200" cy="684432"/>
          </a:xfrm>
          <a:prstGeom prst="roundRect">
            <a:avLst/>
          </a:prstGeom>
          <a:solidFill>
            <a:srgbClr val="FF6600"/>
          </a:solidFill>
          <a:ln w="28575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Source Sans Pro Light"/>
                <a:cs typeface="Source Sans Pro Light"/>
              </a:rPr>
              <a:t>Automatically applies to SQL, </a:t>
            </a:r>
            <a:r>
              <a:rPr lang="en-US" sz="2800" dirty="0" err="1">
                <a:solidFill>
                  <a:srgbClr val="FFFFFF"/>
                </a:solidFill>
                <a:latin typeface="Source Sans Pro Light"/>
                <a:cs typeface="Source Sans Pro Light"/>
              </a:rPr>
              <a:t>DataFrames</a:t>
            </a:r>
            <a:r>
              <a:rPr lang="en-US" sz="2800" dirty="0">
                <a:solidFill>
                  <a:srgbClr val="FFFFFF"/>
                </a:solidFill>
                <a:latin typeface="Source Sans Pro Light"/>
                <a:cs typeface="Source Sans Pro Light"/>
              </a:rPr>
              <a:t>, Datasets</a:t>
            </a:r>
          </a:p>
        </p:txBody>
      </p:sp>
    </p:spTree>
    <p:extLst>
      <p:ext uri="{BB962C8B-B14F-4D97-AF65-F5344CB8AC3E}">
        <p14:creationId xmlns:p14="http://schemas.microsoft.com/office/powerpoint/2010/main" val="425227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160240"/>
              </p:ext>
            </p:extLst>
          </p:nvPr>
        </p:nvGraphicFramePr>
        <p:xfrm>
          <a:off x="990600" y="423431"/>
          <a:ext cx="9571892" cy="5443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00832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arkIntro" id="{C66675DA-AAB7-D54F-AE73-E4A2ECC6547B}" vid="{84A03F49-EC34-7243-982F-AE6F4EECC6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854</Words>
  <Application>Microsoft Macintosh PowerPoint</Application>
  <PresentationFormat>Widescreen</PresentationFormat>
  <Paragraphs>177</Paragraphs>
  <Slides>34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微软雅黑</vt:lpstr>
      <vt:lpstr>Arial</vt:lpstr>
      <vt:lpstr>Calibri</vt:lpstr>
      <vt:lpstr>Calibri Light</vt:lpstr>
      <vt:lpstr>Comic Sans MS</vt:lpstr>
      <vt:lpstr>Consolas</vt:lpstr>
      <vt:lpstr>Courier New</vt:lpstr>
      <vt:lpstr>Newslab</vt:lpstr>
      <vt:lpstr>Source Sans Pro Light</vt:lpstr>
      <vt:lpstr>Retrospect</vt:lpstr>
      <vt:lpstr>Spark</vt:lpstr>
      <vt:lpstr>Resilient Distributed Datasets (RDD)</vt:lpstr>
      <vt:lpstr>Spark Operations</vt:lpstr>
      <vt:lpstr>Transformations</vt:lpstr>
      <vt:lpstr>Transformations</vt:lpstr>
      <vt:lpstr>Transformations</vt:lpstr>
      <vt:lpstr>Transformations</vt:lpstr>
      <vt:lpstr>Actions</vt:lpstr>
      <vt:lpstr>Actions</vt:lpstr>
      <vt:lpstr>Actions</vt:lpstr>
      <vt:lpstr>Transformations &amp; Actions</vt:lpstr>
      <vt:lpstr>Three ways to interact with Spark Cluster</vt:lpstr>
      <vt:lpstr>PySpark API</vt:lpstr>
      <vt:lpstr>Wordcount Example</vt:lpstr>
      <vt:lpstr>Another Example</vt:lpstr>
      <vt:lpstr>Another WordCount Example</vt:lpstr>
      <vt:lpstr>Another WordCount Example</vt:lpstr>
      <vt:lpstr>Example: Grade data</vt:lpstr>
      <vt:lpstr>Example: Grade data</vt:lpstr>
      <vt:lpstr>Example: Grade data</vt:lpstr>
      <vt:lpstr>Spark DataFrames</vt:lpstr>
      <vt:lpstr>DataFrames in Spark</vt:lpstr>
      <vt:lpstr>PowerPoint Presentation</vt:lpstr>
      <vt:lpstr>Spark DataFrame</vt:lpstr>
      <vt:lpstr>DataFrame Example</vt:lpstr>
      <vt:lpstr>Example: Grade Data</vt:lpstr>
      <vt:lpstr>Spark RDD Execution</vt:lpstr>
      <vt:lpstr>Spark DataFrame Execution</vt:lpstr>
      <vt:lpstr>Spark DataFrame Execution</vt:lpstr>
      <vt:lpstr>Performance</vt:lpstr>
      <vt:lpstr>Benefit of Logical Plan: Performance Parity Across Languages</vt:lpstr>
      <vt:lpstr>Questions?</vt:lpstr>
      <vt:lpstr>Further Optimizations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creator>Quinn Snell</dc:creator>
  <cp:lastModifiedBy>Porter Jenkins</cp:lastModifiedBy>
  <cp:revision>10</cp:revision>
  <dcterms:created xsi:type="dcterms:W3CDTF">2021-10-14T17:11:12Z</dcterms:created>
  <dcterms:modified xsi:type="dcterms:W3CDTF">2023-10-26T04:33:29Z</dcterms:modified>
</cp:coreProperties>
</file>