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50"/>
  </p:notesMasterIdLst>
  <p:sldIdLst>
    <p:sldId id="256" r:id="rId2"/>
    <p:sldId id="268" r:id="rId3"/>
    <p:sldId id="269" r:id="rId4"/>
    <p:sldId id="270" r:id="rId5"/>
    <p:sldId id="271" r:id="rId6"/>
    <p:sldId id="273" r:id="rId7"/>
    <p:sldId id="274" r:id="rId8"/>
    <p:sldId id="275" r:id="rId9"/>
    <p:sldId id="276" r:id="rId10"/>
    <p:sldId id="325" r:id="rId11"/>
    <p:sldId id="287" r:id="rId12"/>
    <p:sldId id="288" r:id="rId13"/>
    <p:sldId id="289" r:id="rId14"/>
    <p:sldId id="290" r:id="rId15"/>
    <p:sldId id="291" r:id="rId16"/>
    <p:sldId id="292" r:id="rId17"/>
    <p:sldId id="293" r:id="rId18"/>
    <p:sldId id="294"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27" r:id="rId38"/>
    <p:sldId id="315" r:id="rId39"/>
    <p:sldId id="328" r:id="rId40"/>
    <p:sldId id="329" r:id="rId41"/>
    <p:sldId id="330" r:id="rId42"/>
    <p:sldId id="317" r:id="rId43"/>
    <p:sldId id="318" r:id="rId44"/>
    <p:sldId id="319" r:id="rId45"/>
    <p:sldId id="320" r:id="rId46"/>
    <p:sldId id="321" r:id="rId47"/>
    <p:sldId id="322" r:id="rId48"/>
    <p:sldId id="323"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p:restoredTop sz="76122"/>
  </p:normalViewPr>
  <p:slideViewPr>
    <p:cSldViewPr snapToGrid="0" snapToObjects="1">
      <p:cViewPr>
        <p:scale>
          <a:sx n="90" d="100"/>
          <a:sy n="90" d="100"/>
        </p:scale>
        <p:origin x="1968" y="31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E686BE-5348-9E4C-B5DF-C6F17847F68D}" type="datetimeFigureOut">
              <a:rPr lang="en-US" smtClean="0"/>
              <a:t>11/15/21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5BE598-9299-8B4B-91ED-F9A52B2F87DB}" type="slidenum">
              <a:rPr lang="en-US" smtClean="0"/>
              <a:t>‹#›</a:t>
            </a:fld>
            <a:endParaRPr lang="en-US"/>
          </a:p>
        </p:txBody>
      </p:sp>
    </p:spTree>
    <p:extLst>
      <p:ext uri="{BB962C8B-B14F-4D97-AF65-F5344CB8AC3E}">
        <p14:creationId xmlns:p14="http://schemas.microsoft.com/office/powerpoint/2010/main" val="32898263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a:t>
            </a:fld>
            <a:endParaRPr lang="en-US"/>
          </a:p>
        </p:txBody>
      </p:sp>
    </p:spTree>
    <p:extLst>
      <p:ext uri="{BB962C8B-B14F-4D97-AF65-F5344CB8AC3E}">
        <p14:creationId xmlns:p14="http://schemas.microsoft.com/office/powerpoint/2010/main" val="50171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a:t>
            </a:fld>
            <a:endParaRPr lang="en-US"/>
          </a:p>
        </p:txBody>
      </p:sp>
    </p:spTree>
    <p:extLst>
      <p:ext uri="{BB962C8B-B14F-4D97-AF65-F5344CB8AC3E}">
        <p14:creationId xmlns:p14="http://schemas.microsoft.com/office/powerpoint/2010/main" val="83033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4</a:t>
            </a:fld>
            <a:endParaRPr lang="en-US"/>
          </a:p>
        </p:txBody>
      </p:sp>
    </p:spTree>
    <p:extLst>
      <p:ext uri="{BB962C8B-B14F-4D97-AF65-F5344CB8AC3E}">
        <p14:creationId xmlns:p14="http://schemas.microsoft.com/office/powerpoint/2010/main" val="320870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2ED71BE-7348-154E-A0B5-EB0F00B808D3}" type="slidenum">
              <a:rPr lang="en-US" smtClean="0"/>
              <a:t>5</a:t>
            </a:fld>
            <a:endParaRPr lang="en-US"/>
          </a:p>
        </p:txBody>
      </p:sp>
    </p:spTree>
    <p:extLst>
      <p:ext uri="{BB962C8B-B14F-4D97-AF65-F5344CB8AC3E}">
        <p14:creationId xmlns:p14="http://schemas.microsoft.com/office/powerpoint/2010/main" val="2336783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6</a:t>
            </a:fld>
            <a:endParaRPr lang="en-US"/>
          </a:p>
        </p:txBody>
      </p:sp>
    </p:spTree>
    <p:extLst>
      <p:ext uri="{BB962C8B-B14F-4D97-AF65-F5344CB8AC3E}">
        <p14:creationId xmlns:p14="http://schemas.microsoft.com/office/powerpoint/2010/main" val="3805678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7</a:t>
            </a:fld>
            <a:endParaRPr lang="en-US"/>
          </a:p>
        </p:txBody>
      </p:sp>
    </p:spTree>
    <p:extLst>
      <p:ext uri="{BB962C8B-B14F-4D97-AF65-F5344CB8AC3E}">
        <p14:creationId xmlns:p14="http://schemas.microsoft.com/office/powerpoint/2010/main" val="1160077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8</a:t>
            </a:fld>
            <a:endParaRPr lang="en-US"/>
          </a:p>
        </p:txBody>
      </p:sp>
    </p:spTree>
    <p:extLst>
      <p:ext uri="{BB962C8B-B14F-4D97-AF65-F5344CB8AC3E}">
        <p14:creationId xmlns:p14="http://schemas.microsoft.com/office/powerpoint/2010/main" val="1479485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9</a:t>
            </a:fld>
            <a:endParaRPr lang="en-US"/>
          </a:p>
        </p:txBody>
      </p:sp>
    </p:spTree>
    <p:extLst>
      <p:ext uri="{BB962C8B-B14F-4D97-AF65-F5344CB8AC3E}">
        <p14:creationId xmlns:p14="http://schemas.microsoft.com/office/powerpoint/2010/main" val="3148945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review from</a:t>
            </a:r>
            <a:r>
              <a:rPr lang="en-US" baseline="0" dirty="0"/>
              <a:t> earlier. </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11</a:t>
            </a:fld>
            <a:endParaRPr lang="en-US"/>
          </a:p>
        </p:txBody>
      </p:sp>
    </p:spTree>
    <p:extLst>
      <p:ext uri="{BB962C8B-B14F-4D97-AF65-F5344CB8AC3E}">
        <p14:creationId xmlns:p14="http://schemas.microsoft.com/office/powerpoint/2010/main" val="1089413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12</a:t>
            </a:fld>
            <a:endParaRPr lang="en-US"/>
          </a:p>
        </p:txBody>
      </p:sp>
    </p:spTree>
    <p:extLst>
      <p:ext uri="{BB962C8B-B14F-4D97-AF65-F5344CB8AC3E}">
        <p14:creationId xmlns:p14="http://schemas.microsoft.com/office/powerpoint/2010/main" val="108941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none" kern="1200" baseline="0" dirty="0">
                <a:solidFill>
                  <a:schemeClr val="tx1"/>
                </a:solidFill>
                <a:latin typeface="+mn-lt"/>
                <a:ea typeface="+mn-ea"/>
                <a:cs typeface="+mn-cs"/>
              </a:rPr>
              <a:t>Once chunk size is reached, mongos asks </a:t>
            </a:r>
            <a:r>
              <a:rPr lang="en-US" sz="1200" u="none" kern="1200" baseline="0" dirty="0" err="1">
                <a:solidFill>
                  <a:schemeClr val="tx1"/>
                </a:solidFill>
                <a:latin typeface="+mn-lt"/>
                <a:ea typeface="+mn-ea"/>
                <a:cs typeface="+mn-cs"/>
              </a:rPr>
              <a:t>mongod</a:t>
            </a:r>
            <a:r>
              <a:rPr lang="en-US" sz="1200" u="none" kern="1200" baseline="0" dirty="0">
                <a:solidFill>
                  <a:schemeClr val="tx1"/>
                </a:solidFill>
                <a:latin typeface="+mn-lt"/>
                <a:ea typeface="+mn-ea"/>
                <a:cs typeface="+mn-cs"/>
              </a:rPr>
              <a:t> to split a chunk </a:t>
            </a:r>
          </a:p>
          <a:p>
            <a:r>
              <a:rPr lang="en-US" sz="1200" u="none" kern="1200" baseline="0" dirty="0">
                <a:solidFill>
                  <a:schemeClr val="tx1"/>
                </a:solidFill>
                <a:latin typeface="+mn-lt"/>
                <a:ea typeface="+mn-ea"/>
                <a:cs typeface="+mn-cs"/>
              </a:rPr>
              <a:t>  + internal function called </a:t>
            </a:r>
            <a:r>
              <a:rPr lang="en-US" sz="1200" u="none" kern="1200" baseline="0" dirty="0" err="1">
                <a:solidFill>
                  <a:schemeClr val="tx1"/>
                </a:solidFill>
                <a:latin typeface="+mn-lt"/>
                <a:ea typeface="+mn-ea"/>
                <a:cs typeface="+mn-cs"/>
              </a:rPr>
              <a:t>splitVector</a:t>
            </a:r>
            <a:r>
              <a:rPr lang="en-US" sz="1200" u="none" kern="1200" baseline="0" dirty="0">
                <a:solidFill>
                  <a:schemeClr val="tx1"/>
                </a:solidFill>
                <a:latin typeface="+mn-lt"/>
                <a:ea typeface="+mn-ea"/>
                <a:cs typeface="+mn-cs"/>
              </a:rPr>
              <a:t>()</a:t>
            </a:r>
          </a:p>
          <a:p>
            <a:r>
              <a:rPr lang="en-US" sz="1200" u="none" kern="1200" baseline="0" dirty="0" err="1">
                <a:solidFill>
                  <a:schemeClr val="tx1"/>
                </a:solidFill>
                <a:latin typeface="+mn-lt"/>
                <a:ea typeface="+mn-ea"/>
                <a:cs typeface="+mn-cs"/>
              </a:rPr>
              <a:t>mongod</a:t>
            </a:r>
            <a:r>
              <a:rPr lang="en-US" sz="1200" u="none" kern="1200" baseline="0" dirty="0">
                <a:solidFill>
                  <a:schemeClr val="tx1"/>
                </a:solidFill>
                <a:latin typeface="+mn-lt"/>
                <a:ea typeface="+mn-ea"/>
                <a:cs typeface="+mn-cs"/>
              </a:rPr>
              <a:t> counts number of documents on each side of split</a:t>
            </a:r>
          </a:p>
          <a:p>
            <a:r>
              <a:rPr lang="en-US" sz="1200" u="none" kern="1200" baseline="0" dirty="0">
                <a:solidFill>
                  <a:schemeClr val="tx1"/>
                </a:solidFill>
                <a:latin typeface="+mn-lt"/>
                <a:ea typeface="+mn-ea"/>
                <a:cs typeface="+mn-cs"/>
              </a:rPr>
              <a:t>  + based on avg. document size `</a:t>
            </a:r>
            <a:r>
              <a:rPr lang="en-US" sz="1200" u="none" kern="1200" baseline="0" dirty="0" err="1">
                <a:solidFill>
                  <a:schemeClr val="tx1"/>
                </a:solidFill>
                <a:latin typeface="+mn-lt"/>
                <a:ea typeface="+mn-ea"/>
                <a:cs typeface="+mn-cs"/>
              </a:rPr>
              <a:t>db.stats</a:t>
            </a:r>
            <a:r>
              <a:rPr lang="en-US" sz="1200" u="none" kern="1200" baseline="0" dirty="0">
                <a:solidFill>
                  <a:schemeClr val="tx1"/>
                </a:solidFill>
                <a:latin typeface="+mn-lt"/>
                <a:ea typeface="+mn-ea"/>
                <a:cs typeface="+mn-cs"/>
              </a:rPr>
              <a:t>()`</a:t>
            </a:r>
          </a:p>
          <a:p>
            <a:r>
              <a:rPr lang="en-US" sz="1200" u="none" kern="1200" baseline="0" dirty="0">
                <a:solidFill>
                  <a:schemeClr val="tx1"/>
                </a:solidFill>
                <a:latin typeface="+mn-lt"/>
                <a:ea typeface="+mn-ea"/>
                <a:cs typeface="+mn-cs"/>
              </a:rPr>
              <a:t>Chunk split is a **logical** operation (no data has moved)</a:t>
            </a:r>
          </a:p>
          <a:p>
            <a:r>
              <a:rPr lang="en-US" sz="1200" u="none" kern="1200" baseline="0" dirty="0">
                <a:solidFill>
                  <a:schemeClr val="tx1"/>
                </a:solidFill>
                <a:latin typeface="+mn-lt"/>
                <a:ea typeface="+mn-ea"/>
                <a:cs typeface="+mn-cs"/>
              </a:rPr>
              <a:t>Max on first chunk should be 14</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13</a:t>
            </a:fld>
            <a:endParaRPr lang="en-US"/>
          </a:p>
        </p:txBody>
      </p:sp>
    </p:spTree>
    <p:extLst>
      <p:ext uri="{BB962C8B-B14F-4D97-AF65-F5344CB8AC3E}">
        <p14:creationId xmlns:p14="http://schemas.microsoft.com/office/powerpoint/2010/main" val="2262912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14</a:t>
            </a:fld>
            <a:endParaRPr lang="en-US"/>
          </a:p>
        </p:txBody>
      </p:sp>
    </p:spTree>
    <p:extLst>
      <p:ext uri="{BB962C8B-B14F-4D97-AF65-F5344CB8AC3E}">
        <p14:creationId xmlns:p14="http://schemas.microsoft.com/office/powerpoint/2010/main" val="3251723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Balancer lock actually held</a:t>
            </a:r>
            <a:r>
              <a:rPr lang="en-US" baseline="0" dirty="0"/>
              <a:t> on </a:t>
            </a:r>
            <a:r>
              <a:rPr lang="en-US" baseline="0" dirty="0" err="1"/>
              <a:t>config</a:t>
            </a:r>
            <a:r>
              <a:rPr lang="en-US" baseline="0" dirty="0"/>
              <a:t> server. </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15</a:t>
            </a:fld>
            <a:endParaRPr lang="en-US"/>
          </a:p>
        </p:txBody>
      </p:sp>
    </p:spTree>
    <p:extLst>
      <p:ext uri="{BB962C8B-B14F-4D97-AF65-F5344CB8AC3E}">
        <p14:creationId xmlns:p14="http://schemas.microsoft.com/office/powerpoint/2010/main" val="1050782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chunk on shard2 should be gray</a:t>
            </a:r>
          </a:p>
        </p:txBody>
      </p:sp>
      <p:sp>
        <p:nvSpPr>
          <p:cNvPr id="4" name="Slide Number Placeholder 3"/>
          <p:cNvSpPr>
            <a:spLocks noGrp="1"/>
          </p:cNvSpPr>
          <p:nvPr>
            <p:ph type="sldNum" sz="quarter" idx="10"/>
          </p:nvPr>
        </p:nvSpPr>
        <p:spPr/>
        <p:txBody>
          <a:bodyPr/>
          <a:lstStyle/>
          <a:p>
            <a:fld id="{12ED71BE-7348-154E-A0B5-EB0F00B808D3}" type="slidenum">
              <a:rPr lang="en-US" smtClean="0"/>
              <a:t>16</a:t>
            </a:fld>
            <a:endParaRPr lang="en-US"/>
          </a:p>
        </p:txBody>
      </p:sp>
    </p:spTree>
    <p:extLst>
      <p:ext uri="{BB962C8B-B14F-4D97-AF65-F5344CB8AC3E}">
        <p14:creationId xmlns:p14="http://schemas.microsoft.com/office/powerpoint/2010/main" val="1751468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How do the other </a:t>
            </a:r>
            <a:r>
              <a:rPr lang="en-US" sz="1200" kern="1200" dirty="0" err="1">
                <a:solidFill>
                  <a:schemeClr val="tx1"/>
                </a:solidFill>
                <a:latin typeface="+mn-lt"/>
                <a:ea typeface="+mn-ea"/>
                <a:cs typeface="+mn-cs"/>
              </a:rPr>
              <a:t>mongoses</a:t>
            </a:r>
            <a:r>
              <a:rPr lang="en-US" sz="1200" kern="1200" dirty="0">
                <a:solidFill>
                  <a:schemeClr val="tx1"/>
                </a:solidFill>
                <a:latin typeface="+mn-lt"/>
                <a:ea typeface="+mn-ea"/>
                <a:cs typeface="+mn-cs"/>
              </a:rPr>
              <a:t> know that their configuration is out of date? </a:t>
            </a:r>
            <a:br>
              <a:rPr lang="en-US" sz="1200" kern="1200" dirty="0">
                <a:solidFill>
                  <a:schemeClr val="tx1"/>
                </a:solidFill>
                <a:latin typeface="+mn-lt"/>
                <a:ea typeface="+mn-ea"/>
                <a:cs typeface="+mn-cs"/>
              </a:rPr>
            </a:br>
            <a:r>
              <a:rPr lang="en-US" sz="1200" kern="1200" dirty="0">
                <a:solidFill>
                  <a:schemeClr val="tx1"/>
                </a:solidFill>
                <a:latin typeface="+mn-lt"/>
                <a:ea typeface="+mn-ea"/>
                <a:cs typeface="+mn-cs"/>
              </a:rPr>
              <a:t>When does the chunk version on the shard itself get updated?</a:t>
            </a:r>
            <a:endParaRPr lang="en-US" dirty="0"/>
          </a:p>
          <a:p>
            <a:endParaRPr lang="en-US" baseline="0" dirty="0"/>
          </a:p>
        </p:txBody>
      </p:sp>
      <p:sp>
        <p:nvSpPr>
          <p:cNvPr id="4" name="Slide Number Placeholder 3"/>
          <p:cNvSpPr>
            <a:spLocks noGrp="1"/>
          </p:cNvSpPr>
          <p:nvPr>
            <p:ph type="sldNum" sz="quarter" idx="10"/>
          </p:nvPr>
        </p:nvSpPr>
        <p:spPr/>
        <p:txBody>
          <a:bodyPr/>
          <a:lstStyle/>
          <a:p>
            <a:fld id="{12ED71BE-7348-154E-A0B5-EB0F00B808D3}" type="slidenum">
              <a:rPr lang="en-US" smtClean="0"/>
              <a:t>17</a:t>
            </a:fld>
            <a:endParaRPr lang="en-US"/>
          </a:p>
        </p:txBody>
      </p:sp>
    </p:spTree>
    <p:extLst>
      <p:ext uri="{BB962C8B-B14F-4D97-AF65-F5344CB8AC3E}">
        <p14:creationId xmlns:p14="http://schemas.microsoft.com/office/powerpoint/2010/main" val="655031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18</a:t>
            </a:fld>
            <a:endParaRPr lang="en-US"/>
          </a:p>
        </p:txBody>
      </p:sp>
    </p:spTree>
    <p:extLst>
      <p:ext uri="{BB962C8B-B14F-4D97-AF65-F5344CB8AC3E}">
        <p14:creationId xmlns:p14="http://schemas.microsoft.com/office/powerpoint/2010/main" val="415564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19</a:t>
            </a:fld>
            <a:endParaRPr lang="en-US"/>
          </a:p>
        </p:txBody>
      </p:sp>
    </p:spTree>
    <p:extLst>
      <p:ext uri="{BB962C8B-B14F-4D97-AF65-F5344CB8AC3E}">
        <p14:creationId xmlns:p14="http://schemas.microsoft.com/office/powerpoint/2010/main" val="1292781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20</a:t>
            </a:fld>
            <a:endParaRPr lang="en-US"/>
          </a:p>
        </p:txBody>
      </p:sp>
    </p:spTree>
    <p:extLst>
      <p:ext uri="{BB962C8B-B14F-4D97-AF65-F5344CB8AC3E}">
        <p14:creationId xmlns:p14="http://schemas.microsoft.com/office/powerpoint/2010/main" val="154548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21</a:t>
            </a:fld>
            <a:endParaRPr lang="en-US"/>
          </a:p>
        </p:txBody>
      </p:sp>
    </p:spTree>
    <p:extLst>
      <p:ext uri="{BB962C8B-B14F-4D97-AF65-F5344CB8AC3E}">
        <p14:creationId xmlns:p14="http://schemas.microsoft.com/office/powerpoint/2010/main" val="1507002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22</a:t>
            </a:fld>
            <a:endParaRPr lang="en-US"/>
          </a:p>
        </p:txBody>
      </p:sp>
    </p:spTree>
    <p:extLst>
      <p:ext uri="{BB962C8B-B14F-4D97-AF65-F5344CB8AC3E}">
        <p14:creationId xmlns:p14="http://schemas.microsoft.com/office/powerpoint/2010/main" val="3803612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23</a:t>
            </a:fld>
            <a:endParaRPr lang="en-US"/>
          </a:p>
        </p:txBody>
      </p:sp>
    </p:spTree>
    <p:extLst>
      <p:ext uri="{BB962C8B-B14F-4D97-AF65-F5344CB8AC3E}">
        <p14:creationId xmlns:p14="http://schemas.microsoft.com/office/powerpoint/2010/main" val="2831549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24</a:t>
            </a:fld>
            <a:endParaRPr lang="en-US"/>
          </a:p>
        </p:txBody>
      </p:sp>
    </p:spTree>
    <p:extLst>
      <p:ext uri="{BB962C8B-B14F-4D97-AF65-F5344CB8AC3E}">
        <p14:creationId xmlns:p14="http://schemas.microsoft.com/office/powerpoint/2010/main" val="1291040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25</a:t>
            </a:fld>
            <a:endParaRPr lang="en-US"/>
          </a:p>
        </p:txBody>
      </p:sp>
    </p:spTree>
    <p:extLst>
      <p:ext uri="{BB962C8B-B14F-4D97-AF65-F5344CB8AC3E}">
        <p14:creationId xmlns:p14="http://schemas.microsoft.com/office/powerpoint/2010/main" val="3301277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26</a:t>
            </a:fld>
            <a:endParaRPr lang="en-US"/>
          </a:p>
        </p:txBody>
      </p:sp>
    </p:spTree>
    <p:extLst>
      <p:ext uri="{BB962C8B-B14F-4D97-AF65-F5344CB8AC3E}">
        <p14:creationId xmlns:p14="http://schemas.microsoft.com/office/powerpoint/2010/main" val="38109020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27</a:t>
            </a:fld>
            <a:endParaRPr lang="en-US"/>
          </a:p>
        </p:txBody>
      </p:sp>
    </p:spTree>
    <p:extLst>
      <p:ext uri="{BB962C8B-B14F-4D97-AF65-F5344CB8AC3E}">
        <p14:creationId xmlns:p14="http://schemas.microsoft.com/office/powerpoint/2010/main" val="502536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28</a:t>
            </a:fld>
            <a:endParaRPr lang="en-US"/>
          </a:p>
        </p:txBody>
      </p:sp>
    </p:spTree>
    <p:extLst>
      <p:ext uri="{BB962C8B-B14F-4D97-AF65-F5344CB8AC3E}">
        <p14:creationId xmlns:p14="http://schemas.microsoft.com/office/powerpoint/2010/main" val="3495592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29</a:t>
            </a:fld>
            <a:endParaRPr lang="en-US"/>
          </a:p>
        </p:txBody>
      </p:sp>
    </p:spTree>
    <p:extLst>
      <p:ext uri="{BB962C8B-B14F-4D97-AF65-F5344CB8AC3E}">
        <p14:creationId xmlns:p14="http://schemas.microsoft.com/office/powerpoint/2010/main" val="749591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30</a:t>
            </a:fld>
            <a:endParaRPr lang="en-US"/>
          </a:p>
        </p:txBody>
      </p:sp>
    </p:spTree>
    <p:extLst>
      <p:ext uri="{BB962C8B-B14F-4D97-AF65-F5344CB8AC3E}">
        <p14:creationId xmlns:p14="http://schemas.microsoft.com/office/powerpoint/2010/main" val="4114143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31</a:t>
            </a:fld>
            <a:endParaRPr lang="en-US"/>
          </a:p>
        </p:txBody>
      </p:sp>
    </p:spTree>
    <p:extLst>
      <p:ext uri="{BB962C8B-B14F-4D97-AF65-F5344CB8AC3E}">
        <p14:creationId xmlns:p14="http://schemas.microsoft.com/office/powerpoint/2010/main" val="13416309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32</a:t>
            </a:fld>
            <a:endParaRPr lang="en-US"/>
          </a:p>
        </p:txBody>
      </p:sp>
    </p:spTree>
    <p:extLst>
      <p:ext uri="{BB962C8B-B14F-4D97-AF65-F5344CB8AC3E}">
        <p14:creationId xmlns:p14="http://schemas.microsoft.com/office/powerpoint/2010/main" val="1010724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33</a:t>
            </a:fld>
            <a:endParaRPr lang="en-US"/>
          </a:p>
        </p:txBody>
      </p:sp>
    </p:spTree>
    <p:extLst>
      <p:ext uri="{BB962C8B-B14F-4D97-AF65-F5344CB8AC3E}">
        <p14:creationId xmlns:p14="http://schemas.microsoft.com/office/powerpoint/2010/main" val="2037690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12ED71BE-7348-154E-A0B5-EB0F00B808D3}" type="slidenum">
              <a:rPr lang="en-US" smtClean="0"/>
              <a:t>34</a:t>
            </a:fld>
            <a:endParaRPr lang="en-US"/>
          </a:p>
        </p:txBody>
      </p:sp>
    </p:spTree>
    <p:extLst>
      <p:ext uri="{BB962C8B-B14F-4D97-AF65-F5344CB8AC3E}">
        <p14:creationId xmlns:p14="http://schemas.microsoft.com/office/powerpoint/2010/main" val="33789956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The mongos does not have to load the whole set into memory since each shard sorts locally. The mongos can just </a:t>
            </a:r>
            <a:r>
              <a:rPr lang="en-US" sz="1200" kern="1200" dirty="0" err="1">
                <a:solidFill>
                  <a:schemeClr val="tx1"/>
                </a:solidFill>
                <a:latin typeface="+mn-lt"/>
                <a:ea typeface="+mn-ea"/>
                <a:cs typeface="+mn-cs"/>
              </a:rPr>
              <a:t>getMore</a:t>
            </a:r>
            <a:r>
              <a:rPr lang="en-US" sz="1200" kern="1200" dirty="0">
                <a:solidFill>
                  <a:schemeClr val="tx1"/>
                </a:solidFill>
                <a:latin typeface="+mn-lt"/>
                <a:ea typeface="+mn-ea"/>
                <a:cs typeface="+mn-cs"/>
              </a:rPr>
              <a:t> from the shards as needed and incrementally return the results to the client.</a:t>
            </a:r>
          </a:p>
        </p:txBody>
      </p:sp>
      <p:sp>
        <p:nvSpPr>
          <p:cNvPr id="4" name="Slide Number Placeholder 3"/>
          <p:cNvSpPr>
            <a:spLocks noGrp="1"/>
          </p:cNvSpPr>
          <p:nvPr>
            <p:ph type="sldNum" sz="quarter" idx="10"/>
          </p:nvPr>
        </p:nvSpPr>
        <p:spPr/>
        <p:txBody>
          <a:bodyPr/>
          <a:lstStyle/>
          <a:p>
            <a:fld id="{12ED71BE-7348-154E-A0B5-EB0F00B808D3}" type="slidenum">
              <a:rPr lang="en-US" smtClean="0"/>
              <a:t>35</a:t>
            </a:fld>
            <a:endParaRPr lang="en-US"/>
          </a:p>
        </p:txBody>
      </p:sp>
    </p:spTree>
    <p:extLst>
      <p:ext uri="{BB962C8B-B14F-4D97-AF65-F5344CB8AC3E}">
        <p14:creationId xmlns:p14="http://schemas.microsoft.com/office/powerpoint/2010/main" val="3004966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ED71BE-7348-154E-A0B5-EB0F00B808D3}" type="slidenum">
              <a:rPr lang="en-US" smtClean="0"/>
              <a:t>36</a:t>
            </a:fld>
            <a:endParaRPr lang="en-US"/>
          </a:p>
        </p:txBody>
      </p:sp>
    </p:spTree>
    <p:extLst>
      <p:ext uri="{BB962C8B-B14F-4D97-AF65-F5344CB8AC3E}">
        <p14:creationId xmlns:p14="http://schemas.microsoft.com/office/powerpoint/2010/main" val="22685725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_id could be unique across shards if used as shard key.</a:t>
            </a:r>
          </a:p>
          <a:p>
            <a:r>
              <a:rPr lang="en-US" sz="1200" kern="1200" dirty="0">
                <a:solidFill>
                  <a:schemeClr val="tx1"/>
                </a:solidFill>
                <a:latin typeface="+mn-lt"/>
                <a:ea typeface="+mn-ea"/>
                <a:cs typeface="+mn-cs"/>
              </a:rPr>
              <a:t>we could only guarantee uniqueness of (any) attributes if the keys are used as shard keys with unique attribute equals true</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38</a:t>
            </a:fld>
            <a:endParaRPr lang="en-US"/>
          </a:p>
        </p:txBody>
      </p:sp>
    </p:spTree>
    <p:extLst>
      <p:ext uri="{BB962C8B-B14F-4D97-AF65-F5344CB8AC3E}">
        <p14:creationId xmlns:p14="http://schemas.microsoft.com/office/powerpoint/2010/main" val="13041618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can be skipped for the</a:t>
            </a:r>
            <a:r>
              <a:rPr lang="en-US" baseline="0" dirty="0"/>
              <a:t> intro talk, but might be good to include if you’re doing the combined sharding talk.</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43</a:t>
            </a:fld>
            <a:endParaRPr lang="en-US"/>
          </a:p>
        </p:txBody>
      </p:sp>
    </p:spTree>
    <p:extLst>
      <p:ext uri="{BB962C8B-B14F-4D97-AF65-F5344CB8AC3E}">
        <p14:creationId xmlns:p14="http://schemas.microsoft.com/office/powerpoint/2010/main" val="27684160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 if we lost an entire shard what would be the effect on the system?</a:t>
            </a:r>
          </a:p>
          <a:p>
            <a:r>
              <a:rPr lang="en-US" dirty="0"/>
              <a:t>For most frequently used/largest indexes,</a:t>
            </a:r>
            <a:r>
              <a:rPr lang="en-US" baseline="0" dirty="0"/>
              <a:t> how are they partitioned across shards?</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44</a:t>
            </a:fld>
            <a:endParaRPr lang="en-US"/>
          </a:p>
        </p:txBody>
      </p:sp>
    </p:spTree>
    <p:extLst>
      <p:ext uri="{BB962C8B-B14F-4D97-AF65-F5344CB8AC3E}">
        <p14:creationId xmlns:p14="http://schemas.microsoft.com/office/powerpoint/2010/main" val="7860013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 if we lost an entire shard what would be the effect on the system?</a:t>
            </a:r>
          </a:p>
          <a:p>
            <a:r>
              <a:rPr lang="en-US" dirty="0"/>
              <a:t>For most frequently used/largest indexes,</a:t>
            </a:r>
            <a:r>
              <a:rPr lang="en-US" baseline="0" dirty="0"/>
              <a:t> how are they partitioned across shards?</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45</a:t>
            </a:fld>
            <a:endParaRPr lang="en-US"/>
          </a:p>
        </p:txBody>
      </p:sp>
    </p:spTree>
    <p:extLst>
      <p:ext uri="{BB962C8B-B14F-4D97-AF65-F5344CB8AC3E}">
        <p14:creationId xmlns:p14="http://schemas.microsoft.com/office/powerpoint/2010/main" val="786001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 if we lost an entire shard what would be the effect on the system?</a:t>
            </a:r>
          </a:p>
          <a:p>
            <a:r>
              <a:rPr lang="en-US" dirty="0"/>
              <a:t>For most frequently used/largest indexes,</a:t>
            </a:r>
            <a:r>
              <a:rPr lang="en-US" baseline="0" dirty="0"/>
              <a:t> how are they partitioned </a:t>
            </a:r>
            <a:r>
              <a:rPr lang="en-US" baseline="0"/>
              <a:t>across shards?</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46</a:t>
            </a:fld>
            <a:endParaRPr lang="en-US"/>
          </a:p>
        </p:txBody>
      </p:sp>
    </p:spTree>
    <p:extLst>
      <p:ext uri="{BB962C8B-B14F-4D97-AF65-F5344CB8AC3E}">
        <p14:creationId xmlns:p14="http://schemas.microsoft.com/office/powerpoint/2010/main" val="7860013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 if we lost an entire shard what would be the effect on the system?</a:t>
            </a:r>
          </a:p>
          <a:p>
            <a:r>
              <a:rPr lang="en-US" dirty="0"/>
              <a:t>For most frequently used/largest indexes,</a:t>
            </a:r>
            <a:r>
              <a:rPr lang="en-US" baseline="0" dirty="0"/>
              <a:t> how are they partitioned </a:t>
            </a:r>
            <a:r>
              <a:rPr lang="en-US" baseline="0"/>
              <a:t>across shards?</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47</a:t>
            </a:fld>
            <a:endParaRPr lang="en-US"/>
          </a:p>
        </p:txBody>
      </p:sp>
    </p:spTree>
    <p:extLst>
      <p:ext uri="{BB962C8B-B14F-4D97-AF65-F5344CB8AC3E}">
        <p14:creationId xmlns:p14="http://schemas.microsoft.com/office/powerpoint/2010/main" val="7860013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Compound</a:t>
            </a:r>
            <a:r>
              <a:rPr lang="en-US" baseline="0" dirty="0"/>
              <a:t> shard key, utilize already existing (used) index, partition chunk for "power" users.</a:t>
            </a:r>
          </a:p>
          <a:p>
            <a:r>
              <a:rPr lang="en-US" baseline="0" dirty="0"/>
              <a:t>For those users more than one shard *may* need to be queried in a targeted query.</a:t>
            </a:r>
            <a:endParaRPr lang="en-US" dirty="0"/>
          </a:p>
          <a:p>
            <a:r>
              <a:rPr lang="en-US" dirty="0"/>
              <a:t>Reliability = if we lost an entire shard what would be the effect on the system?</a:t>
            </a:r>
          </a:p>
          <a:p>
            <a:r>
              <a:rPr lang="en-US" dirty="0"/>
              <a:t>For most frequently used/largest indexes,</a:t>
            </a:r>
            <a:r>
              <a:rPr lang="en-US" baseline="0" dirty="0"/>
              <a:t> how are they partitioned across shards?</a:t>
            </a:r>
            <a:endParaRPr lang="en-US" dirty="0"/>
          </a:p>
        </p:txBody>
      </p:sp>
      <p:sp>
        <p:nvSpPr>
          <p:cNvPr id="4" name="Slide Number Placeholder 3"/>
          <p:cNvSpPr>
            <a:spLocks noGrp="1"/>
          </p:cNvSpPr>
          <p:nvPr>
            <p:ph type="sldNum" sz="quarter" idx="10"/>
          </p:nvPr>
        </p:nvSpPr>
        <p:spPr/>
        <p:txBody>
          <a:bodyPr/>
          <a:lstStyle/>
          <a:p>
            <a:fld id="{12ED71BE-7348-154E-A0B5-EB0F00B808D3}" type="slidenum">
              <a:rPr lang="en-US" smtClean="0"/>
              <a:t>48</a:t>
            </a:fld>
            <a:endParaRPr lang="en-US"/>
          </a:p>
        </p:txBody>
      </p:sp>
    </p:spTree>
    <p:extLst>
      <p:ext uri="{BB962C8B-B14F-4D97-AF65-F5344CB8AC3E}">
        <p14:creationId xmlns:p14="http://schemas.microsoft.com/office/powerpoint/2010/main" val="786001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E35366-9ADD-EB4E-BBBA-F0C9011757AA}" type="datetimeFigureOut">
              <a:rPr lang="en-US" smtClean="0"/>
              <a:t>11/15/21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E35366-9ADD-EB4E-BBBA-F0C9011757AA}" type="datetimeFigureOut">
              <a:rPr lang="en-US" smtClean="0"/>
              <a:t>11/15/21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E35366-9ADD-EB4E-BBBA-F0C9011757AA}" type="datetimeFigureOut">
              <a:rPr lang="en-US" smtClean="0"/>
              <a:t>11/15/21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E35366-9ADD-EB4E-BBBA-F0C9011757AA}" type="datetimeFigureOut">
              <a:rPr lang="en-US" smtClean="0"/>
              <a:t>11/15/21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E35366-9ADD-EB4E-BBBA-F0C9011757AA}" type="datetimeFigureOut">
              <a:rPr lang="en-US" smtClean="0"/>
              <a:t>11/15/21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E35366-9ADD-EB4E-BBBA-F0C9011757AA}" type="datetimeFigureOut">
              <a:rPr lang="en-US" smtClean="0"/>
              <a:t>11/15/21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F9A8611-9EEC-9C40-B54D-4A508AF5313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E35366-9ADD-EB4E-BBBA-F0C9011757AA}" type="datetimeFigureOut">
              <a:rPr lang="en-US" smtClean="0"/>
              <a:t>11/15/21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 Bullet Points">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837871" y="336142"/>
            <a:ext cx="10531939" cy="851683"/>
          </a:xfrm>
          <a:prstGeom prst="rect">
            <a:avLst/>
          </a:prstGeom>
        </p:spPr>
        <p:txBody>
          <a:bodyPr vert="horz" lIns="0" tIns="0" rIns="0" bIns="0" rtlCol="0" anchor="ctr">
            <a:normAutofit/>
          </a:bodyPr>
          <a:lstStyle>
            <a:lvl1pPr>
              <a:defRPr sz="3600">
                <a:solidFill>
                  <a:srgbClr val="6BA342"/>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838200" y="1503680"/>
            <a:ext cx="10532533" cy="4371094"/>
          </a:xfrm>
        </p:spPr>
        <p:txBody>
          <a:bodyPr/>
          <a:lstStyle>
            <a:lvl1pPr>
              <a:defRPr sz="2800"/>
            </a:lvl1pPr>
            <a:lvl2pPr>
              <a:defRPr sz="2400"/>
            </a:lvl2pPr>
          </a:lstStyle>
          <a:p>
            <a:pPr lvl="0"/>
            <a:r>
              <a:rPr lang="en-US"/>
              <a:t>Click to edit Master text styles</a:t>
            </a:r>
          </a:p>
          <a:p>
            <a:pPr lvl="1"/>
            <a:r>
              <a:rPr lang="en-US"/>
              <a:t>Second level</a:t>
            </a:r>
          </a:p>
        </p:txBody>
      </p:sp>
      <p:sp>
        <p:nvSpPr>
          <p:cNvPr id="13" name="Footer Placeholder 4"/>
          <p:cNvSpPr>
            <a:spLocks noGrp="1"/>
          </p:cNvSpPr>
          <p:nvPr>
            <p:ph type="ftr" sz="quarter" idx="3"/>
          </p:nvPr>
        </p:nvSpPr>
        <p:spPr>
          <a:xfrm>
            <a:off x="838201" y="6356351"/>
            <a:ext cx="5782988" cy="365125"/>
          </a:xfrm>
          <a:prstGeom prst="rect">
            <a:avLst/>
          </a:prstGeom>
        </p:spPr>
        <p:txBody>
          <a:bodyPr vert="horz" lIns="91440" tIns="45720" rIns="91440" bIns="45720" rtlCol="0" anchor="ctr"/>
          <a:lstStyle>
            <a:lvl1pPr algn="l">
              <a:defRPr sz="1200" b="0" i="1">
                <a:solidFill>
                  <a:schemeClr val="tx1">
                    <a:tint val="75000"/>
                  </a:schemeClr>
                </a:solidFill>
                <a:latin typeface="PT Sans"/>
                <a:cs typeface="PT Sans"/>
              </a:defRPr>
            </a:lvl1pPr>
          </a:lstStyle>
          <a:p>
            <a:r>
              <a:rPr lang="en-US" dirty="0"/>
              <a:t>Talk Title (abbreviated if necessary), Speaker</a:t>
            </a:r>
          </a:p>
        </p:txBody>
      </p:sp>
    </p:spTree>
    <p:extLst>
      <p:ext uri="{BB962C8B-B14F-4D97-AF65-F5344CB8AC3E}">
        <p14:creationId xmlns:p14="http://schemas.microsoft.com/office/powerpoint/2010/main" val="2273812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icture + Caption (no header)">
    <p:spTree>
      <p:nvGrpSpPr>
        <p:cNvPr id="1" name=""/>
        <p:cNvGrpSpPr/>
        <p:nvPr/>
      </p:nvGrpSpPr>
      <p:grpSpPr>
        <a:xfrm>
          <a:off x="0" y="0"/>
          <a:ext cx="0" cy="0"/>
          <a:chOff x="0" y="0"/>
          <a:chExt cx="0" cy="0"/>
        </a:xfrm>
      </p:grpSpPr>
      <p:sp>
        <p:nvSpPr>
          <p:cNvPr id="4" name="Content Placeholder 3"/>
          <p:cNvSpPr>
            <a:spLocks noGrp="1"/>
          </p:cNvSpPr>
          <p:nvPr>
            <p:ph sz="quarter" idx="11" hasCustomPrompt="1"/>
          </p:nvPr>
        </p:nvSpPr>
        <p:spPr>
          <a:xfrm>
            <a:off x="838200" y="1344757"/>
            <a:ext cx="10532533" cy="4286885"/>
          </a:xfrm>
          <a:solidFill>
            <a:schemeClr val="bg2">
              <a:alpha val="23000"/>
            </a:schemeClr>
          </a:solidFill>
          <a:ln w="76200" cmpd="sng">
            <a:noFill/>
          </a:ln>
          <a:effectLst/>
        </p:spPr>
        <p:txBody>
          <a:bodyPr>
            <a:sp3d/>
          </a:bodyPr>
          <a:lstStyle>
            <a:lvl1pPr marL="0" indent="0">
              <a:buNone/>
              <a:defRPr baseline="0">
                <a:effectLst/>
              </a:defRPr>
            </a:lvl1pPr>
          </a:lstStyle>
          <a:p>
            <a:pPr lvl="0"/>
            <a:r>
              <a:rPr lang="en-US" dirty="0"/>
              <a:t>Insert Picture/Table/Chart Here</a:t>
            </a:r>
          </a:p>
        </p:txBody>
      </p:sp>
      <p:sp>
        <p:nvSpPr>
          <p:cNvPr id="8" name="Footer Placeholder 4"/>
          <p:cNvSpPr>
            <a:spLocks noGrp="1"/>
          </p:cNvSpPr>
          <p:nvPr>
            <p:ph type="ftr" sz="quarter" idx="3"/>
          </p:nvPr>
        </p:nvSpPr>
        <p:spPr>
          <a:xfrm>
            <a:off x="838201" y="6356351"/>
            <a:ext cx="5782988" cy="365125"/>
          </a:xfrm>
          <a:prstGeom prst="rect">
            <a:avLst/>
          </a:prstGeom>
        </p:spPr>
        <p:txBody>
          <a:bodyPr vert="horz" lIns="91440" tIns="45720" rIns="91440" bIns="45720" rtlCol="0" anchor="ctr"/>
          <a:lstStyle>
            <a:lvl1pPr algn="ctr">
              <a:defRPr sz="1200" b="0" i="1">
                <a:solidFill>
                  <a:schemeClr val="tx1">
                    <a:tint val="75000"/>
                  </a:schemeClr>
                </a:solidFill>
                <a:latin typeface="PT Sans"/>
                <a:cs typeface="PT Sans"/>
              </a:defRPr>
            </a:lvl1pPr>
          </a:lstStyle>
          <a:p>
            <a:pPr algn="l"/>
            <a:r>
              <a:rPr lang="en-US" dirty="0"/>
              <a:t>Talk Title (abbreviated if necessary), Speaker</a:t>
            </a:r>
          </a:p>
        </p:txBody>
      </p:sp>
      <p:sp>
        <p:nvSpPr>
          <p:cNvPr id="14" name="Title Placeholder 1"/>
          <p:cNvSpPr>
            <a:spLocks noGrp="1"/>
          </p:cNvSpPr>
          <p:nvPr>
            <p:ph type="title"/>
          </p:nvPr>
        </p:nvSpPr>
        <p:spPr>
          <a:xfrm>
            <a:off x="837871" y="336142"/>
            <a:ext cx="10531939" cy="851683"/>
          </a:xfrm>
          <a:prstGeom prst="rect">
            <a:avLst/>
          </a:prstGeom>
        </p:spPr>
        <p:txBody>
          <a:bodyPr vert="horz" lIns="0" tIns="0" rIns="0" bIns="0" rtlCol="0" anchor="ctr">
            <a:normAutofit/>
          </a:bodyPr>
          <a:lstStyle>
            <a:lvl1pPr>
              <a:defRPr sz="3600">
                <a:solidFill>
                  <a:srgbClr val="6BA342"/>
                </a:solidFill>
              </a:defRPr>
            </a:lvl1pPr>
          </a:lstStyle>
          <a:p>
            <a:r>
              <a:rPr lang="en-US"/>
              <a:t>Click to edit Master title style</a:t>
            </a:r>
            <a:endParaRPr lang="en-US" dirty="0"/>
          </a:p>
        </p:txBody>
      </p:sp>
    </p:spTree>
    <p:extLst>
      <p:ext uri="{BB962C8B-B14F-4D97-AF65-F5344CB8AC3E}">
        <p14:creationId xmlns:p14="http://schemas.microsoft.com/office/powerpoint/2010/main" val="3382205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838201" y="6356351"/>
            <a:ext cx="5782988" cy="365125"/>
          </a:xfrm>
          <a:prstGeom prst="rect">
            <a:avLst/>
          </a:prstGeom>
        </p:spPr>
        <p:txBody>
          <a:bodyPr vert="horz" lIns="91440" tIns="45720" rIns="91440" bIns="45720" rtlCol="0" anchor="ctr"/>
          <a:lstStyle>
            <a:lvl1pPr algn="ctr">
              <a:defRPr sz="1200" b="0" i="1">
                <a:solidFill>
                  <a:schemeClr val="tx1">
                    <a:tint val="75000"/>
                  </a:schemeClr>
                </a:solidFill>
                <a:latin typeface="PT Sans"/>
                <a:cs typeface="PT Sans"/>
              </a:defRPr>
            </a:lvl1pPr>
          </a:lstStyle>
          <a:p>
            <a:pPr algn="l"/>
            <a:r>
              <a:rPr lang="en-US" dirty="0"/>
              <a:t>Talk Title (abbreviated if necessary), Speaker</a:t>
            </a:r>
          </a:p>
        </p:txBody>
      </p:sp>
    </p:spTree>
    <p:extLst>
      <p:ext uri="{BB962C8B-B14F-4D97-AF65-F5344CB8AC3E}">
        <p14:creationId xmlns:p14="http://schemas.microsoft.com/office/powerpoint/2010/main" val="2880492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Header + Code Demo">
    <p:bg>
      <p:bgPr>
        <a:solidFill>
          <a:schemeClr val="bg1">
            <a:lumMod val="10000"/>
          </a:schemeClr>
        </a:solidFill>
        <a:effectLst/>
      </p:bgPr>
    </p:bg>
    <p:spTree>
      <p:nvGrpSpPr>
        <p:cNvPr id="1" name=""/>
        <p:cNvGrpSpPr/>
        <p:nvPr/>
      </p:nvGrpSpPr>
      <p:grpSpPr>
        <a:xfrm>
          <a:off x="0" y="0"/>
          <a:ext cx="0" cy="0"/>
          <a:chOff x="0" y="0"/>
          <a:chExt cx="0" cy="0"/>
        </a:xfrm>
      </p:grpSpPr>
      <p:sp>
        <p:nvSpPr>
          <p:cNvPr id="3" name="Rectangle 2"/>
          <p:cNvSpPr/>
          <p:nvPr userDrawn="1"/>
        </p:nvSpPr>
        <p:spPr>
          <a:xfrm>
            <a:off x="0" y="1"/>
            <a:ext cx="12192000" cy="1405505"/>
          </a:xfrm>
          <a:prstGeom prst="rect">
            <a:avLst/>
          </a:prstGeom>
          <a:solidFill>
            <a:schemeClr val="bg2">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Content Placeholder 2"/>
          <p:cNvSpPr>
            <a:spLocks noGrp="1"/>
          </p:cNvSpPr>
          <p:nvPr>
            <p:ph idx="1" hasCustomPrompt="1"/>
          </p:nvPr>
        </p:nvSpPr>
        <p:spPr>
          <a:xfrm>
            <a:off x="837871" y="1652085"/>
            <a:ext cx="10516260" cy="4452399"/>
          </a:xfrm>
          <a:prstGeom prst="rect">
            <a:avLst/>
          </a:prstGeom>
        </p:spPr>
        <p:txBody>
          <a:bodyPr lIns="0" tIns="45720" rIns="0" bIns="0" anchor="t" anchorCtr="0"/>
          <a:lstStyle>
            <a:lvl1pPr marL="0" marR="0" indent="0" algn="l" defTabSz="457200" rtl="0" eaLnBrk="1" fontAlgn="auto" latinLnBrk="0" hangingPunct="1">
              <a:lnSpc>
                <a:spcPct val="90000"/>
              </a:lnSpc>
              <a:spcBef>
                <a:spcPts val="1272"/>
              </a:spcBef>
              <a:spcAft>
                <a:spcPts val="0"/>
              </a:spcAft>
              <a:buClr>
                <a:srgbClr val="0075BF"/>
              </a:buClr>
              <a:buSzPct val="85000"/>
              <a:buFont typeface="Arial"/>
              <a:buNone/>
              <a:tabLst/>
              <a:defRPr sz="1800" b="1" i="0" spc="50" baseline="0">
                <a:solidFill>
                  <a:schemeClr val="bg1"/>
                </a:solidFill>
                <a:latin typeface="Source Code Pro Semibold"/>
                <a:cs typeface="Lucida Console"/>
              </a:defRPr>
            </a:lvl1pPr>
            <a:lvl2pPr marL="457200" marR="0" indent="0" algn="l" defTabSz="457200" rtl="0" eaLnBrk="1" fontAlgn="auto" latinLnBrk="0" hangingPunct="1">
              <a:lnSpc>
                <a:spcPct val="100000"/>
              </a:lnSpc>
              <a:spcBef>
                <a:spcPts val="200"/>
              </a:spcBef>
              <a:spcAft>
                <a:spcPts val="0"/>
              </a:spcAft>
              <a:buClrTx/>
              <a:buSzTx/>
              <a:buFont typeface="Arial"/>
              <a:buNone/>
              <a:tabLst/>
              <a:defRPr/>
            </a:lvl2pPr>
          </a:lstStyle>
          <a:p>
            <a:pPr lvl="0"/>
            <a:r>
              <a:rPr lang="en-US" dirty="0"/>
              <a:t>Insert code here</a:t>
            </a:r>
          </a:p>
        </p:txBody>
      </p:sp>
      <p:sp>
        <p:nvSpPr>
          <p:cNvPr id="8" name="Title Placeholder 1"/>
          <p:cNvSpPr>
            <a:spLocks noGrp="1"/>
          </p:cNvSpPr>
          <p:nvPr>
            <p:ph type="title" hasCustomPrompt="1"/>
          </p:nvPr>
        </p:nvSpPr>
        <p:spPr>
          <a:xfrm>
            <a:off x="837871" y="336142"/>
            <a:ext cx="10531939" cy="851683"/>
          </a:xfrm>
          <a:prstGeom prst="rect">
            <a:avLst/>
          </a:prstGeom>
        </p:spPr>
        <p:txBody>
          <a:bodyPr vert="horz" lIns="0" tIns="0" rIns="0" bIns="0" rtlCol="0" anchor="ctr">
            <a:noAutofit/>
          </a:bodyPr>
          <a:lstStyle>
            <a:lvl1pPr>
              <a:defRPr sz="3600" baseline="0">
                <a:solidFill>
                  <a:srgbClr val="6BA342"/>
                </a:solidFill>
              </a:defRPr>
            </a:lvl1pPr>
          </a:lstStyle>
          <a:p>
            <a:r>
              <a:rPr lang="en-US" dirty="0"/>
              <a:t>Insert header here (2 lines max)</a:t>
            </a:r>
          </a:p>
        </p:txBody>
      </p:sp>
      <p:sp>
        <p:nvSpPr>
          <p:cNvPr id="7" name="Footer Placeholder 4"/>
          <p:cNvSpPr>
            <a:spLocks noGrp="1"/>
          </p:cNvSpPr>
          <p:nvPr>
            <p:ph type="ftr" sz="quarter" idx="3"/>
          </p:nvPr>
        </p:nvSpPr>
        <p:spPr>
          <a:xfrm>
            <a:off x="837871" y="6356351"/>
            <a:ext cx="5782988" cy="365125"/>
          </a:xfrm>
          <a:prstGeom prst="rect">
            <a:avLst/>
          </a:prstGeom>
        </p:spPr>
        <p:txBody>
          <a:bodyPr vert="horz" lIns="91440" tIns="45720" rIns="91440" bIns="45720" rtlCol="0" anchor="ctr"/>
          <a:lstStyle>
            <a:lvl1pPr algn="l">
              <a:defRPr sz="1200" b="0" i="1">
                <a:solidFill>
                  <a:schemeClr val="tx1">
                    <a:tint val="75000"/>
                  </a:schemeClr>
                </a:solidFill>
                <a:latin typeface="PT Sans"/>
                <a:cs typeface="PT Sans"/>
              </a:defRPr>
            </a:lvl1pPr>
          </a:lstStyle>
          <a:p>
            <a:r>
              <a:rPr lang="en-US" dirty="0"/>
              <a:t>Talk Title (abbreviated if necessary), Speaker</a:t>
            </a:r>
          </a:p>
        </p:txBody>
      </p:sp>
    </p:spTree>
    <p:extLst>
      <p:ext uri="{BB962C8B-B14F-4D97-AF65-F5344CB8AC3E}">
        <p14:creationId xmlns:p14="http://schemas.microsoft.com/office/powerpoint/2010/main" val="915209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E35366-9ADD-EB4E-BBBA-F0C9011757AA}" type="datetimeFigureOut">
              <a:rPr lang="en-US" smtClean="0"/>
              <a:t>11/15/21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F9A8611-9EEC-9C40-B54D-4A508AF5313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8726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9" r:id="rId12"/>
    <p:sldLayoutId id="2147483710" r:id="rId13"/>
    <p:sldLayoutId id="2147483711" r:id="rId14"/>
    <p:sldLayoutId id="2147483712" r:id="rId15"/>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1649-A055-194B-812F-B19F37934263}"/>
              </a:ext>
            </a:extLst>
          </p:cNvPr>
          <p:cNvSpPr>
            <a:spLocks noGrp="1"/>
          </p:cNvSpPr>
          <p:nvPr>
            <p:ph type="ctrTitle"/>
          </p:nvPr>
        </p:nvSpPr>
        <p:spPr/>
        <p:txBody>
          <a:bodyPr/>
          <a:lstStyle/>
          <a:p>
            <a:r>
              <a:rPr lang="en-US" dirty="0"/>
              <a:t>MongoDB </a:t>
            </a:r>
            <a:r>
              <a:rPr lang="en-US" dirty="0" err="1"/>
              <a:t>Sharding</a:t>
            </a:r>
            <a:endParaRPr lang="en-US" dirty="0"/>
          </a:p>
        </p:txBody>
      </p:sp>
      <p:sp>
        <p:nvSpPr>
          <p:cNvPr id="3" name="Subtitle 2">
            <a:extLst>
              <a:ext uri="{FF2B5EF4-FFF2-40B4-BE49-F238E27FC236}">
                <a16:creationId xmlns:a16="http://schemas.microsoft.com/office/drawing/2014/main" id="{81569C26-19D5-3B43-871E-C64A3CA2FCE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8958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130" y="987175"/>
            <a:ext cx="10531939" cy="851683"/>
          </a:xfrm>
        </p:spPr>
        <p:txBody>
          <a:bodyPr/>
          <a:lstStyle/>
          <a:p>
            <a:r>
              <a:rPr lang="en-US" dirty="0"/>
              <a:t>Partitioning</a:t>
            </a:r>
          </a:p>
        </p:txBody>
      </p:sp>
      <p:sp>
        <p:nvSpPr>
          <p:cNvPr id="5" name="Text Placeholder 4"/>
          <p:cNvSpPr>
            <a:spLocks noGrp="1"/>
          </p:cNvSpPr>
          <p:nvPr>
            <p:ph type="body" sz="quarter" idx="11"/>
          </p:nvPr>
        </p:nvSpPr>
        <p:spPr>
          <a:xfrm>
            <a:off x="1175536" y="1838858"/>
            <a:ext cx="10532533" cy="4371094"/>
          </a:xfrm>
        </p:spPr>
        <p:txBody>
          <a:bodyPr/>
          <a:lstStyle/>
          <a:p>
            <a:r>
              <a:rPr lang="en-US" dirty="0"/>
              <a:t>User defines shard key</a:t>
            </a:r>
          </a:p>
          <a:p>
            <a:r>
              <a:rPr lang="en-US" dirty="0"/>
              <a:t>Shard key defines range of data</a:t>
            </a:r>
          </a:p>
          <a:p>
            <a:r>
              <a:rPr lang="en-US" dirty="0"/>
              <a:t>Key space is like points on a line</a:t>
            </a:r>
          </a:p>
          <a:p>
            <a:r>
              <a:rPr lang="en-US" dirty="0"/>
              <a:t>Range is a segment of that line</a:t>
            </a:r>
          </a:p>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2651" y="4346703"/>
            <a:ext cx="7905749" cy="1437408"/>
          </a:xfrm>
          <a:prstGeom prst="rect">
            <a:avLst/>
          </a:prstGeom>
        </p:spPr>
      </p:pic>
    </p:spTree>
    <p:extLst>
      <p:ext uri="{BB962C8B-B14F-4D97-AF65-F5344CB8AC3E}">
        <p14:creationId xmlns:p14="http://schemas.microsoft.com/office/powerpoint/2010/main" val="242468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sz="quarter" idx="11"/>
          </p:nvPr>
        </p:nvSpPr>
        <p:spPr>
          <a:xfrm>
            <a:off x="1196602" y="1931166"/>
            <a:ext cx="10532533" cy="4153454"/>
          </a:xfrm>
        </p:spPr>
        <p:txBody>
          <a:bodyPr/>
          <a:lstStyle/>
          <a:p>
            <a:r>
              <a:rPr lang="en-US" dirty="0"/>
              <a:t>Initially 1 chunk</a:t>
            </a:r>
          </a:p>
          <a:p>
            <a:r>
              <a:rPr lang="en-US" dirty="0"/>
              <a:t>Default max chunk size: 64mb</a:t>
            </a:r>
          </a:p>
          <a:p>
            <a:r>
              <a:rPr lang="en-US" dirty="0"/>
              <a:t>MongoDB automatically splits &amp; migrates chunks when max reached</a:t>
            </a:r>
          </a:p>
          <a:p>
            <a:endParaRPr lang="en-US" dirty="0"/>
          </a:p>
        </p:txBody>
      </p:sp>
      <p:sp>
        <p:nvSpPr>
          <p:cNvPr id="3" name="Title 2"/>
          <p:cNvSpPr>
            <a:spLocks noGrp="1"/>
          </p:cNvSpPr>
          <p:nvPr>
            <p:ph type="title"/>
          </p:nvPr>
        </p:nvSpPr>
        <p:spPr>
          <a:xfrm>
            <a:off x="1196602" y="1079482"/>
            <a:ext cx="10531939" cy="851683"/>
          </a:xfrm>
        </p:spPr>
        <p:txBody>
          <a:bodyPr>
            <a:normAutofit/>
          </a:bodyPr>
          <a:lstStyle/>
          <a:p>
            <a:r>
              <a:rPr lang="en-US" dirty="0"/>
              <a:t>Data Distribution</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46221" t="44064" r="14878"/>
          <a:stretch/>
        </p:blipFill>
        <p:spPr>
          <a:xfrm>
            <a:off x="4184109" y="3891764"/>
            <a:ext cx="3749810" cy="2192855"/>
          </a:xfrm>
          <a:prstGeom prst="rect">
            <a:avLst/>
          </a:prstGeom>
        </p:spPr>
      </p:pic>
    </p:spTree>
    <p:extLst>
      <p:ext uri="{BB962C8B-B14F-4D97-AF65-F5344CB8AC3E}">
        <p14:creationId xmlns:p14="http://schemas.microsoft.com/office/powerpoint/2010/main" val="834321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sz="quarter" idx="11"/>
          </p:nvPr>
        </p:nvSpPr>
        <p:spPr>
          <a:xfrm>
            <a:off x="1160474" y="1901348"/>
            <a:ext cx="4967919" cy="4286885"/>
          </a:xfrm>
        </p:spPr>
        <p:txBody>
          <a:bodyPr/>
          <a:lstStyle/>
          <a:p>
            <a:r>
              <a:rPr lang="en-US" dirty="0"/>
              <a:t>Queries routed to specific shards</a:t>
            </a:r>
          </a:p>
          <a:p>
            <a:r>
              <a:rPr lang="en-US" dirty="0"/>
              <a:t>MongoDB balances cluster</a:t>
            </a:r>
          </a:p>
          <a:p>
            <a:r>
              <a:rPr lang="en-US" dirty="0"/>
              <a:t>MongoDB migrates data to new nodes</a:t>
            </a:r>
          </a:p>
        </p:txBody>
      </p:sp>
      <p:sp>
        <p:nvSpPr>
          <p:cNvPr id="3" name="Title 2"/>
          <p:cNvSpPr>
            <a:spLocks noGrp="1"/>
          </p:cNvSpPr>
          <p:nvPr>
            <p:ph type="title"/>
          </p:nvPr>
        </p:nvSpPr>
        <p:spPr>
          <a:xfrm>
            <a:off x="1160474" y="1049665"/>
            <a:ext cx="10531939" cy="851683"/>
          </a:xfrm>
        </p:spPr>
        <p:txBody>
          <a:bodyPr/>
          <a:lstStyle/>
          <a:p>
            <a:r>
              <a:rPr lang="en-US" dirty="0"/>
              <a:t>Routing and Balancing</a:t>
            </a:r>
          </a:p>
        </p:txBody>
      </p:sp>
      <p:pic>
        <p:nvPicPr>
          <p:cNvPr id="6" name="Content Placeholder 2" descr="sharding_routed_S5.eps"/>
          <p:cNvPicPr>
            <a:picLocks noChangeAspect="1"/>
          </p:cNvPicPr>
          <p:nvPr/>
        </p:nvPicPr>
        <p:blipFill rotWithShape="1">
          <a:blip r:embed="rId3">
            <a:extLst>
              <a:ext uri="{28A0092B-C50C-407E-A947-70E740481C1C}">
                <a14:useLocalDpi xmlns:a14="http://schemas.microsoft.com/office/drawing/2010/main" val="0"/>
              </a:ext>
            </a:extLst>
          </a:blip>
          <a:srcRect l="31526" r="30346"/>
          <a:stretch/>
        </p:blipFill>
        <p:spPr>
          <a:xfrm>
            <a:off x="7159353" y="1794112"/>
            <a:ext cx="3020471" cy="4286885"/>
          </a:xfrm>
          <a:prstGeom prst="rect">
            <a:avLst/>
          </a:prstGeom>
        </p:spPr>
      </p:pic>
    </p:spTree>
    <p:extLst>
      <p:ext uri="{BB962C8B-B14F-4D97-AF65-F5344CB8AC3E}">
        <p14:creationId xmlns:p14="http://schemas.microsoft.com/office/powerpoint/2010/main" val="3308258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05619" y="1029684"/>
            <a:ext cx="10531939" cy="851683"/>
          </a:xfrm>
        </p:spPr>
        <p:txBody>
          <a:bodyPr/>
          <a:lstStyle/>
          <a:p>
            <a:r>
              <a:rPr lang="en-US" dirty="0"/>
              <a:t>MongoDB Auto-Sharding</a:t>
            </a:r>
          </a:p>
        </p:txBody>
      </p:sp>
      <p:sp>
        <p:nvSpPr>
          <p:cNvPr id="4" name="Text Placeholder 3"/>
          <p:cNvSpPr>
            <a:spLocks noGrp="1"/>
          </p:cNvSpPr>
          <p:nvPr>
            <p:ph type="body" sz="quarter" idx="11"/>
          </p:nvPr>
        </p:nvSpPr>
        <p:spPr>
          <a:xfrm>
            <a:off x="1205025" y="1881367"/>
            <a:ext cx="10532533" cy="4371094"/>
          </a:xfrm>
        </p:spPr>
        <p:txBody>
          <a:bodyPr/>
          <a:lstStyle/>
          <a:p>
            <a:r>
              <a:rPr lang="en-US" dirty="0"/>
              <a:t>Minimal effort required</a:t>
            </a:r>
          </a:p>
          <a:p>
            <a:pPr lvl="1"/>
            <a:r>
              <a:rPr lang="en-US" dirty="0"/>
              <a:t>Same interface as single mongod</a:t>
            </a:r>
          </a:p>
          <a:p>
            <a:r>
              <a:rPr lang="en-US" dirty="0"/>
              <a:t>Two steps</a:t>
            </a:r>
          </a:p>
          <a:p>
            <a:pPr lvl="1"/>
            <a:r>
              <a:rPr lang="en-US" dirty="0"/>
              <a:t>Enable Sharding for a database</a:t>
            </a:r>
          </a:p>
          <a:p>
            <a:pPr lvl="1"/>
            <a:r>
              <a:rPr lang="en-US" dirty="0"/>
              <a:t>Shard collection within database</a:t>
            </a:r>
          </a:p>
        </p:txBody>
      </p:sp>
    </p:spTree>
    <p:extLst>
      <p:ext uri="{BB962C8B-B14F-4D97-AF65-F5344CB8AC3E}">
        <p14:creationId xmlns:p14="http://schemas.microsoft.com/office/powerpoint/2010/main" val="3341564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5802" y="1047665"/>
            <a:ext cx="10531939" cy="851683"/>
          </a:xfrm>
        </p:spPr>
        <p:txBody>
          <a:bodyPr/>
          <a:lstStyle/>
          <a:p>
            <a:r>
              <a:rPr lang="en-US" dirty="0"/>
              <a:t>What is a Shard?</a:t>
            </a:r>
          </a:p>
        </p:txBody>
      </p:sp>
      <p:sp>
        <p:nvSpPr>
          <p:cNvPr id="4" name="Text Placeholder 3"/>
          <p:cNvSpPr>
            <a:spLocks noGrp="1"/>
          </p:cNvSpPr>
          <p:nvPr>
            <p:ph type="body" sz="quarter" idx="11"/>
          </p:nvPr>
        </p:nvSpPr>
        <p:spPr>
          <a:xfrm>
            <a:off x="1175208" y="1899348"/>
            <a:ext cx="10532533" cy="4371094"/>
          </a:xfrm>
        </p:spPr>
        <p:txBody>
          <a:bodyPr/>
          <a:lstStyle/>
          <a:p>
            <a:r>
              <a:rPr lang="en-US" dirty="0">
                <a:latin typeface="+mn-lt"/>
                <a:cs typeface="Source Code Pro"/>
              </a:rPr>
              <a:t>Shard is a node of the cluster</a:t>
            </a:r>
          </a:p>
          <a:p>
            <a:r>
              <a:rPr lang="en-US" dirty="0">
                <a:latin typeface="+mn-lt"/>
                <a:cs typeface="Source Code Pro"/>
              </a:rPr>
              <a:t>Shard </a:t>
            </a:r>
            <a:r>
              <a:rPr lang="en-US" sz="2600" dirty="0"/>
              <a:t>can be a single </a:t>
            </a:r>
            <a:r>
              <a:rPr lang="en-US" sz="2600" dirty="0" err="1">
                <a:latin typeface="Courier"/>
                <a:cs typeface="Courier"/>
              </a:rPr>
              <a:t>mongod</a:t>
            </a:r>
            <a:r>
              <a:rPr lang="en-US" sz="2600" dirty="0"/>
              <a:t> or a replica set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3515" y="3025078"/>
            <a:ext cx="6615158" cy="2690375"/>
          </a:xfrm>
          <a:prstGeom prst="rect">
            <a:avLst/>
          </a:prstGeom>
        </p:spPr>
      </p:pic>
    </p:spTree>
    <p:extLst>
      <p:ext uri="{BB962C8B-B14F-4D97-AF65-F5344CB8AC3E}">
        <p14:creationId xmlns:p14="http://schemas.microsoft.com/office/powerpoint/2010/main" val="1468547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85740" y="1081577"/>
            <a:ext cx="10531939" cy="851683"/>
          </a:xfrm>
        </p:spPr>
        <p:txBody>
          <a:bodyPr/>
          <a:lstStyle/>
          <a:p>
            <a:r>
              <a:rPr lang="en-US" dirty="0"/>
              <a:t>Meta Data Storage</a:t>
            </a:r>
          </a:p>
        </p:txBody>
      </p:sp>
      <p:sp>
        <p:nvSpPr>
          <p:cNvPr id="4" name="Text Placeholder 3"/>
          <p:cNvSpPr>
            <a:spLocks noGrp="1"/>
          </p:cNvSpPr>
          <p:nvPr>
            <p:ph type="body" sz="quarter" idx="11"/>
          </p:nvPr>
        </p:nvSpPr>
        <p:spPr>
          <a:xfrm>
            <a:off x="1185146" y="1933260"/>
            <a:ext cx="10532533" cy="4371094"/>
          </a:xfrm>
        </p:spPr>
        <p:txBody>
          <a:bodyPr/>
          <a:lstStyle/>
          <a:p>
            <a:r>
              <a:rPr lang="en-US" dirty="0"/>
              <a:t>Config Server</a:t>
            </a:r>
          </a:p>
          <a:p>
            <a:pPr lvl="1"/>
            <a:r>
              <a:rPr lang="en-US" sz="2600" dirty="0"/>
              <a:t>Stores cluster chunk ranges and locations</a:t>
            </a:r>
          </a:p>
          <a:p>
            <a:pPr lvl="1"/>
            <a:r>
              <a:rPr lang="en-US" sz="2600" dirty="0"/>
              <a:t>Can have only 1 or 3 (production must have 3)</a:t>
            </a:r>
          </a:p>
          <a:p>
            <a:pPr lvl="1"/>
            <a:r>
              <a:rPr lang="en-US" sz="2600" dirty="0"/>
              <a:t>Not a replica set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3712" y="3333990"/>
            <a:ext cx="6586680" cy="2678793"/>
          </a:xfrm>
          <a:prstGeom prst="rect">
            <a:avLst/>
          </a:prstGeom>
        </p:spPr>
      </p:pic>
    </p:spTree>
    <p:extLst>
      <p:ext uri="{BB962C8B-B14F-4D97-AF65-F5344CB8AC3E}">
        <p14:creationId xmlns:p14="http://schemas.microsoft.com/office/powerpoint/2010/main" val="1523604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05618" y="1059502"/>
            <a:ext cx="10531939" cy="851683"/>
          </a:xfrm>
        </p:spPr>
        <p:txBody>
          <a:bodyPr/>
          <a:lstStyle/>
          <a:p>
            <a:r>
              <a:rPr lang="en-US" dirty="0"/>
              <a:t>Routing and Managing Data</a:t>
            </a:r>
          </a:p>
        </p:txBody>
      </p:sp>
      <p:sp>
        <p:nvSpPr>
          <p:cNvPr id="4" name="Text Placeholder 3"/>
          <p:cNvSpPr>
            <a:spLocks noGrp="1"/>
          </p:cNvSpPr>
          <p:nvPr>
            <p:ph type="body" sz="quarter" idx="11"/>
          </p:nvPr>
        </p:nvSpPr>
        <p:spPr>
          <a:xfrm>
            <a:off x="997226" y="1923996"/>
            <a:ext cx="10532533" cy="4371094"/>
          </a:xfrm>
        </p:spPr>
        <p:txBody>
          <a:bodyPr/>
          <a:lstStyle/>
          <a:p>
            <a:r>
              <a:rPr lang="en-US" dirty="0">
                <a:latin typeface="Source Code Pro"/>
                <a:cs typeface="Source Code Pro"/>
              </a:rPr>
              <a:t>Mongos</a:t>
            </a:r>
          </a:p>
          <a:p>
            <a:pPr lvl="1"/>
            <a:r>
              <a:rPr lang="en-US" sz="2600" dirty="0"/>
              <a:t>Acts as a router / balancer</a:t>
            </a:r>
          </a:p>
          <a:p>
            <a:pPr lvl="1"/>
            <a:r>
              <a:rPr lang="en-US" sz="2600" dirty="0"/>
              <a:t>No local data (persists to </a:t>
            </a:r>
            <a:r>
              <a:rPr lang="en-US" sz="2600" dirty="0" err="1"/>
              <a:t>config</a:t>
            </a:r>
            <a:r>
              <a:rPr lang="en-US" sz="2600" dirty="0"/>
              <a:t> database)</a:t>
            </a:r>
          </a:p>
          <a:p>
            <a:pPr lvl="1"/>
            <a:r>
              <a:rPr lang="en-US" sz="2600" dirty="0"/>
              <a:t>Can have 1 or many</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095" y="3304172"/>
            <a:ext cx="6586679" cy="2678793"/>
          </a:xfrm>
          <a:prstGeom prst="rect">
            <a:avLst/>
          </a:prstGeom>
        </p:spPr>
      </p:pic>
    </p:spTree>
    <p:extLst>
      <p:ext uri="{BB962C8B-B14F-4D97-AF65-F5344CB8AC3E}">
        <p14:creationId xmlns:p14="http://schemas.microsoft.com/office/powerpoint/2010/main" val="175320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sharding_arch_S4.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5" name="Title 4"/>
          <p:cNvSpPr>
            <a:spLocks noGrp="1"/>
          </p:cNvSpPr>
          <p:nvPr>
            <p:ph type="title"/>
          </p:nvPr>
        </p:nvSpPr>
        <p:spPr/>
        <p:txBody>
          <a:bodyPr/>
          <a:lstStyle/>
          <a:p>
            <a:r>
              <a:rPr lang="en-US" dirty="0"/>
              <a:t>Sharding infrastructure</a:t>
            </a:r>
          </a:p>
        </p:txBody>
      </p:sp>
    </p:spTree>
    <p:extLst>
      <p:ext uri="{BB962C8B-B14F-4D97-AF65-F5344CB8AC3E}">
        <p14:creationId xmlns:p14="http://schemas.microsoft.com/office/powerpoint/2010/main" val="3618646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mongodb architecture">
            <a:extLst>
              <a:ext uri="{FF2B5EF4-FFF2-40B4-BE49-F238E27FC236}">
                <a16:creationId xmlns:a16="http://schemas.microsoft.com/office/drawing/2014/main" id="{4FB98454-D7EF-804E-AC21-EBEE9A913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3974"/>
            <a:ext cx="9144000" cy="5824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B2E3B7-B994-5940-9B3A-AF196C929CE3}"/>
              </a:ext>
            </a:extLst>
          </p:cNvPr>
          <p:cNvSpPr txBox="1"/>
          <p:nvPr/>
        </p:nvSpPr>
        <p:spPr>
          <a:xfrm>
            <a:off x="278296" y="3190461"/>
            <a:ext cx="1278748" cy="369332"/>
          </a:xfrm>
          <a:prstGeom prst="rect">
            <a:avLst/>
          </a:prstGeom>
          <a:noFill/>
        </p:spPr>
        <p:txBody>
          <a:bodyPr wrap="none" rtlCol="0">
            <a:spAutoFit/>
          </a:bodyPr>
          <a:lstStyle/>
          <a:p>
            <a:r>
              <a:rPr lang="en-US" dirty="0"/>
              <a:t>Replica sets</a:t>
            </a:r>
          </a:p>
        </p:txBody>
      </p:sp>
    </p:spTree>
    <p:extLst>
      <p:ext uri="{BB962C8B-B14F-4D97-AF65-F5344CB8AC3E}">
        <p14:creationId xmlns:p14="http://schemas.microsoft.com/office/powerpoint/2010/main" val="686218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95680" y="1081577"/>
            <a:ext cx="10531939" cy="851683"/>
          </a:xfrm>
        </p:spPr>
        <p:txBody>
          <a:bodyPr/>
          <a:lstStyle/>
          <a:p>
            <a:r>
              <a:rPr lang="en-US" dirty="0"/>
              <a:t>Partitioning</a:t>
            </a:r>
          </a:p>
        </p:txBody>
      </p:sp>
      <p:sp>
        <p:nvSpPr>
          <p:cNvPr id="4" name="Text Placeholder 3"/>
          <p:cNvSpPr>
            <a:spLocks noGrp="1"/>
          </p:cNvSpPr>
          <p:nvPr>
            <p:ph type="body" sz="quarter" idx="11"/>
          </p:nvPr>
        </p:nvSpPr>
        <p:spPr>
          <a:xfrm>
            <a:off x="1195680" y="1933260"/>
            <a:ext cx="10532533" cy="4371094"/>
          </a:xfrm>
        </p:spPr>
        <p:txBody>
          <a:bodyPr/>
          <a:lstStyle/>
          <a:p>
            <a:r>
              <a:rPr lang="en-US" dirty="0"/>
              <a:t>Remember partitioning is based on ranges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5609" y="2795871"/>
            <a:ext cx="7905749" cy="1437408"/>
          </a:xfrm>
          <a:prstGeom prst="rect">
            <a:avLst/>
          </a:prstGeom>
        </p:spPr>
      </p:pic>
    </p:spTree>
    <p:extLst>
      <p:ext uri="{BB962C8B-B14F-4D97-AF65-F5344CB8AC3E}">
        <p14:creationId xmlns:p14="http://schemas.microsoft.com/office/powerpoint/2010/main" val="2968433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partitioning_S2.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3" name="Title 2"/>
          <p:cNvSpPr>
            <a:spLocks noGrp="1"/>
          </p:cNvSpPr>
          <p:nvPr>
            <p:ph type="title"/>
          </p:nvPr>
        </p:nvSpPr>
        <p:spPr/>
        <p:txBody>
          <a:bodyPr/>
          <a:lstStyle/>
          <a:p>
            <a:r>
              <a:rPr lang="en-US" dirty="0"/>
              <a:t>Chunk is a section of the entire range</a:t>
            </a:r>
          </a:p>
        </p:txBody>
      </p:sp>
    </p:spTree>
    <p:extLst>
      <p:ext uri="{BB962C8B-B14F-4D97-AF65-F5344CB8AC3E}">
        <p14:creationId xmlns:p14="http://schemas.microsoft.com/office/powerpoint/2010/main" val="3001788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p:cNvSpPr>
            <a:spLocks noGrp="1"/>
          </p:cNvSpPr>
          <p:nvPr>
            <p:ph sz="quarter" idx="11"/>
          </p:nvPr>
        </p:nvSpPr>
        <p:spPr>
          <a:xfrm>
            <a:off x="2171700" y="4527401"/>
            <a:ext cx="7962900" cy="1458682"/>
          </a:xfrm>
        </p:spPr>
        <p:txBody>
          <a:bodyPr/>
          <a:lstStyle/>
          <a:p>
            <a:r>
              <a:rPr lang="en-US" dirty="0"/>
              <a:t>A chunk is split once it exceeds the maximum size</a:t>
            </a:r>
          </a:p>
          <a:p>
            <a:r>
              <a:rPr lang="en-US" dirty="0"/>
              <a:t>There is no split point if all documents have the same shard key</a:t>
            </a:r>
          </a:p>
          <a:p>
            <a:r>
              <a:rPr lang="en-US" dirty="0"/>
              <a:t>Chunk split is a logical operation (no data is moved)</a:t>
            </a:r>
          </a:p>
        </p:txBody>
      </p:sp>
      <p:sp>
        <p:nvSpPr>
          <p:cNvPr id="9" name="Title 8"/>
          <p:cNvSpPr>
            <a:spLocks noGrp="1"/>
          </p:cNvSpPr>
          <p:nvPr>
            <p:ph type="title"/>
          </p:nvPr>
        </p:nvSpPr>
        <p:spPr>
          <a:xfrm>
            <a:off x="1205619" y="1087213"/>
            <a:ext cx="10531939" cy="851683"/>
          </a:xfrm>
        </p:spPr>
        <p:txBody>
          <a:bodyPr/>
          <a:lstStyle/>
          <a:p>
            <a:r>
              <a:rPr lang="en-US" dirty="0"/>
              <a:t>Chunk splitting</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7289"/>
          <a:stretch/>
        </p:blipFill>
        <p:spPr>
          <a:xfrm>
            <a:off x="2171700" y="2204271"/>
            <a:ext cx="7962900" cy="2057755"/>
          </a:xfrm>
          <a:prstGeom prst="rect">
            <a:avLst/>
          </a:prstGeom>
        </p:spPr>
      </p:pic>
    </p:spTree>
    <p:extLst>
      <p:ext uri="{BB962C8B-B14F-4D97-AF65-F5344CB8AC3E}">
        <p14:creationId xmlns:p14="http://schemas.microsoft.com/office/powerpoint/2010/main" val="26599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p:cNvSpPr>
            <a:spLocks noGrp="1"/>
          </p:cNvSpPr>
          <p:nvPr>
            <p:ph sz="quarter" idx="11"/>
          </p:nvPr>
        </p:nvSpPr>
        <p:spPr>
          <a:xfrm>
            <a:off x="2157520" y="4816986"/>
            <a:ext cx="7899400" cy="1285641"/>
          </a:xfrm>
        </p:spPr>
        <p:txBody>
          <a:bodyPr>
            <a:normAutofit/>
          </a:bodyPr>
          <a:lstStyle/>
          <a:p>
            <a:pPr marL="91440">
              <a:lnSpc>
                <a:spcPct val="100000"/>
              </a:lnSpc>
            </a:pPr>
            <a:r>
              <a:rPr lang="en-US" dirty="0"/>
              <a:t>Balancer is running on </a:t>
            </a:r>
            <a:r>
              <a:rPr lang="en-US" dirty="0">
                <a:latin typeface="Courier"/>
                <a:cs typeface="Courier"/>
              </a:rPr>
              <a:t>mongos</a:t>
            </a:r>
          </a:p>
          <a:p>
            <a:pPr>
              <a:lnSpc>
                <a:spcPct val="100000"/>
              </a:lnSpc>
            </a:pPr>
            <a:r>
              <a:rPr lang="en-US" dirty="0"/>
              <a:t>Once the difference in chunks between the most dense shard and the least dense shard is above the migration threshold, a balancing round starts</a:t>
            </a:r>
          </a:p>
        </p:txBody>
      </p:sp>
      <p:sp>
        <p:nvSpPr>
          <p:cNvPr id="9" name="Title 8"/>
          <p:cNvSpPr>
            <a:spLocks noGrp="1"/>
          </p:cNvSpPr>
          <p:nvPr>
            <p:ph type="title"/>
          </p:nvPr>
        </p:nvSpPr>
        <p:spPr>
          <a:xfrm>
            <a:off x="1205619" y="1055410"/>
            <a:ext cx="10531939" cy="851683"/>
          </a:xfrm>
        </p:spPr>
        <p:txBody>
          <a:bodyPr/>
          <a:lstStyle/>
          <a:p>
            <a:r>
              <a:rPr lang="en-US" dirty="0"/>
              <a:t>Balancing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0533" y="1959148"/>
            <a:ext cx="6770933" cy="2753729"/>
          </a:xfrm>
          <a:prstGeom prst="rect">
            <a:avLst/>
          </a:prstGeom>
        </p:spPr>
      </p:pic>
    </p:spTree>
    <p:extLst>
      <p:ext uri="{BB962C8B-B14F-4D97-AF65-F5344CB8AC3E}">
        <p14:creationId xmlns:p14="http://schemas.microsoft.com/office/powerpoint/2010/main" val="3848008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sz="quarter" idx="11"/>
          </p:nvPr>
        </p:nvSpPr>
        <p:spPr>
          <a:xfrm>
            <a:off x="2146300" y="4489663"/>
            <a:ext cx="7899400" cy="1593754"/>
          </a:xfrm>
        </p:spPr>
        <p:txBody>
          <a:bodyPr>
            <a:normAutofit/>
          </a:bodyPr>
          <a:lstStyle/>
          <a:p>
            <a:pPr marL="91440">
              <a:lnSpc>
                <a:spcPct val="100000"/>
              </a:lnSpc>
            </a:pPr>
            <a:r>
              <a:rPr lang="en-US" dirty="0"/>
              <a:t>The balancer on mongos takes out a “balancer lock”</a:t>
            </a:r>
          </a:p>
          <a:p>
            <a:pPr>
              <a:lnSpc>
                <a:spcPct val="100000"/>
              </a:lnSpc>
            </a:pPr>
            <a:r>
              <a:rPr lang="en-US" dirty="0"/>
              <a:t>To see the status of these locks:</a:t>
            </a:r>
          </a:p>
          <a:p>
            <a:pPr marL="484632" lvl="1" indent="0">
              <a:buNone/>
            </a:pPr>
            <a:r>
              <a:rPr lang="en-US" dirty="0">
                <a:latin typeface="Courier"/>
                <a:cs typeface="Courier"/>
              </a:rPr>
              <a:t>use </a:t>
            </a:r>
            <a:r>
              <a:rPr lang="en-US" dirty="0" err="1">
                <a:latin typeface="Courier"/>
                <a:cs typeface="Courier"/>
              </a:rPr>
              <a:t>config</a:t>
            </a:r>
            <a:endParaRPr lang="en-US" dirty="0">
              <a:latin typeface="Courier"/>
              <a:cs typeface="Courier"/>
            </a:endParaRPr>
          </a:p>
          <a:p>
            <a:pPr marL="484632" lvl="1" indent="0">
              <a:buNone/>
            </a:pPr>
            <a:r>
              <a:rPr lang="en-US" dirty="0" err="1">
                <a:latin typeface="Courier"/>
                <a:cs typeface="Courier"/>
              </a:rPr>
              <a:t>db.locks.find</a:t>
            </a:r>
            <a:r>
              <a:rPr lang="en-US" dirty="0">
                <a:latin typeface="Courier"/>
                <a:cs typeface="Courier"/>
              </a:rPr>
              <a:t>({ _id: “balancer” })</a:t>
            </a:r>
          </a:p>
        </p:txBody>
      </p:sp>
      <p:sp>
        <p:nvSpPr>
          <p:cNvPr id="9" name="Title 8"/>
          <p:cNvSpPr>
            <a:spLocks noGrp="1"/>
          </p:cNvSpPr>
          <p:nvPr>
            <p:ph type="title"/>
          </p:nvPr>
        </p:nvSpPr>
        <p:spPr>
          <a:xfrm>
            <a:off x="1205619" y="1071637"/>
            <a:ext cx="10531939" cy="851683"/>
          </a:xfrm>
        </p:spPr>
        <p:txBody>
          <a:bodyPr/>
          <a:lstStyle/>
          <a:p>
            <a:r>
              <a:rPr lang="en-US" dirty="0"/>
              <a:t>Acquiring the Balancer Lock</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4397" y="1805268"/>
            <a:ext cx="6403206" cy="2604175"/>
          </a:xfrm>
          <a:prstGeom prst="rect">
            <a:avLst/>
          </a:prstGeom>
        </p:spPr>
      </p:pic>
    </p:spTree>
    <p:extLst>
      <p:ext uri="{BB962C8B-B14F-4D97-AF65-F5344CB8AC3E}">
        <p14:creationId xmlns:p14="http://schemas.microsoft.com/office/powerpoint/2010/main" val="1698484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sz="quarter" idx="11"/>
          </p:nvPr>
        </p:nvSpPr>
        <p:spPr>
          <a:xfrm>
            <a:off x="2154140" y="4660745"/>
            <a:ext cx="7899400" cy="1365154"/>
          </a:xfrm>
        </p:spPr>
        <p:txBody>
          <a:bodyPr>
            <a:normAutofit/>
          </a:bodyPr>
          <a:lstStyle/>
          <a:p>
            <a:pPr marL="91440">
              <a:lnSpc>
                <a:spcPct val="100000"/>
              </a:lnSpc>
            </a:pPr>
            <a:r>
              <a:rPr lang="en-US" dirty="0"/>
              <a:t>The mongos sends a </a:t>
            </a:r>
            <a:r>
              <a:rPr lang="en-US" dirty="0" err="1">
                <a:latin typeface="Courier"/>
                <a:cs typeface="Courier"/>
              </a:rPr>
              <a:t>moveChunk</a:t>
            </a:r>
            <a:r>
              <a:rPr lang="en-US" dirty="0"/>
              <a:t> command to source shard</a:t>
            </a:r>
          </a:p>
          <a:p>
            <a:pPr>
              <a:lnSpc>
                <a:spcPct val="100000"/>
              </a:lnSpc>
            </a:pPr>
            <a:r>
              <a:rPr lang="en-US" dirty="0"/>
              <a:t>The source shard then notifies destination shard</a:t>
            </a:r>
          </a:p>
          <a:p>
            <a:pPr>
              <a:lnSpc>
                <a:spcPct val="100000"/>
              </a:lnSpc>
            </a:pPr>
            <a:r>
              <a:rPr lang="en-US" dirty="0"/>
              <a:t>Destination shard starts pulling documents from source shard</a:t>
            </a:r>
          </a:p>
        </p:txBody>
      </p:sp>
      <p:sp>
        <p:nvSpPr>
          <p:cNvPr id="5" name="Title 4"/>
          <p:cNvSpPr>
            <a:spLocks noGrp="1"/>
          </p:cNvSpPr>
          <p:nvPr>
            <p:ph type="title"/>
          </p:nvPr>
        </p:nvSpPr>
        <p:spPr>
          <a:xfrm>
            <a:off x="1195679" y="1054545"/>
            <a:ext cx="10531939" cy="851683"/>
          </a:xfrm>
        </p:spPr>
        <p:txBody>
          <a:bodyPr>
            <a:normAutofit/>
          </a:bodyPr>
          <a:lstStyle/>
          <a:p>
            <a:r>
              <a:rPr lang="en-US" dirty="0"/>
              <a:t>Moving the chunk</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9620" y="1906228"/>
            <a:ext cx="6472759" cy="2632462"/>
          </a:xfrm>
          <a:prstGeom prst="rect">
            <a:avLst/>
          </a:prstGeom>
        </p:spPr>
      </p:pic>
    </p:spTree>
    <p:extLst>
      <p:ext uri="{BB962C8B-B14F-4D97-AF65-F5344CB8AC3E}">
        <p14:creationId xmlns:p14="http://schemas.microsoft.com/office/powerpoint/2010/main" val="1729789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sz="quarter" idx="11"/>
          </p:nvPr>
        </p:nvSpPr>
        <p:spPr>
          <a:xfrm>
            <a:off x="2146300" y="5134990"/>
            <a:ext cx="7899400" cy="851683"/>
          </a:xfrm>
        </p:spPr>
        <p:txBody>
          <a:bodyPr>
            <a:normAutofit/>
          </a:bodyPr>
          <a:lstStyle/>
          <a:p>
            <a:pPr>
              <a:lnSpc>
                <a:spcPct val="120000"/>
              </a:lnSpc>
            </a:pPr>
            <a:r>
              <a:rPr lang="en-US" dirty="0"/>
              <a:t>When complete, destination shard updates </a:t>
            </a:r>
            <a:r>
              <a:rPr lang="en-US" dirty="0" err="1"/>
              <a:t>config</a:t>
            </a:r>
            <a:r>
              <a:rPr lang="en-US" dirty="0"/>
              <a:t> server</a:t>
            </a:r>
          </a:p>
          <a:p>
            <a:pPr lvl="1">
              <a:lnSpc>
                <a:spcPct val="120000"/>
              </a:lnSpc>
            </a:pPr>
            <a:r>
              <a:rPr lang="en-US" dirty="0"/>
              <a:t>Provides new locations of the chunks</a:t>
            </a:r>
          </a:p>
        </p:txBody>
      </p:sp>
      <p:sp>
        <p:nvSpPr>
          <p:cNvPr id="5" name="Title 4"/>
          <p:cNvSpPr>
            <a:spLocks noGrp="1"/>
          </p:cNvSpPr>
          <p:nvPr>
            <p:ph type="title"/>
          </p:nvPr>
        </p:nvSpPr>
        <p:spPr>
          <a:xfrm>
            <a:off x="1195679" y="1081577"/>
            <a:ext cx="10531939" cy="851683"/>
          </a:xfrm>
        </p:spPr>
        <p:txBody>
          <a:bodyPr/>
          <a:lstStyle/>
          <a:p>
            <a:r>
              <a:rPr lang="en-US" dirty="0"/>
              <a:t>Committing Migration</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4711" y="2066537"/>
            <a:ext cx="6502577" cy="2644589"/>
          </a:xfrm>
          <a:prstGeom prst="rect">
            <a:avLst/>
          </a:prstGeom>
        </p:spPr>
      </p:pic>
    </p:spTree>
    <p:extLst>
      <p:ext uri="{BB962C8B-B14F-4D97-AF65-F5344CB8AC3E}">
        <p14:creationId xmlns:p14="http://schemas.microsoft.com/office/powerpoint/2010/main" val="1591523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sz="quarter" idx="11"/>
          </p:nvPr>
        </p:nvSpPr>
        <p:spPr>
          <a:xfrm>
            <a:off x="2146300" y="4568508"/>
            <a:ext cx="7899400" cy="1544057"/>
          </a:xfrm>
        </p:spPr>
        <p:txBody>
          <a:bodyPr>
            <a:normAutofit/>
          </a:bodyPr>
          <a:lstStyle/>
          <a:p>
            <a:pPr>
              <a:lnSpc>
                <a:spcPct val="100000"/>
              </a:lnSpc>
            </a:pPr>
            <a:r>
              <a:rPr lang="en-US" dirty="0"/>
              <a:t>Source shard deletes moved data</a:t>
            </a:r>
          </a:p>
          <a:p>
            <a:pPr lvl="1"/>
            <a:r>
              <a:rPr lang="en-US" dirty="0"/>
              <a:t>Must wait for open cursors to either close or time out</a:t>
            </a:r>
          </a:p>
          <a:p>
            <a:pPr lvl="1"/>
            <a:r>
              <a:rPr lang="en-US" dirty="0" err="1">
                <a:latin typeface="Courier"/>
                <a:cs typeface="Courier"/>
              </a:rPr>
              <a:t>NoTimeout</a:t>
            </a:r>
            <a:r>
              <a:rPr lang="en-US" dirty="0"/>
              <a:t> cursors may prevent the release of the lock</a:t>
            </a:r>
          </a:p>
          <a:p>
            <a:pPr>
              <a:lnSpc>
                <a:spcPct val="100000"/>
              </a:lnSpc>
            </a:pPr>
            <a:r>
              <a:rPr lang="en-US" dirty="0"/>
              <a:t>The </a:t>
            </a:r>
            <a:r>
              <a:rPr lang="en-US" dirty="0">
                <a:latin typeface="Courier"/>
                <a:cs typeface="Courier"/>
              </a:rPr>
              <a:t>mongos</a:t>
            </a:r>
            <a:r>
              <a:rPr lang="en-US" dirty="0"/>
              <a:t> releases the balancer lock after old chunks are deleted</a:t>
            </a:r>
          </a:p>
        </p:txBody>
      </p:sp>
      <p:sp>
        <p:nvSpPr>
          <p:cNvPr id="5" name="Title 4"/>
          <p:cNvSpPr>
            <a:spLocks noGrp="1"/>
          </p:cNvSpPr>
          <p:nvPr>
            <p:ph type="title"/>
          </p:nvPr>
        </p:nvSpPr>
        <p:spPr/>
        <p:txBody>
          <a:bodyPr/>
          <a:lstStyle/>
          <a:p>
            <a:r>
              <a:rPr lang="en-US" dirty="0"/>
              <a:t>Cleanup</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6623" y="1848679"/>
            <a:ext cx="6418754" cy="2610498"/>
          </a:xfrm>
          <a:prstGeom prst="rect">
            <a:avLst/>
          </a:prstGeom>
        </p:spPr>
      </p:pic>
    </p:spTree>
    <p:extLst>
      <p:ext uri="{BB962C8B-B14F-4D97-AF65-F5344CB8AC3E}">
        <p14:creationId xmlns:p14="http://schemas.microsoft.com/office/powerpoint/2010/main" val="2601350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36968" y="1069440"/>
            <a:ext cx="10531939" cy="851683"/>
          </a:xfrm>
        </p:spPr>
        <p:txBody>
          <a:bodyPr/>
          <a:lstStyle/>
          <a:p>
            <a:r>
              <a:rPr lang="en-US" dirty="0"/>
              <a:t>Cluster Request Routing</a:t>
            </a:r>
          </a:p>
        </p:txBody>
      </p:sp>
      <p:sp>
        <p:nvSpPr>
          <p:cNvPr id="7" name="Text Placeholder 6"/>
          <p:cNvSpPr>
            <a:spLocks noGrp="1"/>
          </p:cNvSpPr>
          <p:nvPr>
            <p:ph type="body" sz="quarter" idx="11"/>
          </p:nvPr>
        </p:nvSpPr>
        <p:spPr>
          <a:xfrm>
            <a:off x="1136374" y="1921123"/>
            <a:ext cx="10532533" cy="4371094"/>
          </a:xfrm>
        </p:spPr>
        <p:txBody>
          <a:bodyPr/>
          <a:lstStyle/>
          <a:p>
            <a:r>
              <a:rPr lang="en-US" dirty="0"/>
              <a:t>Targeted Queries</a:t>
            </a:r>
          </a:p>
          <a:p>
            <a:r>
              <a:rPr lang="en-US" dirty="0"/>
              <a:t>Scatter Gather Queries</a:t>
            </a:r>
          </a:p>
          <a:p>
            <a:r>
              <a:rPr lang="en-US" dirty="0"/>
              <a:t>Scatter Gather Queries with Sort</a:t>
            </a:r>
          </a:p>
          <a:p>
            <a:endParaRPr lang="en-US" dirty="0"/>
          </a:p>
        </p:txBody>
      </p:sp>
    </p:spTree>
    <p:extLst>
      <p:ext uri="{BB962C8B-B14F-4D97-AF65-F5344CB8AC3E}">
        <p14:creationId xmlns:p14="http://schemas.microsoft.com/office/powerpoint/2010/main" val="1973856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sharding_routed_S1.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normAutofit/>
          </a:bodyPr>
          <a:lstStyle/>
          <a:p>
            <a:r>
              <a:rPr lang="en-US" dirty="0"/>
              <a:t>Cluster Request Routing: Targeted Query</a:t>
            </a:r>
          </a:p>
        </p:txBody>
      </p:sp>
    </p:spTree>
    <p:extLst>
      <p:ext uri="{BB962C8B-B14F-4D97-AF65-F5344CB8AC3E}">
        <p14:creationId xmlns:p14="http://schemas.microsoft.com/office/powerpoint/2010/main" val="2291028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sharding_routed_S2.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Routable request received</a:t>
            </a:r>
          </a:p>
        </p:txBody>
      </p:sp>
    </p:spTree>
    <p:extLst>
      <p:ext uri="{BB962C8B-B14F-4D97-AF65-F5344CB8AC3E}">
        <p14:creationId xmlns:p14="http://schemas.microsoft.com/office/powerpoint/2010/main" val="1240516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harding_routed_S3.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normAutofit/>
          </a:bodyPr>
          <a:lstStyle/>
          <a:p>
            <a:r>
              <a:rPr lang="en-US" dirty="0"/>
              <a:t>Request routed to appropriate shard</a:t>
            </a:r>
          </a:p>
        </p:txBody>
      </p:sp>
    </p:spTree>
    <p:extLst>
      <p:ext uri="{BB962C8B-B14F-4D97-AF65-F5344CB8AC3E}">
        <p14:creationId xmlns:p14="http://schemas.microsoft.com/office/powerpoint/2010/main" val="2784752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harding_routed_S4.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Shard returns results</a:t>
            </a:r>
          </a:p>
        </p:txBody>
      </p:sp>
    </p:spTree>
    <p:extLst>
      <p:ext uri="{BB962C8B-B14F-4D97-AF65-F5344CB8AC3E}">
        <p14:creationId xmlns:p14="http://schemas.microsoft.com/office/powerpoint/2010/main" val="3507514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sharding_routed_S5.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Mongos returns results to client</a:t>
            </a:r>
          </a:p>
        </p:txBody>
      </p:sp>
    </p:spTree>
    <p:extLst>
      <p:ext uri="{BB962C8B-B14F-4D97-AF65-F5344CB8AC3E}">
        <p14:creationId xmlns:p14="http://schemas.microsoft.com/office/powerpoint/2010/main" val="2798599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sharding_routed_S1.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normAutofit/>
          </a:bodyPr>
          <a:lstStyle/>
          <a:p>
            <a:r>
              <a:rPr lang="en-US" dirty="0"/>
              <a:t>Cluster Request Routing: Non-Targeted Query</a:t>
            </a:r>
          </a:p>
        </p:txBody>
      </p:sp>
    </p:spTree>
    <p:extLst>
      <p:ext uri="{BB962C8B-B14F-4D97-AF65-F5344CB8AC3E}">
        <p14:creationId xmlns:p14="http://schemas.microsoft.com/office/powerpoint/2010/main" val="2445959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scatter_S1.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Non-Targeted Request Received</a:t>
            </a:r>
          </a:p>
        </p:txBody>
      </p:sp>
    </p:spTree>
    <p:extLst>
      <p:ext uri="{BB962C8B-B14F-4D97-AF65-F5344CB8AC3E}">
        <p14:creationId xmlns:p14="http://schemas.microsoft.com/office/powerpoint/2010/main" val="3734670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harding_scatter_S2.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Request sent to all shards</a:t>
            </a:r>
          </a:p>
        </p:txBody>
      </p:sp>
    </p:spTree>
    <p:extLst>
      <p:ext uri="{BB962C8B-B14F-4D97-AF65-F5344CB8AC3E}">
        <p14:creationId xmlns:p14="http://schemas.microsoft.com/office/powerpoint/2010/main" val="2121653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harding_scatter_S3.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Shards return results to mongos</a:t>
            </a:r>
          </a:p>
        </p:txBody>
      </p:sp>
    </p:spTree>
    <p:extLst>
      <p:ext uri="{BB962C8B-B14F-4D97-AF65-F5344CB8AC3E}">
        <p14:creationId xmlns:p14="http://schemas.microsoft.com/office/powerpoint/2010/main" val="72628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scatter_S4.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Mongos returns results to client</a:t>
            </a:r>
          </a:p>
        </p:txBody>
      </p:sp>
    </p:spTree>
    <p:extLst>
      <p:ext uri="{BB962C8B-B14F-4D97-AF65-F5344CB8AC3E}">
        <p14:creationId xmlns:p14="http://schemas.microsoft.com/office/powerpoint/2010/main" val="2485139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sharding_routed_S1.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normAutofit/>
          </a:bodyPr>
          <a:lstStyle/>
          <a:p>
            <a:r>
              <a:rPr lang="en-US" dirty="0"/>
              <a:t>Cluster Request Routing: Non-Targeted Query with Sort</a:t>
            </a:r>
          </a:p>
        </p:txBody>
      </p:sp>
    </p:spTree>
    <p:extLst>
      <p:ext uri="{BB962C8B-B14F-4D97-AF65-F5344CB8AC3E}">
        <p14:creationId xmlns:p14="http://schemas.microsoft.com/office/powerpoint/2010/main" val="4031290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distributed_S1.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Non-Targeted request with sort received</a:t>
            </a:r>
          </a:p>
        </p:txBody>
      </p:sp>
    </p:spTree>
    <p:extLst>
      <p:ext uri="{BB962C8B-B14F-4D97-AF65-F5344CB8AC3E}">
        <p14:creationId xmlns:p14="http://schemas.microsoft.com/office/powerpoint/2010/main" val="3605558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distributed_S2.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Request sent to all shards</a:t>
            </a:r>
          </a:p>
        </p:txBody>
      </p:sp>
    </p:spTree>
    <p:extLst>
      <p:ext uri="{BB962C8B-B14F-4D97-AF65-F5344CB8AC3E}">
        <p14:creationId xmlns:p14="http://schemas.microsoft.com/office/powerpoint/2010/main" val="610567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distributed_S3.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Query and sort performed locally</a:t>
            </a:r>
          </a:p>
        </p:txBody>
      </p:sp>
    </p:spTree>
    <p:extLst>
      <p:ext uri="{BB962C8B-B14F-4D97-AF65-F5344CB8AC3E}">
        <p14:creationId xmlns:p14="http://schemas.microsoft.com/office/powerpoint/2010/main" val="3594178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harding_distributed_S4.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Shards return results to mongos</a:t>
            </a:r>
          </a:p>
        </p:txBody>
      </p:sp>
    </p:spTree>
    <p:extLst>
      <p:ext uri="{BB962C8B-B14F-4D97-AF65-F5344CB8AC3E}">
        <p14:creationId xmlns:p14="http://schemas.microsoft.com/office/powerpoint/2010/main" val="2700939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rding_distributed_S5.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Mongos merges sorted results</a:t>
            </a:r>
          </a:p>
        </p:txBody>
      </p:sp>
    </p:spTree>
    <p:extLst>
      <p:ext uri="{BB962C8B-B14F-4D97-AF65-F5344CB8AC3E}">
        <p14:creationId xmlns:p14="http://schemas.microsoft.com/office/powerpoint/2010/main" val="441989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harding_distributed_S6.eps"/>
          <p:cNvPicPr>
            <a:picLocks noGrp="1" noChangeAspect="1"/>
          </p:cNvPicPr>
          <p:nvPr>
            <p:ph sz="quarter" idx="11"/>
          </p:nvPr>
        </p:nvPicPr>
        <p:blipFill>
          <a:blip r:embed="rId3">
            <a:extLst>
              <a:ext uri="{28A0092B-C50C-407E-A947-70E740481C1C}">
                <a14:useLocalDpi xmlns:a14="http://schemas.microsoft.com/office/drawing/2010/main" val="0"/>
              </a:ext>
            </a:extLst>
          </a:blip>
          <a:srcRect l="142" r="142"/>
          <a:stretch>
            <a:fillRect/>
          </a:stretch>
        </p:blipFill>
        <p:spPr/>
      </p:pic>
      <p:sp>
        <p:nvSpPr>
          <p:cNvPr id="4" name="Title 3"/>
          <p:cNvSpPr>
            <a:spLocks noGrp="1"/>
          </p:cNvSpPr>
          <p:nvPr>
            <p:ph type="title"/>
          </p:nvPr>
        </p:nvSpPr>
        <p:spPr/>
        <p:txBody>
          <a:bodyPr/>
          <a:lstStyle/>
          <a:p>
            <a:r>
              <a:rPr lang="en-US" dirty="0"/>
              <a:t>Mongos returns results to client</a:t>
            </a:r>
          </a:p>
        </p:txBody>
      </p:sp>
    </p:spTree>
    <p:extLst>
      <p:ext uri="{BB962C8B-B14F-4D97-AF65-F5344CB8AC3E}">
        <p14:creationId xmlns:p14="http://schemas.microsoft.com/office/powerpoint/2010/main" val="3262882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C64-BFB5-9644-8D88-5DDF0C3CCA01}"/>
              </a:ext>
            </a:extLst>
          </p:cNvPr>
          <p:cNvSpPr>
            <a:spLocks noGrp="1"/>
          </p:cNvSpPr>
          <p:nvPr>
            <p:ph type="ctrTitle"/>
          </p:nvPr>
        </p:nvSpPr>
        <p:spPr/>
        <p:txBody>
          <a:bodyPr/>
          <a:lstStyle/>
          <a:p>
            <a:r>
              <a:rPr lang="en-US" dirty="0"/>
              <a:t>Shard Key</a:t>
            </a:r>
          </a:p>
        </p:txBody>
      </p:sp>
      <p:sp>
        <p:nvSpPr>
          <p:cNvPr id="3" name="Subtitle 2">
            <a:extLst>
              <a:ext uri="{FF2B5EF4-FFF2-40B4-BE49-F238E27FC236}">
                <a16:creationId xmlns:a16="http://schemas.microsoft.com/office/drawing/2014/main" id="{5FB29C73-B38F-0744-A9AC-92340221005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48548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85740" y="922550"/>
            <a:ext cx="10531939" cy="851683"/>
          </a:xfrm>
        </p:spPr>
        <p:txBody>
          <a:bodyPr/>
          <a:lstStyle/>
          <a:p>
            <a:r>
              <a:rPr lang="en-US" dirty="0"/>
              <a:t>Shard Key</a:t>
            </a:r>
          </a:p>
        </p:txBody>
      </p:sp>
      <p:sp>
        <p:nvSpPr>
          <p:cNvPr id="4" name="Text Placeholder 3"/>
          <p:cNvSpPr>
            <a:spLocks noGrp="1"/>
          </p:cNvSpPr>
          <p:nvPr>
            <p:ph type="body" sz="quarter" idx="11"/>
          </p:nvPr>
        </p:nvSpPr>
        <p:spPr>
          <a:xfrm>
            <a:off x="1066800" y="1861488"/>
            <a:ext cx="10532533" cy="4371094"/>
          </a:xfrm>
        </p:spPr>
        <p:txBody>
          <a:bodyPr>
            <a:normAutofit fontScale="92500" lnSpcReduction="20000"/>
          </a:bodyPr>
          <a:lstStyle/>
          <a:p>
            <a:r>
              <a:rPr lang="en-US" dirty="0"/>
              <a:t>The choice of shard key affects the creation and distribution of chunks across the available shards. The distribution of data affects the efficiency and performance of operations within the sharded cluster.</a:t>
            </a:r>
          </a:p>
          <a:p>
            <a:r>
              <a:rPr lang="en-US" dirty="0"/>
              <a:t>The ideal shard key allows MongoDB to distribute documents evenly throughout the cluster while also facilitating common query patterns.</a:t>
            </a:r>
          </a:p>
          <a:p>
            <a:r>
              <a:rPr lang="en-US" dirty="0"/>
              <a:t>When you choose your shard key, consider:</a:t>
            </a:r>
          </a:p>
          <a:p>
            <a:pPr lvl="1"/>
            <a:r>
              <a:rPr lang="en-US" dirty="0"/>
              <a:t>the cardinality of the shard key</a:t>
            </a:r>
          </a:p>
          <a:p>
            <a:pPr lvl="1"/>
            <a:r>
              <a:rPr lang="en-US" dirty="0"/>
              <a:t>the frequency with which shard key values occur</a:t>
            </a:r>
          </a:p>
          <a:p>
            <a:pPr lvl="1"/>
            <a:r>
              <a:rPr lang="en-US" dirty="0"/>
              <a:t>whether a potential shard key grows monotonically</a:t>
            </a:r>
          </a:p>
          <a:p>
            <a:r>
              <a:rPr lang="en-US" dirty="0" err="1"/>
              <a:t>Sharding</a:t>
            </a:r>
            <a:r>
              <a:rPr lang="en-US" dirty="0"/>
              <a:t> Query Patterns</a:t>
            </a:r>
          </a:p>
          <a:p>
            <a:r>
              <a:rPr lang="en-US" dirty="0"/>
              <a:t>Shard Key Limitations</a:t>
            </a:r>
          </a:p>
        </p:txBody>
      </p:sp>
    </p:spTree>
    <p:extLst>
      <p:ext uri="{BB962C8B-B14F-4D97-AF65-F5344CB8AC3E}">
        <p14:creationId xmlns:p14="http://schemas.microsoft.com/office/powerpoint/2010/main" val="1234776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349EC5-D49C-C94C-AD66-13FBAA480A88}"/>
              </a:ext>
            </a:extLst>
          </p:cNvPr>
          <p:cNvSpPr>
            <a:spLocks noGrp="1"/>
          </p:cNvSpPr>
          <p:nvPr>
            <p:ph type="title"/>
          </p:nvPr>
        </p:nvSpPr>
        <p:spPr/>
        <p:txBody>
          <a:bodyPr/>
          <a:lstStyle/>
          <a:p>
            <a:r>
              <a:rPr lang="en-US" dirty="0"/>
              <a:t>Shard Key Cardinality</a:t>
            </a:r>
          </a:p>
        </p:txBody>
      </p:sp>
      <p:sp>
        <p:nvSpPr>
          <p:cNvPr id="5" name="Content Placeholder 4">
            <a:extLst>
              <a:ext uri="{FF2B5EF4-FFF2-40B4-BE49-F238E27FC236}">
                <a16:creationId xmlns:a16="http://schemas.microsoft.com/office/drawing/2014/main" id="{DFD444C2-C33C-FC4C-81B7-552961F1CBD4}"/>
              </a:ext>
            </a:extLst>
          </p:cNvPr>
          <p:cNvSpPr>
            <a:spLocks noGrp="1"/>
          </p:cNvSpPr>
          <p:nvPr>
            <p:ph idx="1"/>
          </p:nvPr>
        </p:nvSpPr>
        <p:spPr/>
        <p:txBody>
          <a:bodyPr/>
          <a:lstStyle/>
          <a:p>
            <a:r>
              <a:rPr lang="en-US" dirty="0"/>
              <a:t>The cardinality of a shard key determines the maximum number of chunks the balancer can create. </a:t>
            </a:r>
          </a:p>
          <a:p>
            <a:r>
              <a:rPr lang="en-US" dirty="0"/>
              <a:t>A shard key with low cardinality reduces the effectiveness of horizontal scaling in the cluster.</a:t>
            </a:r>
          </a:p>
        </p:txBody>
      </p:sp>
      <p:pic>
        <p:nvPicPr>
          <p:cNvPr id="13" name="Picture 12" descr="Diagram&#10;&#10;Description automatically generated">
            <a:extLst>
              <a:ext uri="{FF2B5EF4-FFF2-40B4-BE49-F238E27FC236}">
                <a16:creationId xmlns:a16="http://schemas.microsoft.com/office/drawing/2014/main" id="{5E64B7F8-F6DE-7E47-9E54-F08D85F60C92}"/>
              </a:ext>
            </a:extLst>
          </p:cNvPr>
          <p:cNvPicPr>
            <a:picLocks noChangeAspect="1"/>
          </p:cNvPicPr>
          <p:nvPr/>
        </p:nvPicPr>
        <p:blipFill>
          <a:blip r:embed="rId2"/>
          <a:stretch>
            <a:fillRect/>
          </a:stretch>
        </p:blipFill>
        <p:spPr>
          <a:xfrm>
            <a:off x="2728912" y="2949845"/>
            <a:ext cx="6351587" cy="3356236"/>
          </a:xfrm>
          <a:prstGeom prst="rect">
            <a:avLst/>
          </a:prstGeom>
        </p:spPr>
      </p:pic>
    </p:spTree>
    <p:extLst>
      <p:ext uri="{BB962C8B-B14F-4D97-AF65-F5344CB8AC3E}">
        <p14:creationId xmlns:p14="http://schemas.microsoft.com/office/powerpoint/2010/main" val="1003443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1EB06-41A5-B141-B7D0-706E373A33E0}"/>
              </a:ext>
            </a:extLst>
          </p:cNvPr>
          <p:cNvSpPr>
            <a:spLocks noGrp="1"/>
          </p:cNvSpPr>
          <p:nvPr>
            <p:ph type="title"/>
          </p:nvPr>
        </p:nvSpPr>
        <p:spPr/>
        <p:txBody>
          <a:bodyPr/>
          <a:lstStyle/>
          <a:p>
            <a:r>
              <a:rPr lang="en-US" dirty="0"/>
              <a:t>Shard Key Frequency</a:t>
            </a:r>
          </a:p>
        </p:txBody>
      </p:sp>
      <p:sp>
        <p:nvSpPr>
          <p:cNvPr id="3" name="Content Placeholder 2">
            <a:extLst>
              <a:ext uri="{FF2B5EF4-FFF2-40B4-BE49-F238E27FC236}">
                <a16:creationId xmlns:a16="http://schemas.microsoft.com/office/drawing/2014/main" id="{46760173-BBD7-D648-9EB0-2DD76F370D8E}"/>
              </a:ext>
            </a:extLst>
          </p:cNvPr>
          <p:cNvSpPr>
            <a:spLocks noGrp="1"/>
          </p:cNvSpPr>
          <p:nvPr>
            <p:ph idx="1"/>
          </p:nvPr>
        </p:nvSpPr>
        <p:spPr/>
        <p:txBody>
          <a:bodyPr/>
          <a:lstStyle/>
          <a:p>
            <a:r>
              <a:rPr lang="en-US" dirty="0"/>
              <a:t>The frequency of the shard key represents how often a given shard key value occurs in the data.</a:t>
            </a:r>
          </a:p>
          <a:p>
            <a:r>
              <a:rPr lang="en-US" dirty="0"/>
              <a:t>If the majority of documents contain only a subset of the possible shard key values, then the chunks storing the documents with those values can become a bottleneck within the cluster.</a:t>
            </a:r>
          </a:p>
        </p:txBody>
      </p:sp>
      <p:pic>
        <p:nvPicPr>
          <p:cNvPr id="4" name="Picture 3" descr="Diagram&#10;&#10;Description automatically generated">
            <a:extLst>
              <a:ext uri="{FF2B5EF4-FFF2-40B4-BE49-F238E27FC236}">
                <a16:creationId xmlns:a16="http://schemas.microsoft.com/office/drawing/2014/main" id="{4D2E5094-7518-BD4C-B125-0B37A953C225}"/>
              </a:ext>
            </a:extLst>
          </p:cNvPr>
          <p:cNvPicPr>
            <a:picLocks noChangeAspect="1"/>
          </p:cNvPicPr>
          <p:nvPr/>
        </p:nvPicPr>
        <p:blipFill>
          <a:blip r:embed="rId2"/>
          <a:stretch>
            <a:fillRect/>
          </a:stretch>
        </p:blipFill>
        <p:spPr>
          <a:xfrm>
            <a:off x="2917825" y="3018169"/>
            <a:ext cx="6356350" cy="3150855"/>
          </a:xfrm>
          <a:prstGeom prst="rect">
            <a:avLst/>
          </a:prstGeom>
        </p:spPr>
      </p:pic>
    </p:spTree>
    <p:extLst>
      <p:ext uri="{BB962C8B-B14F-4D97-AF65-F5344CB8AC3E}">
        <p14:creationId xmlns:p14="http://schemas.microsoft.com/office/powerpoint/2010/main" val="2956317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0A38-FDA7-9C4E-88B6-D10C9BE0DDFD}"/>
              </a:ext>
            </a:extLst>
          </p:cNvPr>
          <p:cNvSpPr>
            <a:spLocks noGrp="1"/>
          </p:cNvSpPr>
          <p:nvPr>
            <p:ph type="title"/>
          </p:nvPr>
        </p:nvSpPr>
        <p:spPr/>
        <p:txBody>
          <a:bodyPr/>
          <a:lstStyle/>
          <a:p>
            <a:r>
              <a:rPr lang="en-US" dirty="0"/>
              <a:t>Monotonically Changing Shard Keys</a:t>
            </a:r>
          </a:p>
        </p:txBody>
      </p:sp>
      <p:sp>
        <p:nvSpPr>
          <p:cNvPr id="3" name="Content Placeholder 2">
            <a:extLst>
              <a:ext uri="{FF2B5EF4-FFF2-40B4-BE49-F238E27FC236}">
                <a16:creationId xmlns:a16="http://schemas.microsoft.com/office/drawing/2014/main" id="{5D68F6E2-65D1-D245-97A0-29D247A6EE34}"/>
              </a:ext>
            </a:extLst>
          </p:cNvPr>
          <p:cNvSpPr>
            <a:spLocks noGrp="1"/>
          </p:cNvSpPr>
          <p:nvPr>
            <p:ph idx="1"/>
          </p:nvPr>
        </p:nvSpPr>
        <p:spPr/>
        <p:txBody>
          <a:bodyPr/>
          <a:lstStyle/>
          <a:p>
            <a:r>
              <a:rPr lang="en-US" dirty="0"/>
              <a:t>A shard key on a value that increases or decreases monotonically is more likely to distribute inserts to a single chunk within the cluster.</a:t>
            </a:r>
          </a:p>
        </p:txBody>
      </p:sp>
      <p:pic>
        <p:nvPicPr>
          <p:cNvPr id="5" name="Picture 4" descr="Diagram&#10;&#10;Description automatically generated">
            <a:extLst>
              <a:ext uri="{FF2B5EF4-FFF2-40B4-BE49-F238E27FC236}">
                <a16:creationId xmlns:a16="http://schemas.microsoft.com/office/drawing/2014/main" id="{E7E7CBDD-D3F7-A645-A8CA-F1D574FA848E}"/>
              </a:ext>
            </a:extLst>
          </p:cNvPr>
          <p:cNvPicPr>
            <a:picLocks noChangeAspect="1"/>
          </p:cNvPicPr>
          <p:nvPr/>
        </p:nvPicPr>
        <p:blipFill>
          <a:blip r:embed="rId2"/>
          <a:stretch>
            <a:fillRect/>
          </a:stretch>
        </p:blipFill>
        <p:spPr>
          <a:xfrm>
            <a:off x="2393156" y="2460815"/>
            <a:ext cx="7405687" cy="3771709"/>
          </a:xfrm>
          <a:prstGeom prst="rect">
            <a:avLst/>
          </a:prstGeom>
        </p:spPr>
      </p:pic>
    </p:spTree>
    <p:extLst>
      <p:ext uri="{BB962C8B-B14F-4D97-AF65-F5344CB8AC3E}">
        <p14:creationId xmlns:p14="http://schemas.microsoft.com/office/powerpoint/2010/main" val="2159355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Notes to the presenter</a:t>
            </a:r>
          </a:p>
        </p:txBody>
      </p:sp>
      <p:sp>
        <p:nvSpPr>
          <p:cNvPr id="7" name="Text Placeholder 6"/>
          <p:cNvSpPr>
            <a:spLocks noGrp="1"/>
          </p:cNvSpPr>
          <p:nvPr>
            <p:ph type="body" sz="quarter" idx="11"/>
          </p:nvPr>
        </p:nvSpPr>
        <p:spPr/>
        <p:txBody>
          <a:bodyPr/>
          <a:lstStyle/>
          <a:p>
            <a:r>
              <a:rPr lang="en-US" sz="2400" dirty="0"/>
              <a:t>The upcoming section goes into detail about shard key considerations by working through a small example. </a:t>
            </a:r>
            <a:br>
              <a:rPr lang="en-US" sz="2400" dirty="0"/>
            </a:br>
            <a:br>
              <a:rPr lang="en-US" sz="2400" dirty="0"/>
            </a:br>
            <a:r>
              <a:rPr lang="en-US" sz="2400" dirty="0"/>
              <a:t>This is a large deck, and if you’re pressed for time you might opt to skip this. </a:t>
            </a:r>
            <a:br>
              <a:rPr lang="en-US" sz="2400" dirty="0"/>
            </a:br>
            <a:br>
              <a:rPr lang="en-US" sz="2400" dirty="0"/>
            </a:br>
            <a:r>
              <a:rPr lang="en-US" sz="2400" dirty="0"/>
              <a:t>However, if you’re delivering the combined </a:t>
            </a:r>
            <a:r>
              <a:rPr lang="en-US" sz="2400" dirty="0" err="1"/>
              <a:t>sharding</a:t>
            </a:r>
            <a:r>
              <a:rPr lang="en-US" sz="2400" dirty="0"/>
              <a:t> talk (meaning there isn’t an advanced </a:t>
            </a:r>
            <a:r>
              <a:rPr lang="en-US" sz="2400" dirty="0" err="1"/>
              <a:t>sharding</a:t>
            </a:r>
            <a:r>
              <a:rPr lang="en-US" sz="2400" dirty="0"/>
              <a:t> talk accompanying this one) it might be worth diving into this briefly for a few minutes.</a:t>
            </a:r>
          </a:p>
        </p:txBody>
      </p:sp>
    </p:spTree>
    <p:extLst>
      <p:ext uri="{BB962C8B-B14F-4D97-AF65-F5344CB8AC3E}">
        <p14:creationId xmlns:p14="http://schemas.microsoft.com/office/powerpoint/2010/main" val="1566946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100000"/>
              </a:lnSpc>
            </a:pPr>
            <a:r>
              <a:rPr lang="en-US" b="0" dirty="0">
                <a:solidFill>
                  <a:srgbClr val="FFFFFF"/>
                </a:solidFill>
                <a:ea typeface="ＭＳ Ｐゴシック" charset="0"/>
                <a:cs typeface="Gill Sans" charset="0"/>
              </a:rPr>
              <a:t>{</a:t>
            </a:r>
          </a:p>
          <a:p>
            <a:pPr>
              <a:lnSpc>
                <a:spcPct val="100000"/>
              </a:lnSpc>
            </a:pPr>
            <a:r>
              <a:rPr lang="en-US" b="0" dirty="0">
                <a:solidFill>
                  <a:srgbClr val="FFFFFF"/>
                </a:solidFill>
                <a:ea typeface="ＭＳ Ｐゴシック" charset="0"/>
                <a:cs typeface="Gill Sans" charset="0"/>
              </a:rPr>
              <a:t>   _id: </a:t>
            </a:r>
            <a:r>
              <a:rPr lang="en-US" b="0" dirty="0" err="1">
                <a:solidFill>
                  <a:srgbClr val="FFFFFF"/>
                </a:solidFill>
                <a:ea typeface="ＭＳ Ｐゴシック" charset="0"/>
                <a:cs typeface="Gill Sans" charset="0"/>
              </a:rPr>
              <a:t>ObjectId</a:t>
            </a:r>
            <a:r>
              <a:rPr lang="en-US" b="0" dirty="0">
                <a:solidFill>
                  <a:srgbClr val="FFFFFF"/>
                </a:solidFill>
                <a:ea typeface="ＭＳ Ｐゴシック" charset="0"/>
                <a:cs typeface="Gill Sans" charset="0"/>
              </a:rPr>
              <a:t>(), </a:t>
            </a:r>
          </a:p>
          <a:p>
            <a:pPr>
              <a:lnSpc>
                <a:spcPct val="100000"/>
              </a:lnSpc>
            </a:pPr>
            <a:r>
              <a:rPr lang="en-US" b="0" dirty="0">
                <a:solidFill>
                  <a:srgbClr val="FFFFFF"/>
                </a:solidFill>
                <a:ea typeface="ＭＳ Ｐゴシック" charset="0"/>
                <a:cs typeface="Gill Sans" charset="0"/>
              </a:rPr>
              <a:t>   user: 123,</a:t>
            </a:r>
          </a:p>
          <a:p>
            <a:pPr>
              <a:lnSpc>
                <a:spcPct val="100000"/>
              </a:lnSpc>
            </a:pPr>
            <a:r>
              <a:rPr lang="en-US" b="0" dirty="0">
                <a:solidFill>
                  <a:srgbClr val="FFFFFF"/>
                </a:solidFill>
                <a:ea typeface="ＭＳ Ｐゴシック" charset="0"/>
                <a:cs typeface="Gill Sans" charset="0"/>
              </a:rPr>
              <a:t>   time: Date(), </a:t>
            </a:r>
          </a:p>
          <a:p>
            <a:pPr>
              <a:lnSpc>
                <a:spcPct val="100000"/>
              </a:lnSpc>
            </a:pPr>
            <a:r>
              <a:rPr lang="en-US" b="0" dirty="0">
                <a:solidFill>
                  <a:srgbClr val="FFFFFF"/>
                </a:solidFill>
                <a:ea typeface="ＭＳ Ｐゴシック" charset="0"/>
                <a:cs typeface="Gill Sans" charset="0"/>
              </a:rPr>
              <a:t>   subject: </a:t>
            </a:r>
            <a:r>
              <a:rPr lang="ja-JP" altLang="en-US" b="0" dirty="0">
                <a:solidFill>
                  <a:srgbClr val="FFFFFF"/>
                </a:solidFill>
                <a:latin typeface="Arial"/>
                <a:ea typeface="ＭＳ Ｐゴシック" charset="0"/>
                <a:cs typeface="Gill Sans" charset="0"/>
              </a:rPr>
              <a:t>“</a:t>
            </a:r>
            <a:r>
              <a:rPr lang="en-US" b="0" dirty="0">
                <a:solidFill>
                  <a:srgbClr val="FFFFFF"/>
                </a:solidFill>
                <a:ea typeface="ＭＳ Ｐゴシック" charset="0"/>
                <a:cs typeface="Gill Sans" charset="0"/>
              </a:rPr>
              <a:t>...</a:t>
            </a:r>
            <a:r>
              <a:rPr lang="ja-JP" altLang="en-US" b="0" dirty="0">
                <a:solidFill>
                  <a:srgbClr val="FFFFFF"/>
                </a:solidFill>
                <a:latin typeface="Arial"/>
                <a:ea typeface="ＭＳ Ｐゴシック" charset="0"/>
                <a:cs typeface="Gill Sans" charset="0"/>
              </a:rPr>
              <a:t>”</a:t>
            </a:r>
            <a:r>
              <a:rPr lang="en-US" b="0" dirty="0">
                <a:solidFill>
                  <a:srgbClr val="FFFFFF"/>
                </a:solidFill>
                <a:ea typeface="ＭＳ Ｐゴシック" charset="0"/>
                <a:cs typeface="Gill Sans" charset="0"/>
              </a:rPr>
              <a:t>, </a:t>
            </a:r>
          </a:p>
          <a:p>
            <a:pPr>
              <a:lnSpc>
                <a:spcPct val="100000"/>
              </a:lnSpc>
            </a:pPr>
            <a:r>
              <a:rPr lang="en-US" b="0" dirty="0">
                <a:solidFill>
                  <a:srgbClr val="FFFFFF"/>
                </a:solidFill>
                <a:ea typeface="ＭＳ Ｐゴシック" charset="0"/>
                <a:cs typeface="Gill Sans" charset="0"/>
              </a:rPr>
              <a:t>   recipients: [], </a:t>
            </a:r>
          </a:p>
          <a:p>
            <a:pPr>
              <a:lnSpc>
                <a:spcPct val="100000"/>
              </a:lnSpc>
            </a:pPr>
            <a:r>
              <a:rPr lang="en-US" b="0" dirty="0">
                <a:solidFill>
                  <a:srgbClr val="FFFFFF"/>
                </a:solidFill>
                <a:ea typeface="ＭＳ Ｐゴシック" charset="0"/>
                <a:cs typeface="Gill Sans" charset="0"/>
              </a:rPr>
              <a:t>   body: </a:t>
            </a:r>
            <a:r>
              <a:rPr lang="ja-JP" altLang="en-US" b="0" dirty="0">
                <a:solidFill>
                  <a:srgbClr val="FFFFFF"/>
                </a:solidFill>
                <a:latin typeface="Arial"/>
                <a:ea typeface="ＭＳ Ｐゴシック" charset="0"/>
                <a:cs typeface="Gill Sans" charset="0"/>
              </a:rPr>
              <a:t>“</a:t>
            </a:r>
            <a:r>
              <a:rPr lang="en-US" b="0" dirty="0">
                <a:solidFill>
                  <a:srgbClr val="FFFFFF"/>
                </a:solidFill>
                <a:ea typeface="ＭＳ Ｐゴシック" charset="0"/>
                <a:cs typeface="Gill Sans" charset="0"/>
              </a:rPr>
              <a:t>...</a:t>
            </a:r>
            <a:r>
              <a:rPr lang="ja-JP" altLang="en-US" b="0" dirty="0">
                <a:solidFill>
                  <a:srgbClr val="FFFFFF"/>
                </a:solidFill>
                <a:latin typeface="Arial"/>
                <a:ea typeface="ＭＳ Ｐゴシック" charset="0"/>
                <a:cs typeface="Gill Sans" charset="0"/>
              </a:rPr>
              <a:t>”</a:t>
            </a:r>
            <a:r>
              <a:rPr lang="en-US" b="0" dirty="0">
                <a:solidFill>
                  <a:srgbClr val="FFFFFF"/>
                </a:solidFill>
                <a:ea typeface="ＭＳ Ｐゴシック" charset="0"/>
                <a:cs typeface="Gill Sans" charset="0"/>
              </a:rPr>
              <a:t>, </a:t>
            </a:r>
          </a:p>
          <a:p>
            <a:pPr>
              <a:lnSpc>
                <a:spcPct val="100000"/>
              </a:lnSpc>
            </a:pPr>
            <a:r>
              <a:rPr lang="en-US" b="0" dirty="0">
                <a:solidFill>
                  <a:srgbClr val="FFFFFF"/>
                </a:solidFill>
                <a:ea typeface="ＭＳ Ｐゴシック" charset="0"/>
                <a:cs typeface="Gill Sans" charset="0"/>
              </a:rPr>
              <a:t>   attachments: []</a:t>
            </a:r>
          </a:p>
          <a:p>
            <a:pPr>
              <a:lnSpc>
                <a:spcPct val="100000"/>
              </a:lnSpc>
            </a:pPr>
            <a:r>
              <a:rPr lang="en-US" b="0" dirty="0">
                <a:solidFill>
                  <a:srgbClr val="FFFFFF"/>
                </a:solidFill>
                <a:ea typeface="ＭＳ Ｐゴシック" charset="0"/>
                <a:cs typeface="Gill Sans" charset="0"/>
              </a:rPr>
              <a:t>}</a:t>
            </a:r>
          </a:p>
          <a:p>
            <a:endParaRPr lang="en-US" dirty="0"/>
          </a:p>
        </p:txBody>
      </p:sp>
      <p:sp>
        <p:nvSpPr>
          <p:cNvPr id="25601" name="Rectangle 1"/>
          <p:cNvSpPr>
            <a:spLocks noGrp="1" noChangeArrowheads="1"/>
          </p:cNvSpPr>
          <p:nvPr>
            <p:ph type="title"/>
          </p:nvPr>
        </p:nvSpPr>
        <p:spPr>
          <a:ln/>
        </p:spPr>
        <p:txBody>
          <a:bodyPr/>
          <a:lstStyle/>
          <a:p>
            <a:r>
              <a:rPr lang="en-US" sz="5600" dirty="0"/>
              <a:t>Example: Email Storage</a:t>
            </a:r>
          </a:p>
        </p:txBody>
      </p:sp>
      <p:sp>
        <p:nvSpPr>
          <p:cNvPr id="7" name="Content Placeholder 2"/>
          <p:cNvSpPr txBox="1">
            <a:spLocks/>
          </p:cNvSpPr>
          <p:nvPr/>
        </p:nvSpPr>
        <p:spPr>
          <a:xfrm>
            <a:off x="6098313" y="1606376"/>
            <a:ext cx="3728009" cy="4757017"/>
          </a:xfrm>
          <a:prstGeom prst="rect">
            <a:avLst/>
          </a:prstGeom>
        </p:spPr>
        <p:txBody>
          <a:bodyPr vert="horz" lIns="0" tIns="45720" rIns="0" bIns="0" rtlCol="0" anchor="t" anchorCtr="0">
            <a:noAutofit/>
          </a:bodyPr>
          <a:lstStyle>
            <a:lvl1pPr marL="0" marR="0" indent="0" algn="l" defTabSz="457200" rtl="0" eaLnBrk="1" fontAlgn="auto" latinLnBrk="0" hangingPunct="1">
              <a:lnSpc>
                <a:spcPts val="740"/>
              </a:lnSpc>
              <a:spcBef>
                <a:spcPts val="1272"/>
              </a:spcBef>
              <a:spcAft>
                <a:spcPts val="0"/>
              </a:spcAft>
              <a:buClr>
                <a:srgbClr val="0075BF"/>
              </a:buClr>
              <a:buSzPct val="85000"/>
              <a:buFont typeface="Arial"/>
              <a:buNone/>
              <a:tabLst/>
              <a:defRPr sz="1800" b="1" i="0" kern="1200" spc="50" baseline="0">
                <a:ln w="1905">
                  <a:noFill/>
                </a:ln>
                <a:solidFill>
                  <a:schemeClr val="bg1"/>
                </a:solidFill>
                <a:latin typeface="Source Code Pro Semibold"/>
                <a:ea typeface="+mn-ea"/>
                <a:cs typeface="Lucida Console"/>
              </a:defRPr>
            </a:lvl1pPr>
            <a:lvl2pPr marL="457200" marR="0" indent="0" algn="l" defTabSz="457200" rtl="0" eaLnBrk="1" fontAlgn="auto" latinLnBrk="0" hangingPunct="1">
              <a:lnSpc>
                <a:spcPct val="100000"/>
              </a:lnSpc>
              <a:spcBef>
                <a:spcPts val="200"/>
              </a:spcBef>
              <a:spcAft>
                <a:spcPts val="0"/>
              </a:spcAft>
              <a:buClrTx/>
              <a:buSzTx/>
              <a:buFont typeface="Arial"/>
              <a:buNone/>
              <a:tabLst/>
              <a:defRPr sz="2400" kern="1200" spc="-100" baseline="0">
                <a:solidFill>
                  <a:srgbClr val="625F5E"/>
                </a:solidFill>
                <a:latin typeface="PT Sans"/>
                <a:ea typeface="+mn-ea"/>
                <a:cs typeface="PT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25056">
              <a:lnSpc>
                <a:spcPct val="100000"/>
              </a:lnSpc>
            </a:pPr>
            <a:r>
              <a:rPr lang="en-US" i="1" dirty="0">
                <a:latin typeface="+mn-lt"/>
              </a:rPr>
              <a:t>Most common scenario, can be applied to 90% cases</a:t>
            </a:r>
          </a:p>
          <a:p>
            <a:pPr marL="625056">
              <a:lnSpc>
                <a:spcPct val="100000"/>
              </a:lnSpc>
              <a:spcBef>
                <a:spcPts val="1652"/>
              </a:spcBef>
            </a:pPr>
            <a:r>
              <a:rPr lang="en-US" i="1" dirty="0">
                <a:latin typeface="+mn-lt"/>
              </a:rPr>
              <a:t>Each document can be up to 16MB</a:t>
            </a:r>
          </a:p>
          <a:p>
            <a:pPr marL="625056">
              <a:lnSpc>
                <a:spcPct val="100000"/>
              </a:lnSpc>
              <a:spcBef>
                <a:spcPts val="1652"/>
              </a:spcBef>
            </a:pPr>
            <a:r>
              <a:rPr lang="en-US" i="1" dirty="0">
                <a:latin typeface="+mn-lt"/>
              </a:rPr>
              <a:t>Each user may have GBs of storage</a:t>
            </a:r>
          </a:p>
          <a:p>
            <a:pPr marL="625056">
              <a:lnSpc>
                <a:spcPct val="100000"/>
              </a:lnSpc>
              <a:spcBef>
                <a:spcPts val="1652"/>
              </a:spcBef>
            </a:pPr>
            <a:r>
              <a:rPr lang="en-US" i="1" dirty="0">
                <a:latin typeface="+mn-lt"/>
              </a:rPr>
              <a:t>Most common query: get user emails sorted by time</a:t>
            </a:r>
          </a:p>
          <a:p>
            <a:pPr marL="625056">
              <a:lnSpc>
                <a:spcPct val="100000"/>
              </a:lnSpc>
              <a:spcBef>
                <a:spcPts val="1652"/>
              </a:spcBef>
            </a:pPr>
            <a:r>
              <a:rPr lang="en-US" i="1" dirty="0">
                <a:latin typeface="+mn-lt"/>
              </a:rPr>
              <a:t>Indexes on {_id}, {user, time}, {recipients}</a:t>
            </a:r>
            <a:endParaRPr lang="en-US" b="0" i="1" dirty="0">
              <a:solidFill>
                <a:srgbClr val="FFFFFF"/>
              </a:solidFill>
              <a:latin typeface="+mn-lt"/>
              <a:ea typeface="ＭＳ Ｐゴシック" charset="0"/>
              <a:cs typeface="Gill Sans" charset="0"/>
            </a:endParaRPr>
          </a:p>
          <a:p>
            <a:endParaRPr lang="en-US" dirty="0"/>
          </a:p>
        </p:txBody>
      </p:sp>
      <p:cxnSp>
        <p:nvCxnSpPr>
          <p:cNvPr id="5" name="Straight Connector 4"/>
          <p:cNvCxnSpPr/>
          <p:nvPr/>
        </p:nvCxnSpPr>
        <p:spPr>
          <a:xfrm>
            <a:off x="5629785" y="1606376"/>
            <a:ext cx="24659" cy="3781393"/>
          </a:xfrm>
          <a:prstGeom prst="line">
            <a:avLst/>
          </a:prstGeom>
          <a:ln w="60325">
            <a:solidFill>
              <a:schemeClr val="bg1"/>
            </a:solidFill>
          </a:ln>
          <a:effectLst>
            <a:innerShdw blurRad="63500" dist="50800" dir="13500000">
              <a:srgbClr val="000000">
                <a:alpha val="50000"/>
              </a:srgbClr>
            </a:inn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62459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idx="4294967295"/>
          </p:nvPr>
        </p:nvSpPr>
        <p:spPr>
          <a:xfrm>
            <a:off x="2768600" y="336550"/>
            <a:ext cx="7899400" cy="850900"/>
          </a:xfrm>
          <a:ln/>
        </p:spPr>
        <p:txBody>
          <a:bodyPr/>
          <a:lstStyle/>
          <a:p>
            <a:r>
              <a:rPr lang="en-US" sz="5600" dirty="0"/>
              <a:t>Example: Email Storage</a:t>
            </a:r>
          </a:p>
        </p:txBody>
      </p:sp>
      <p:graphicFrame>
        <p:nvGraphicFramePr>
          <p:cNvPr id="26626" name="Group 2"/>
          <p:cNvGraphicFramePr>
            <a:graphicFrameLocks noGrp="1"/>
          </p:cNvGraphicFramePr>
          <p:nvPr>
            <p:extLst>
              <p:ext uri="{D42A27DB-BD31-4B8C-83A1-F6EECF244321}">
                <p14:modId xmlns:p14="http://schemas.microsoft.com/office/powerpoint/2010/main" val="1919862941"/>
              </p:ext>
            </p:extLst>
          </p:nvPr>
        </p:nvGraphicFramePr>
        <p:xfrm>
          <a:off x="1881563" y="1223263"/>
          <a:ext cx="7058740" cy="5385074"/>
        </p:xfrm>
        <a:graphic>
          <a:graphicData uri="http://schemas.openxmlformats.org/drawingml/2006/table">
            <a:tbl>
              <a:tblPr/>
              <a:tblGrid>
                <a:gridCol w="1411748">
                  <a:extLst>
                    <a:ext uri="{9D8B030D-6E8A-4147-A177-3AD203B41FA5}">
                      <a16:colId xmlns:a16="http://schemas.microsoft.com/office/drawing/2014/main" val="20000"/>
                    </a:ext>
                  </a:extLst>
                </a:gridCol>
                <a:gridCol w="1411748">
                  <a:extLst>
                    <a:ext uri="{9D8B030D-6E8A-4147-A177-3AD203B41FA5}">
                      <a16:colId xmlns:a16="http://schemas.microsoft.com/office/drawing/2014/main" val="20001"/>
                    </a:ext>
                  </a:extLst>
                </a:gridCol>
                <a:gridCol w="1411748">
                  <a:extLst>
                    <a:ext uri="{9D8B030D-6E8A-4147-A177-3AD203B41FA5}">
                      <a16:colId xmlns:a16="http://schemas.microsoft.com/office/drawing/2014/main" val="20003"/>
                    </a:ext>
                  </a:extLst>
                </a:gridCol>
                <a:gridCol w="1411748">
                  <a:extLst>
                    <a:ext uri="{9D8B030D-6E8A-4147-A177-3AD203B41FA5}">
                      <a16:colId xmlns:a16="http://schemas.microsoft.com/office/drawing/2014/main" val="20004"/>
                    </a:ext>
                  </a:extLst>
                </a:gridCol>
                <a:gridCol w="1411748">
                  <a:extLst>
                    <a:ext uri="{9D8B030D-6E8A-4147-A177-3AD203B41FA5}">
                      <a16:colId xmlns:a16="http://schemas.microsoft.com/office/drawing/2014/main" val="20005"/>
                    </a:ext>
                  </a:extLst>
                </a:gridCol>
              </a:tblGrid>
              <a:tr h="1096848">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a:ln>
                          <a:noFill/>
                        </a:ln>
                        <a:solidFill>
                          <a:srgbClr val="FFFFFF"/>
                        </a:solidFill>
                        <a:effectLst>
                          <a:outerShdw blurRad="38100" dist="38100" dir="2700000" algn="tl">
                            <a:srgbClr val="DDDDDD"/>
                          </a:outerShdw>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Cardinality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Query Isolation</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rPr>
                        <a:t>Reliability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Index</a:t>
                      </a:r>
                    </a:p>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Locality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2976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118220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19664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idx="4294967295"/>
          </p:nvPr>
        </p:nvSpPr>
        <p:spPr>
          <a:xfrm>
            <a:off x="1524000" y="336550"/>
            <a:ext cx="7899400" cy="850900"/>
          </a:xfrm>
          <a:ln/>
        </p:spPr>
        <p:txBody>
          <a:bodyPr/>
          <a:lstStyle/>
          <a:p>
            <a:r>
              <a:rPr lang="en-US" sz="5600" dirty="0"/>
              <a:t>Example: Email Storage</a:t>
            </a:r>
          </a:p>
        </p:txBody>
      </p:sp>
      <p:graphicFrame>
        <p:nvGraphicFramePr>
          <p:cNvPr id="26626" name="Group 2"/>
          <p:cNvGraphicFramePr>
            <a:graphicFrameLocks noGrp="1"/>
          </p:cNvGraphicFramePr>
          <p:nvPr>
            <p:extLst>
              <p:ext uri="{D42A27DB-BD31-4B8C-83A1-F6EECF244321}">
                <p14:modId xmlns:p14="http://schemas.microsoft.com/office/powerpoint/2010/main" val="1267402922"/>
              </p:ext>
            </p:extLst>
          </p:nvPr>
        </p:nvGraphicFramePr>
        <p:xfrm>
          <a:off x="1881563" y="1223263"/>
          <a:ext cx="7058740" cy="5385074"/>
        </p:xfrm>
        <a:graphic>
          <a:graphicData uri="http://schemas.openxmlformats.org/drawingml/2006/table">
            <a:tbl>
              <a:tblPr/>
              <a:tblGrid>
                <a:gridCol w="1411748">
                  <a:extLst>
                    <a:ext uri="{9D8B030D-6E8A-4147-A177-3AD203B41FA5}">
                      <a16:colId xmlns:a16="http://schemas.microsoft.com/office/drawing/2014/main" val="20000"/>
                    </a:ext>
                  </a:extLst>
                </a:gridCol>
                <a:gridCol w="1411748">
                  <a:extLst>
                    <a:ext uri="{9D8B030D-6E8A-4147-A177-3AD203B41FA5}">
                      <a16:colId xmlns:a16="http://schemas.microsoft.com/office/drawing/2014/main" val="20001"/>
                    </a:ext>
                  </a:extLst>
                </a:gridCol>
                <a:gridCol w="1411748">
                  <a:extLst>
                    <a:ext uri="{9D8B030D-6E8A-4147-A177-3AD203B41FA5}">
                      <a16:colId xmlns:a16="http://schemas.microsoft.com/office/drawing/2014/main" val="20003"/>
                    </a:ext>
                  </a:extLst>
                </a:gridCol>
                <a:gridCol w="1411748">
                  <a:extLst>
                    <a:ext uri="{9D8B030D-6E8A-4147-A177-3AD203B41FA5}">
                      <a16:colId xmlns:a16="http://schemas.microsoft.com/office/drawing/2014/main" val="20004"/>
                    </a:ext>
                  </a:extLst>
                </a:gridCol>
                <a:gridCol w="1411748">
                  <a:extLst>
                    <a:ext uri="{9D8B030D-6E8A-4147-A177-3AD203B41FA5}">
                      <a16:colId xmlns:a16="http://schemas.microsoft.com/office/drawing/2014/main" val="20005"/>
                    </a:ext>
                  </a:extLst>
                </a:gridCol>
              </a:tblGrid>
              <a:tr h="1096848">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a:ln>
                          <a:noFill/>
                        </a:ln>
                        <a:solidFill>
                          <a:srgbClr val="FFFFFF"/>
                        </a:solidFill>
                        <a:effectLst>
                          <a:outerShdw blurRad="38100" dist="38100" dir="2700000" algn="tl">
                            <a:srgbClr val="DDDDDD"/>
                          </a:outerShdw>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Cardinality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Query Isolation</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rPr>
                        <a:t>Reliability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Index</a:t>
                      </a:r>
                    </a:p>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Locality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2976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Doc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118220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06244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idx="4294967295"/>
          </p:nvPr>
        </p:nvSpPr>
        <p:spPr>
          <a:xfrm>
            <a:off x="1524000" y="336550"/>
            <a:ext cx="7899400" cy="850900"/>
          </a:xfrm>
          <a:ln/>
        </p:spPr>
        <p:txBody>
          <a:bodyPr/>
          <a:lstStyle/>
          <a:p>
            <a:r>
              <a:rPr lang="en-US" sz="5600" dirty="0"/>
              <a:t>Example: Email Storage</a:t>
            </a:r>
          </a:p>
        </p:txBody>
      </p:sp>
      <p:graphicFrame>
        <p:nvGraphicFramePr>
          <p:cNvPr id="26626" name="Group 2"/>
          <p:cNvGraphicFramePr>
            <a:graphicFrameLocks noGrp="1"/>
          </p:cNvGraphicFramePr>
          <p:nvPr>
            <p:extLst>
              <p:ext uri="{D42A27DB-BD31-4B8C-83A1-F6EECF244321}">
                <p14:modId xmlns:p14="http://schemas.microsoft.com/office/powerpoint/2010/main" val="3700409974"/>
              </p:ext>
            </p:extLst>
          </p:nvPr>
        </p:nvGraphicFramePr>
        <p:xfrm>
          <a:off x="1881563" y="1223263"/>
          <a:ext cx="7058740" cy="5385074"/>
        </p:xfrm>
        <a:graphic>
          <a:graphicData uri="http://schemas.openxmlformats.org/drawingml/2006/table">
            <a:tbl>
              <a:tblPr/>
              <a:tblGrid>
                <a:gridCol w="1411748">
                  <a:extLst>
                    <a:ext uri="{9D8B030D-6E8A-4147-A177-3AD203B41FA5}">
                      <a16:colId xmlns:a16="http://schemas.microsoft.com/office/drawing/2014/main" val="20000"/>
                    </a:ext>
                  </a:extLst>
                </a:gridCol>
                <a:gridCol w="1411748">
                  <a:extLst>
                    <a:ext uri="{9D8B030D-6E8A-4147-A177-3AD203B41FA5}">
                      <a16:colId xmlns:a16="http://schemas.microsoft.com/office/drawing/2014/main" val="20001"/>
                    </a:ext>
                  </a:extLst>
                </a:gridCol>
                <a:gridCol w="1411748">
                  <a:extLst>
                    <a:ext uri="{9D8B030D-6E8A-4147-A177-3AD203B41FA5}">
                      <a16:colId xmlns:a16="http://schemas.microsoft.com/office/drawing/2014/main" val="20003"/>
                    </a:ext>
                  </a:extLst>
                </a:gridCol>
                <a:gridCol w="1411748">
                  <a:extLst>
                    <a:ext uri="{9D8B030D-6E8A-4147-A177-3AD203B41FA5}">
                      <a16:colId xmlns:a16="http://schemas.microsoft.com/office/drawing/2014/main" val="20004"/>
                    </a:ext>
                  </a:extLst>
                </a:gridCol>
                <a:gridCol w="1411748">
                  <a:extLst>
                    <a:ext uri="{9D8B030D-6E8A-4147-A177-3AD203B41FA5}">
                      <a16:colId xmlns:a16="http://schemas.microsoft.com/office/drawing/2014/main" val="20005"/>
                    </a:ext>
                  </a:extLst>
                </a:gridCol>
              </a:tblGrid>
              <a:tr h="1096848">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a:ln>
                          <a:noFill/>
                        </a:ln>
                        <a:solidFill>
                          <a:srgbClr val="FFFFFF"/>
                        </a:solidFill>
                        <a:effectLst>
                          <a:outerShdw blurRad="38100" dist="38100" dir="2700000" algn="tl">
                            <a:srgbClr val="DDDDDD"/>
                          </a:outerShdw>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Cardinality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Query Isolation</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Reliability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Index</a:t>
                      </a:r>
                    </a:p>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Locality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2976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Doc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118220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hash(_id)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66"/>
                          </a:solidFill>
                          <a:effectLst/>
                          <a:latin typeface="Gill Sans" charset="0"/>
                          <a:ea typeface="ヒラギノ角ゴ ProN W3" charset="0"/>
                          <a:cs typeface="ヒラギノ角ゴ ProN W3" charset="0"/>
                          <a:sym typeface="Gill Sans" charset="0"/>
                        </a:rPr>
                        <a:t>Hash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Poor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40130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idx="4294967295"/>
          </p:nvPr>
        </p:nvSpPr>
        <p:spPr>
          <a:xfrm>
            <a:off x="1524000" y="336550"/>
            <a:ext cx="7899400" cy="850900"/>
          </a:xfrm>
          <a:ln/>
        </p:spPr>
        <p:txBody>
          <a:bodyPr/>
          <a:lstStyle/>
          <a:p>
            <a:r>
              <a:rPr lang="en-US" sz="5600" dirty="0"/>
              <a:t>Example: Email Storage</a:t>
            </a:r>
          </a:p>
        </p:txBody>
      </p:sp>
      <p:graphicFrame>
        <p:nvGraphicFramePr>
          <p:cNvPr id="26626" name="Group 2"/>
          <p:cNvGraphicFramePr>
            <a:graphicFrameLocks noGrp="1"/>
          </p:cNvGraphicFramePr>
          <p:nvPr>
            <p:extLst>
              <p:ext uri="{D42A27DB-BD31-4B8C-83A1-F6EECF244321}">
                <p14:modId xmlns:p14="http://schemas.microsoft.com/office/powerpoint/2010/main" val="498221514"/>
              </p:ext>
            </p:extLst>
          </p:nvPr>
        </p:nvGraphicFramePr>
        <p:xfrm>
          <a:off x="1881563" y="1223263"/>
          <a:ext cx="7058740" cy="5385074"/>
        </p:xfrm>
        <a:graphic>
          <a:graphicData uri="http://schemas.openxmlformats.org/drawingml/2006/table">
            <a:tbl>
              <a:tblPr/>
              <a:tblGrid>
                <a:gridCol w="1411748">
                  <a:extLst>
                    <a:ext uri="{9D8B030D-6E8A-4147-A177-3AD203B41FA5}">
                      <a16:colId xmlns:a16="http://schemas.microsoft.com/office/drawing/2014/main" val="20000"/>
                    </a:ext>
                  </a:extLst>
                </a:gridCol>
                <a:gridCol w="1411748">
                  <a:extLst>
                    <a:ext uri="{9D8B030D-6E8A-4147-A177-3AD203B41FA5}">
                      <a16:colId xmlns:a16="http://schemas.microsoft.com/office/drawing/2014/main" val="20001"/>
                    </a:ext>
                  </a:extLst>
                </a:gridCol>
                <a:gridCol w="1411748">
                  <a:extLst>
                    <a:ext uri="{9D8B030D-6E8A-4147-A177-3AD203B41FA5}">
                      <a16:colId xmlns:a16="http://schemas.microsoft.com/office/drawing/2014/main" val="20003"/>
                    </a:ext>
                  </a:extLst>
                </a:gridCol>
                <a:gridCol w="1411748">
                  <a:extLst>
                    <a:ext uri="{9D8B030D-6E8A-4147-A177-3AD203B41FA5}">
                      <a16:colId xmlns:a16="http://schemas.microsoft.com/office/drawing/2014/main" val="20004"/>
                    </a:ext>
                  </a:extLst>
                </a:gridCol>
                <a:gridCol w="1411748">
                  <a:extLst>
                    <a:ext uri="{9D8B030D-6E8A-4147-A177-3AD203B41FA5}">
                      <a16:colId xmlns:a16="http://schemas.microsoft.com/office/drawing/2014/main" val="20005"/>
                    </a:ext>
                  </a:extLst>
                </a:gridCol>
              </a:tblGrid>
              <a:tr h="1096848">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a:ln>
                          <a:noFill/>
                        </a:ln>
                        <a:solidFill>
                          <a:srgbClr val="FFFFFF"/>
                        </a:solidFill>
                        <a:effectLst>
                          <a:outerShdw blurRad="38100" dist="38100" dir="2700000" algn="tl">
                            <a:srgbClr val="DDDDDD"/>
                          </a:outerShdw>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Cardinality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Query Isolation</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rPr>
                        <a:t>Reliability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Index</a:t>
                      </a:r>
                    </a:p>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Locality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2976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Doc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118220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hash(_id)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66"/>
                          </a:solidFill>
                          <a:effectLst/>
                          <a:latin typeface="Gill Sans" charset="0"/>
                          <a:ea typeface="ヒラギノ角ゴ ProN W3" charset="0"/>
                          <a:cs typeface="ヒラギノ角ゴ ProN W3" charset="0"/>
                          <a:sym typeface="Gill Sans" charset="0"/>
                        </a:rPr>
                        <a:t>Hash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Poor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user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Many docs</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algn="ct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Targeted</a:t>
                      </a:r>
                      <a:endParaRPr lang="en-US" sz="2100" dirty="0">
                        <a:solidFill>
                          <a:srgbClr val="00A49E"/>
                        </a:solidFill>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algn="ct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Some users affected</a:t>
                      </a:r>
                      <a:endParaRPr lang="en-US" dirty="0">
                        <a:solidFill>
                          <a:srgbClr val="008000"/>
                        </a:solidFill>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endParaRPr lang="en-US" dirty="0">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0076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idx="4294967295"/>
          </p:nvPr>
        </p:nvSpPr>
        <p:spPr>
          <a:xfrm>
            <a:off x="1524000" y="336550"/>
            <a:ext cx="7899400" cy="850900"/>
          </a:xfrm>
          <a:ln/>
        </p:spPr>
        <p:txBody>
          <a:bodyPr/>
          <a:lstStyle/>
          <a:p>
            <a:r>
              <a:rPr lang="en-US" sz="5600" dirty="0"/>
              <a:t>Example: Email Storage</a:t>
            </a:r>
          </a:p>
        </p:txBody>
      </p:sp>
      <p:graphicFrame>
        <p:nvGraphicFramePr>
          <p:cNvPr id="26626" name="Group 2"/>
          <p:cNvGraphicFramePr>
            <a:graphicFrameLocks noGrp="1"/>
          </p:cNvGraphicFramePr>
          <p:nvPr>
            <p:extLst>
              <p:ext uri="{D42A27DB-BD31-4B8C-83A1-F6EECF244321}">
                <p14:modId xmlns:p14="http://schemas.microsoft.com/office/powerpoint/2010/main" val="2577585942"/>
              </p:ext>
            </p:extLst>
          </p:nvPr>
        </p:nvGraphicFramePr>
        <p:xfrm>
          <a:off x="1881563" y="1223263"/>
          <a:ext cx="7058740" cy="5385074"/>
        </p:xfrm>
        <a:graphic>
          <a:graphicData uri="http://schemas.openxmlformats.org/drawingml/2006/table">
            <a:tbl>
              <a:tblPr/>
              <a:tblGrid>
                <a:gridCol w="1411748">
                  <a:extLst>
                    <a:ext uri="{9D8B030D-6E8A-4147-A177-3AD203B41FA5}">
                      <a16:colId xmlns:a16="http://schemas.microsoft.com/office/drawing/2014/main" val="20000"/>
                    </a:ext>
                  </a:extLst>
                </a:gridCol>
                <a:gridCol w="1411748">
                  <a:extLst>
                    <a:ext uri="{9D8B030D-6E8A-4147-A177-3AD203B41FA5}">
                      <a16:colId xmlns:a16="http://schemas.microsoft.com/office/drawing/2014/main" val="20001"/>
                    </a:ext>
                  </a:extLst>
                </a:gridCol>
                <a:gridCol w="1411748">
                  <a:extLst>
                    <a:ext uri="{9D8B030D-6E8A-4147-A177-3AD203B41FA5}">
                      <a16:colId xmlns:a16="http://schemas.microsoft.com/office/drawing/2014/main" val="20003"/>
                    </a:ext>
                  </a:extLst>
                </a:gridCol>
                <a:gridCol w="1411748">
                  <a:extLst>
                    <a:ext uri="{9D8B030D-6E8A-4147-A177-3AD203B41FA5}">
                      <a16:colId xmlns:a16="http://schemas.microsoft.com/office/drawing/2014/main" val="20004"/>
                    </a:ext>
                  </a:extLst>
                </a:gridCol>
                <a:gridCol w="1411748">
                  <a:extLst>
                    <a:ext uri="{9D8B030D-6E8A-4147-A177-3AD203B41FA5}">
                      <a16:colId xmlns:a16="http://schemas.microsoft.com/office/drawing/2014/main" val="20005"/>
                    </a:ext>
                  </a:extLst>
                </a:gridCol>
              </a:tblGrid>
              <a:tr h="1096848">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100" b="0" i="0" u="none" strike="noStrike" cap="none" normalizeH="0" baseline="0">
                        <a:ln>
                          <a:noFill/>
                        </a:ln>
                        <a:solidFill>
                          <a:srgbClr val="FFFFFF"/>
                        </a:solidFill>
                        <a:effectLst>
                          <a:outerShdw blurRad="38100" dist="38100" dir="2700000" algn="tl">
                            <a:srgbClr val="DDDDDD"/>
                          </a:outerShdw>
                        </a:effectLst>
                        <a:latin typeface="Gill Sans" charset="0"/>
                        <a:ea typeface="ヒラギノ角ゴ ProN W3" charset="0"/>
                        <a:cs typeface="ヒラギノ角ゴ ProN W3" charset="0"/>
                        <a:sym typeface="Gill Sans" charset="0"/>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Cardinality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Query Isolation</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rPr>
                        <a:t>Reliability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Index</a:t>
                      </a:r>
                    </a:p>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Locality</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2976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Doc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1182203">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hash(_id)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66"/>
                          </a:solidFill>
                          <a:effectLst/>
                          <a:latin typeface="Gill Sans" charset="0"/>
                          <a:ea typeface="ヒラギノ角ゴ ProN W3" charset="0"/>
                          <a:cs typeface="ヒラギノ角ゴ ProN W3" charset="0"/>
                          <a:sym typeface="Gill Sans" charset="0"/>
                        </a:rPr>
                        <a:t>Hash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Scatter/gather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All users affected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Poor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user</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6666"/>
                          </a:solidFill>
                          <a:effectLst/>
                          <a:latin typeface="Gill Sans" charset="0"/>
                          <a:ea typeface="ヒラギノ角ゴ ProN W3" charset="0"/>
                          <a:cs typeface="ヒラギノ角ゴ ProN W3" charset="0"/>
                          <a:sym typeface="Gill Sans" charset="0"/>
                        </a:rPr>
                        <a:t>Many docs</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algn="ct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Targeted</a:t>
                      </a:r>
                      <a:endParaRPr lang="en-US" sz="2100" dirty="0">
                        <a:solidFill>
                          <a:srgbClr val="00A49E"/>
                        </a:solidFill>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algn="ct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Some users affected</a:t>
                      </a:r>
                      <a:endParaRPr lang="en-US" dirty="0">
                        <a:solidFill>
                          <a:srgbClr val="008000"/>
                        </a:solidFill>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9881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r>
                        <a:rPr kumimoji="0" lang="en-US" sz="2100" b="0" i="0" u="none" strike="noStrike" cap="none" normalizeH="0" baseline="0" dirty="0">
                          <a:ln>
                            <a:noFill/>
                          </a:ln>
                          <a:solidFill>
                            <a:srgbClr val="FFFFFF"/>
                          </a:solidFill>
                          <a:effectLst/>
                          <a:latin typeface="Gill Sans" charset="0"/>
                          <a:ea typeface="ヒラギノ角ゴ ProN W3" charset="0"/>
                          <a:cs typeface="ヒラギノ角ゴ ProN W3" charset="0"/>
                          <a:sym typeface="Gill Sans" charset="0"/>
                        </a:rPr>
                        <a:t>user, time</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defRPr/>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Doc level</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21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Targeted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Some users affected</a:t>
                      </a:r>
                      <a:endParaRPr lang="en-US" dirty="0">
                        <a:solidFill>
                          <a:srgbClr val="008000"/>
                        </a:solidFill>
                        <a:effectLst/>
                      </a:endParaRP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66FF66"/>
                          </a:solidFill>
                          <a:effectLst/>
                          <a:latin typeface="Gill Sans" charset="0"/>
                          <a:ea typeface="ヒラギノ角ゴ ProN W3" charset="0"/>
                          <a:cs typeface="ヒラギノ角ゴ ProN W3" charset="0"/>
                          <a:sym typeface="Gill Sans" charset="0"/>
                        </a:rPr>
                        <a:t>Good</a:t>
                      </a:r>
                    </a:p>
                  </a:txBody>
                  <a:tcPr marL="35719" marR="35719" marT="0" marB="0" anchor="ctr" horzOverflow="overflow">
                    <a:lnL w="25400" cap="flat" cmpd="sng" algn="ctr">
                      <a:solidFill>
                        <a:schemeClr val="accent1"/>
                      </a:solidFill>
                      <a:prstDash val="solid"/>
                      <a:round/>
                      <a:headEnd type="none" w="med" len="med"/>
                      <a:tailEnd type="none" w="med" len="med"/>
                    </a:lnL>
                    <a:lnR w="254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25400" cap="flat" cmpd="sng" algn="ctr">
                      <a:solidFill>
                        <a:srgbClr val="FFFF66"/>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365137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resentation2" id="{B8161CE3-1ECC-C945-B31E-724735EE6F50}" vid="{743CEF73-0D38-6542-AA38-B91A3FC66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947</TotalTime>
  <Words>1451</Words>
  <Application>Microsoft Macintosh PowerPoint</Application>
  <PresentationFormat>Widescreen</PresentationFormat>
  <Paragraphs>266</Paragraphs>
  <Slides>48</Slides>
  <Notes>41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Calibri</vt:lpstr>
      <vt:lpstr>Calibri Light</vt:lpstr>
      <vt:lpstr>Courier</vt:lpstr>
      <vt:lpstr>Gill Sans</vt:lpstr>
      <vt:lpstr>PT Sans</vt:lpstr>
      <vt:lpstr>Source Code Pro</vt:lpstr>
      <vt:lpstr>Source Code Pro Semibold</vt:lpstr>
      <vt:lpstr>Retrospect</vt:lpstr>
      <vt:lpstr>MongoDB Sharding</vt:lpstr>
      <vt:lpstr>Partitioning</vt:lpstr>
      <vt:lpstr>Data Distribution</vt:lpstr>
      <vt:lpstr>Routing and Balancing</vt:lpstr>
      <vt:lpstr>MongoDB Auto-Sharding</vt:lpstr>
      <vt:lpstr>What is a Shard?</vt:lpstr>
      <vt:lpstr>Meta Data Storage</vt:lpstr>
      <vt:lpstr>Routing and Managing Data</vt:lpstr>
      <vt:lpstr>Sharding infrastructure</vt:lpstr>
      <vt:lpstr>PowerPoint Presentation</vt:lpstr>
      <vt:lpstr>Partitioning</vt:lpstr>
      <vt:lpstr>Chunk is a section of the entire range</vt:lpstr>
      <vt:lpstr>Chunk splitting</vt:lpstr>
      <vt:lpstr>Balancing</vt:lpstr>
      <vt:lpstr>Acquiring the Balancer Lock</vt:lpstr>
      <vt:lpstr>Moving the chunk</vt:lpstr>
      <vt:lpstr>Committing Migration</vt:lpstr>
      <vt:lpstr>Cleanup</vt:lpstr>
      <vt:lpstr>Cluster Request Routing</vt:lpstr>
      <vt:lpstr>Cluster Request Routing: Targeted Query</vt:lpstr>
      <vt:lpstr>Routable request received</vt:lpstr>
      <vt:lpstr>Request routed to appropriate shard</vt:lpstr>
      <vt:lpstr>Shard returns results</vt:lpstr>
      <vt:lpstr>Mongos returns results to client</vt:lpstr>
      <vt:lpstr>Cluster Request Routing: Non-Targeted Query</vt:lpstr>
      <vt:lpstr>Non-Targeted Request Received</vt:lpstr>
      <vt:lpstr>Request sent to all shards</vt:lpstr>
      <vt:lpstr>Shards return results to mongos</vt:lpstr>
      <vt:lpstr>Mongos returns results to client</vt:lpstr>
      <vt:lpstr>Cluster Request Routing: Non-Targeted Query with Sort</vt:lpstr>
      <vt:lpstr>Non-Targeted request with sort received</vt:lpstr>
      <vt:lpstr>Request sent to all shards</vt:lpstr>
      <vt:lpstr>Query and sort performed locally</vt:lpstr>
      <vt:lpstr>Shards return results to mongos</vt:lpstr>
      <vt:lpstr>Mongos merges sorted results</vt:lpstr>
      <vt:lpstr>Mongos returns results to client</vt:lpstr>
      <vt:lpstr>Shard Key</vt:lpstr>
      <vt:lpstr>Shard Key</vt:lpstr>
      <vt:lpstr>Shard Key Cardinality</vt:lpstr>
      <vt:lpstr>Shard Key Frequency</vt:lpstr>
      <vt:lpstr>Monotonically Changing Shard Keys</vt:lpstr>
      <vt:lpstr>Notes to the presenter</vt:lpstr>
      <vt:lpstr>Example: Email Storage</vt:lpstr>
      <vt:lpstr>Example: Email Storage</vt:lpstr>
      <vt:lpstr>Example: Email Storage</vt:lpstr>
      <vt:lpstr>Example: Email Storage</vt:lpstr>
      <vt:lpstr>Example: Email Storage</vt:lpstr>
      <vt:lpstr>Example: Email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MongoDB Sharding</dc:title>
  <dc:creator>Quinn Snell</dc:creator>
  <cp:lastModifiedBy>Quinn Snell</cp:lastModifiedBy>
  <cp:revision>3</cp:revision>
  <dcterms:created xsi:type="dcterms:W3CDTF">2021-11-16T04:17:23Z</dcterms:created>
  <dcterms:modified xsi:type="dcterms:W3CDTF">2021-11-16T20:05:12Z</dcterms:modified>
</cp:coreProperties>
</file>