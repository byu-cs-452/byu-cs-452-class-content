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0"/>
  </p:notesMasterIdLst>
  <p:sldIdLst>
    <p:sldId id="400" r:id="rId2"/>
    <p:sldId id="399" r:id="rId3"/>
    <p:sldId id="401" r:id="rId4"/>
    <p:sldId id="402" r:id="rId5"/>
    <p:sldId id="403" r:id="rId6"/>
    <p:sldId id="404" r:id="rId7"/>
    <p:sldId id="405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392" r:id="rId20"/>
    <p:sldId id="393" r:id="rId21"/>
    <p:sldId id="394" r:id="rId22"/>
    <p:sldId id="395" r:id="rId23"/>
    <p:sldId id="272" r:id="rId24"/>
    <p:sldId id="397" r:id="rId25"/>
    <p:sldId id="398" r:id="rId26"/>
    <p:sldId id="286" r:id="rId27"/>
    <p:sldId id="287" r:id="rId28"/>
    <p:sldId id="288" r:id="rId29"/>
    <p:sldId id="290" r:id="rId30"/>
    <p:sldId id="291" r:id="rId31"/>
    <p:sldId id="292" r:id="rId32"/>
    <p:sldId id="293" r:id="rId33"/>
    <p:sldId id="302" r:id="rId34"/>
    <p:sldId id="406" r:id="rId35"/>
    <p:sldId id="298" r:id="rId36"/>
    <p:sldId id="304" r:id="rId37"/>
    <p:sldId id="389" r:id="rId38"/>
    <p:sldId id="390" r:id="rId39"/>
    <p:sldId id="391" r:id="rId40"/>
    <p:sldId id="407" r:id="rId41"/>
    <p:sldId id="300" r:id="rId42"/>
    <p:sldId id="301" r:id="rId43"/>
    <p:sldId id="305" r:id="rId44"/>
    <p:sldId id="307" r:id="rId45"/>
    <p:sldId id="308" r:id="rId46"/>
    <p:sldId id="315" r:id="rId47"/>
    <p:sldId id="316" r:id="rId48"/>
    <p:sldId id="31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4"/>
    <p:restoredTop sz="85918"/>
  </p:normalViewPr>
  <p:slideViewPr>
    <p:cSldViewPr snapToGrid="0" snapToObjects="1">
      <p:cViewPr varScale="1">
        <p:scale>
          <a:sx n="104" d="100"/>
          <a:sy n="104" d="100"/>
        </p:scale>
        <p:origin x="232" y="3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686BE-5348-9E4C-B5DF-C6F17847F68D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BE598-9299-8B4B-91ED-F9A52B2F8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2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BE2752E4-E24C-8C4F-B008-B00E23EC730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76FF2F49-7D6D-B549-942F-1E7818B72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38" tIns="47919" rIns="95838" bIns="47919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2E841D9-783E-C143-A281-EF587C796B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39040BEF-B41C-A74A-90D8-43D327DD3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38" tIns="47919" rIns="95838" bIns="47919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2E841D9-783E-C143-A281-EF587C796B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39040BEF-B41C-A74A-90D8-43D327DD3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38" tIns="47919" rIns="95838" bIns="47919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7581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arriving at home [1,0,4,1] is considered concurrent to ball arrives at first base [3,2,3,0] and batter arrives at first base [3,2,3,0]</a:t>
            </a:r>
          </a:p>
          <a:p>
            <a:r>
              <a:rPr lang="en-US" dirty="0"/>
              <a:t>Ball arrives at first </a:t>
            </a:r>
            <a:r>
              <a:rPr lang="en-US" dirty="0" err="1"/>
              <a:t>basee</a:t>
            </a:r>
            <a:r>
              <a:rPr lang="en-US" dirty="0"/>
              <a:t> [3,1,2,0] &lt;= Batter arriving at first [3,2,3,0] </a:t>
            </a:r>
          </a:p>
          <a:p>
            <a:r>
              <a:rPr lang="en-US" dirty="0"/>
              <a:t>So… It is unknown if the runner scores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EA577-B9CC-4948-9163-159B13FD45D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3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E35366-9ADD-EB4E-BBBA-F0C9011757AA}" type="datetimeFigureOut">
              <a:rPr lang="en-US" smtClean="0"/>
              <a:t>10/26/21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87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en.wikipedia.org/wiki/Associative_array" TargetMode="External"/><Relationship Id="rId7" Type="http://schemas.openxmlformats.org/officeDocument/2006/relationships/hyperlink" Target="https://en.wikipedia.org/wiki/Hash_function" TargetMode="External"/><Relationship Id="rId2" Type="http://schemas.openxmlformats.org/officeDocument/2006/relationships/hyperlink" Target="https://en.wikipedia.org/wiki/Data_struct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Value_(computer_science)" TargetMode="External"/><Relationship Id="rId5" Type="http://schemas.openxmlformats.org/officeDocument/2006/relationships/hyperlink" Target="https://en.wikipedia.org/wiki/Unique_key" TargetMode="External"/><Relationship Id="rId4" Type="http://schemas.openxmlformats.org/officeDocument/2006/relationships/hyperlink" Target="https://en.wikipedia.org/wiki/Abstract_data_typ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959B-7612-844D-BB8F-3594BFE9F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NoSQL -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BC36E-DE97-AB4B-9CA2-BB0E1336B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6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AC0C-1C8F-844B-88FF-36E99457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Background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61CF-BB77-8E45-9759-6C282EDD9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  <a:p>
            <a:pPr lvl="1"/>
            <a:r>
              <a:rPr lang="en-US" dirty="0"/>
              <a:t>Master-Worker</a:t>
            </a:r>
          </a:p>
          <a:p>
            <a:pPr lvl="1"/>
            <a:r>
              <a:rPr lang="en-US" dirty="0"/>
              <a:t>Fully distributed/Peer-to-peer</a:t>
            </a:r>
          </a:p>
          <a:p>
            <a:r>
              <a:rPr lang="en-US" dirty="0"/>
              <a:t>Data Distribution</a:t>
            </a:r>
          </a:p>
          <a:p>
            <a:pPr lvl="1"/>
            <a:r>
              <a:rPr lang="en-US" dirty="0"/>
              <a:t>Hashing</a:t>
            </a:r>
          </a:p>
          <a:p>
            <a:pPr lvl="1"/>
            <a:r>
              <a:rPr lang="en-US" dirty="0" err="1"/>
              <a:t>Sharding</a:t>
            </a:r>
            <a:endParaRPr lang="en-US" dirty="0"/>
          </a:p>
          <a:p>
            <a:r>
              <a:rPr lang="en-US" dirty="0"/>
              <a:t>Data Replication</a:t>
            </a:r>
          </a:p>
          <a:p>
            <a:pPr lvl="1"/>
            <a:r>
              <a:rPr lang="en-US" dirty="0"/>
              <a:t>Hashing</a:t>
            </a:r>
          </a:p>
          <a:p>
            <a:pPr lvl="1"/>
            <a:r>
              <a:rPr lang="en-US" dirty="0"/>
              <a:t>Mirroring</a:t>
            </a:r>
          </a:p>
          <a:p>
            <a:r>
              <a:rPr lang="en-US" dirty="0"/>
              <a:t>Time &amp; Consistency Management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Data distribution in mongos with shards or replica sets - Database  Administrators Stack Exchange">
            <a:extLst>
              <a:ext uri="{FF2B5EF4-FFF2-40B4-BE49-F238E27FC236}">
                <a16:creationId xmlns:a16="http://schemas.microsoft.com/office/drawing/2014/main" id="{DA77E0C8-08A6-8142-8A6D-07BB94898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733" y="3429000"/>
            <a:ext cx="4449977" cy="283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91CD71-36AB-244E-8667-40FD3518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8C6F-55D1-C241-9937-0E9060E3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Master-Worker vs. Fully Distributed</a:t>
            </a:r>
          </a:p>
          <a:p>
            <a:r>
              <a:rPr lang="en-US" dirty="0"/>
              <a:t>How does the architecture affect</a:t>
            </a:r>
          </a:p>
          <a:p>
            <a:pPr lvl="1"/>
            <a:r>
              <a:rPr lang="en-US" dirty="0"/>
              <a:t>Access</a:t>
            </a:r>
          </a:p>
          <a:p>
            <a:pPr lvl="1"/>
            <a:r>
              <a:rPr lang="en-US" dirty="0"/>
              <a:t>Fault-tolerance</a:t>
            </a:r>
          </a:p>
          <a:p>
            <a:pPr lvl="1"/>
            <a:r>
              <a:rPr lang="en-US" dirty="0"/>
              <a:t>Consistency Management</a:t>
            </a:r>
          </a:p>
          <a:p>
            <a:pPr lvl="1"/>
            <a:r>
              <a:rPr lang="en-US" dirty="0"/>
              <a:t>Replication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44036" name="Picture 4" descr="Multiple datacenter write requests | DSE 6.0 Arch guide">
            <a:extLst>
              <a:ext uri="{FF2B5EF4-FFF2-40B4-BE49-F238E27FC236}">
                <a16:creationId xmlns:a16="http://schemas.microsoft.com/office/drawing/2014/main" id="{564F9EF7-4704-3942-A3FF-48C0B696A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965" y="1420662"/>
            <a:ext cx="3427970" cy="444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D074E0-FB23-DE4C-9D57-FE2FBF46E03D}"/>
              </a:ext>
            </a:extLst>
          </p:cNvPr>
          <p:cNvSpPr txBox="1"/>
          <p:nvPr/>
        </p:nvSpPr>
        <p:spPr>
          <a:xfrm>
            <a:off x="8587946" y="827903"/>
            <a:ext cx="815546" cy="27699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438B8F-2F60-3447-9D37-CC701E3D3317}"/>
              </a:ext>
            </a:extLst>
          </p:cNvPr>
          <p:cNvCxnSpPr/>
          <p:nvPr/>
        </p:nvCxnSpPr>
        <p:spPr>
          <a:xfrm>
            <a:off x="9403492" y="1104902"/>
            <a:ext cx="565456" cy="54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86635A-1C53-4047-998B-254D5721E329}"/>
              </a:ext>
            </a:extLst>
          </p:cNvPr>
          <p:cNvCxnSpPr/>
          <p:nvPr/>
        </p:nvCxnSpPr>
        <p:spPr>
          <a:xfrm flipH="1" flipV="1">
            <a:off x="9501809" y="1104902"/>
            <a:ext cx="546652" cy="505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0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ontent Hashing Example 5">
            <a:extLst>
              <a:ext uri="{FF2B5EF4-FFF2-40B4-BE49-F238E27FC236}">
                <a16:creationId xmlns:a16="http://schemas.microsoft.com/office/drawing/2014/main" id="{982F1D0D-C734-294B-823F-27138768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17" y="1315994"/>
            <a:ext cx="5778483" cy="42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6375C0-6CFD-F848-BA5E-286CB867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2057-96B7-7B42-B2A1-A4E30225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Sharding</a:t>
            </a:r>
            <a:r>
              <a:rPr lang="en-US" dirty="0"/>
              <a:t> vs Hashing</a:t>
            </a:r>
          </a:p>
          <a:p>
            <a:pPr lvl="1"/>
            <a:r>
              <a:rPr lang="en-US" dirty="0"/>
              <a:t>Vertical (rows) and Horizontal (columns) </a:t>
            </a:r>
            <a:r>
              <a:rPr lang="en-US" dirty="0" err="1"/>
              <a:t>sharding</a:t>
            </a:r>
            <a:endParaRPr lang="en-US" dirty="0"/>
          </a:p>
          <a:p>
            <a:pPr lvl="1"/>
            <a:r>
              <a:rPr lang="en-US" dirty="0"/>
              <a:t>Hash to a location</a:t>
            </a:r>
          </a:p>
          <a:p>
            <a:endParaRPr lang="en-US" dirty="0"/>
          </a:p>
        </p:txBody>
      </p:sp>
      <p:pic>
        <p:nvPicPr>
          <p:cNvPr id="4" name="Picture 4" descr="Understanding Database Sharding | DigitalOcean">
            <a:extLst>
              <a:ext uri="{FF2B5EF4-FFF2-40B4-BE49-F238E27FC236}">
                <a16:creationId xmlns:a16="http://schemas.microsoft.com/office/drawing/2014/main" id="{4EB909ED-C227-0741-A2B6-7EAE4B11A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040" y="2835071"/>
            <a:ext cx="4328010" cy="314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39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1A29-3877-3049-B4B2-4770872A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D25F-0623-5C44-AFB2-96DD4BFD1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hash to map data to a node</a:t>
            </a:r>
          </a:p>
          <a:p>
            <a:pPr lvl="1"/>
            <a:r>
              <a:rPr lang="en-US" dirty="0"/>
              <a:t>Use the same hash for replicates, but advance around the ring</a:t>
            </a:r>
          </a:p>
          <a:p>
            <a:pPr lvl="1"/>
            <a:r>
              <a:rPr lang="en-US" dirty="0"/>
              <a:t>Use a different hash</a:t>
            </a:r>
          </a:p>
          <a:p>
            <a:r>
              <a:rPr lang="en-US" dirty="0"/>
              <a:t>Mirroring</a:t>
            </a:r>
          </a:p>
          <a:p>
            <a:pPr lvl="1"/>
            <a:r>
              <a:rPr lang="en-US" dirty="0"/>
              <a:t>Duplicate data on another node</a:t>
            </a:r>
          </a:p>
          <a:p>
            <a:pPr lvl="1"/>
            <a:r>
              <a:rPr lang="en-US" dirty="0"/>
              <a:t>Is the mirror part of the cluster or just a dedicated mirror</a:t>
            </a:r>
          </a:p>
          <a:p>
            <a:r>
              <a:rPr lang="en-US" dirty="0"/>
              <a:t>Random replication</a:t>
            </a:r>
          </a:p>
          <a:p>
            <a:pPr lvl="1"/>
            <a:r>
              <a:rPr lang="en-US" dirty="0"/>
              <a:t>HDFS</a:t>
            </a:r>
          </a:p>
          <a:p>
            <a:pPr lvl="1"/>
            <a:r>
              <a:rPr lang="en-US" dirty="0"/>
              <a:t>System must know how to map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39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4030-ABD9-C146-BFCF-9138066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Consistency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9CDD-E2EC-6F48-BDEB-EFBF41B8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Timestamps for writes, reads, transactions</a:t>
            </a:r>
          </a:p>
          <a:p>
            <a:r>
              <a:rPr lang="en-US" dirty="0"/>
              <a:t>Real timestamps</a:t>
            </a:r>
          </a:p>
          <a:p>
            <a:pPr lvl="1"/>
            <a:r>
              <a:rPr lang="en-US" dirty="0"/>
              <a:t>Clock skew</a:t>
            </a:r>
          </a:p>
          <a:p>
            <a:r>
              <a:rPr lang="en-US" dirty="0"/>
              <a:t>Logical timestamps</a:t>
            </a:r>
          </a:p>
          <a:p>
            <a:pPr lvl="1"/>
            <a:r>
              <a:rPr lang="en-US" dirty="0"/>
              <a:t>Ordering?</a:t>
            </a:r>
          </a:p>
          <a:p>
            <a:pPr lvl="1"/>
            <a:r>
              <a:rPr lang="en-US" dirty="0"/>
              <a:t>Causality</a:t>
            </a:r>
          </a:p>
          <a:p>
            <a:r>
              <a:rPr lang="en-US" dirty="0"/>
              <a:t>Data Consistency</a:t>
            </a:r>
          </a:p>
          <a:p>
            <a:pPr lvl="1"/>
            <a:r>
              <a:rPr lang="en-US" dirty="0"/>
              <a:t>Managed by the system</a:t>
            </a:r>
          </a:p>
          <a:p>
            <a:pPr lvl="1"/>
            <a:r>
              <a:rPr lang="en-US" dirty="0"/>
              <a:t>Managed by the application</a:t>
            </a:r>
          </a:p>
        </p:txBody>
      </p:sp>
      <p:pic>
        <p:nvPicPr>
          <p:cNvPr id="46082" name="Picture 2" descr="Vector Clocks &amp;amp; Conﬂict Detection NoSQL Databases">
            <a:extLst>
              <a:ext uri="{FF2B5EF4-FFF2-40B4-BE49-F238E27FC236}">
                <a16:creationId xmlns:a16="http://schemas.microsoft.com/office/drawing/2014/main" id="{2DF963A9-7731-0D4F-9A6A-14084C661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" t="19638" r="34098" b="19820"/>
          <a:stretch/>
        </p:blipFill>
        <p:spPr bwMode="auto">
          <a:xfrm>
            <a:off x="6005383" y="2137719"/>
            <a:ext cx="5894173" cy="415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30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AEA5-2328-AD44-8B23-301ED2B6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8CA9-98B1-CF4B-A2C8-9B98984EF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consider these topics for all the systems we look at the rest of the semester</a:t>
            </a:r>
          </a:p>
          <a:p>
            <a:endParaRPr lang="en-US" dirty="0"/>
          </a:p>
          <a:p>
            <a:r>
              <a:rPr lang="en-US" dirty="0"/>
              <a:t>Two of the topics need more explanation</a:t>
            </a:r>
          </a:p>
          <a:p>
            <a:pPr lvl="1"/>
            <a:r>
              <a:rPr lang="en-US" dirty="0"/>
              <a:t>Hashing – Consistent Hashing</a:t>
            </a:r>
          </a:p>
          <a:p>
            <a:pPr lvl="1"/>
            <a:r>
              <a:rPr lang="en-US" dirty="0"/>
              <a:t>Distributed Time</a:t>
            </a:r>
          </a:p>
        </p:txBody>
      </p:sp>
    </p:spTree>
    <p:extLst>
      <p:ext uri="{BB962C8B-B14F-4D97-AF65-F5344CB8AC3E}">
        <p14:creationId xmlns:p14="http://schemas.microsoft.com/office/powerpoint/2010/main" val="631260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B2E9-33D7-8D4A-BEFD-0ABDD470B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Consistent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8ABAF-2366-514B-B537-A54DB5448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6F9F-2E55-AC46-81C2-20B09DA8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DD2A6-52B2-C741-A333-ED9442D6E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2859" cy="4351338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hash table</a:t>
            </a:r>
            <a:r>
              <a:rPr lang="en-US" dirty="0"/>
              <a:t> (</a:t>
            </a:r>
            <a:r>
              <a:rPr lang="en-US" b="1" dirty="0"/>
              <a:t>hash map</a:t>
            </a:r>
            <a:r>
              <a:rPr lang="en-US" dirty="0"/>
              <a:t>) is a </a:t>
            </a:r>
            <a:r>
              <a:rPr lang="en-US" dirty="0">
                <a:hlinkClick r:id="rId2" tooltip="Data structure"/>
              </a:rPr>
              <a:t>data structure</a:t>
            </a:r>
            <a:r>
              <a:rPr lang="en-US" dirty="0"/>
              <a:t> that implements an </a:t>
            </a:r>
            <a:r>
              <a:rPr lang="en-US" dirty="0">
                <a:hlinkClick r:id="rId3" tooltip="Associative array"/>
              </a:rPr>
              <a:t>associative array</a:t>
            </a:r>
            <a:r>
              <a:rPr lang="en-US" dirty="0"/>
              <a:t> </a:t>
            </a:r>
            <a:r>
              <a:rPr lang="en-US" dirty="0">
                <a:hlinkClick r:id="rId4" tooltip="Abstract data type"/>
              </a:rPr>
              <a:t>abstract data type</a:t>
            </a:r>
            <a:r>
              <a:rPr lang="en-US" dirty="0"/>
              <a:t>, a structure that can map </a:t>
            </a:r>
            <a:r>
              <a:rPr lang="en-US" dirty="0">
                <a:hlinkClick r:id="rId5" tooltip="Unique key"/>
              </a:rPr>
              <a:t>keys</a:t>
            </a:r>
            <a:r>
              <a:rPr lang="en-US" dirty="0"/>
              <a:t> to </a:t>
            </a:r>
            <a:r>
              <a:rPr lang="en-US" dirty="0">
                <a:hlinkClick r:id="rId6" tooltip="Value (computer science)"/>
              </a:rPr>
              <a:t>values</a:t>
            </a:r>
            <a:r>
              <a:rPr lang="en-US" dirty="0"/>
              <a:t>. A hash table uses a </a:t>
            </a:r>
            <a:r>
              <a:rPr lang="en-US" dirty="0">
                <a:hlinkClick r:id="rId7" tooltip="Hash function"/>
              </a:rPr>
              <a:t>hash function</a:t>
            </a:r>
            <a:r>
              <a:rPr lang="en-US" dirty="0"/>
              <a:t> to compute an </a:t>
            </a:r>
            <a:r>
              <a:rPr lang="en-US" i="1" dirty="0"/>
              <a:t>index</a:t>
            </a:r>
            <a:r>
              <a:rPr lang="en-US" dirty="0"/>
              <a:t>, also called a </a:t>
            </a:r>
            <a:r>
              <a:rPr lang="en-US" i="1" dirty="0"/>
              <a:t>hash code</a:t>
            </a:r>
            <a:r>
              <a:rPr lang="en-US" dirty="0"/>
              <a:t>, into an array of </a:t>
            </a:r>
            <a:r>
              <a:rPr lang="en-US" i="1" dirty="0"/>
              <a:t>buckets</a:t>
            </a:r>
            <a:r>
              <a:rPr lang="en-US" dirty="0"/>
              <a:t> or </a:t>
            </a:r>
            <a:r>
              <a:rPr lang="en-US" i="1" dirty="0"/>
              <a:t>slots</a:t>
            </a:r>
            <a:r>
              <a:rPr lang="en-US" dirty="0"/>
              <a:t>, from which the desired value can be found. During lookup, the key is hashed and the resulting hash indicates where the corresponding value is stored.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5621A5-5A16-234D-9C8A-64195FA71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291" y="1825625"/>
            <a:ext cx="4606304" cy="33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93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72F3-3AA3-D34E-AEA3-9C0E6C0D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19CD-D95E-C144-971A-E0055CAC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 key-value pairs across an array of buckets</a:t>
            </a:r>
          </a:p>
          <a:p>
            <a:endParaRPr lang="en-US" dirty="0"/>
          </a:p>
          <a:p>
            <a:r>
              <a:rPr lang="en-US" dirty="0"/>
              <a:t>Index = f(key, </a:t>
            </a:r>
            <a:r>
              <a:rPr lang="en-US" dirty="0" err="1"/>
              <a:t>array_size</a:t>
            </a:r>
            <a:r>
              <a:rPr lang="en-US" dirty="0"/>
              <a:t>)   or,</a:t>
            </a:r>
          </a:p>
          <a:p>
            <a:r>
              <a:rPr lang="en-US" dirty="0"/>
              <a:t>Hash = </a:t>
            </a:r>
            <a:r>
              <a:rPr lang="en-US" dirty="0" err="1"/>
              <a:t>hashfunc</a:t>
            </a:r>
            <a:r>
              <a:rPr lang="en-US" dirty="0"/>
              <a:t>(key)</a:t>
            </a:r>
          </a:p>
          <a:p>
            <a:r>
              <a:rPr lang="en-US" dirty="0"/>
              <a:t>Index = hash % </a:t>
            </a:r>
            <a:r>
              <a:rPr lang="en-US" dirty="0" err="1"/>
              <a:t>array_size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Needs to have a uniform distribution</a:t>
            </a:r>
          </a:p>
          <a:p>
            <a:pPr lvl="1"/>
            <a:r>
              <a:rPr lang="en-US" dirty="0"/>
              <a:t>Particularly for your data</a:t>
            </a:r>
          </a:p>
          <a:p>
            <a:pPr lvl="1"/>
            <a:r>
              <a:rPr lang="en-US" dirty="0"/>
              <a:t>Avoid hotspots</a:t>
            </a:r>
          </a:p>
        </p:txBody>
      </p:sp>
    </p:spTree>
    <p:extLst>
      <p:ext uri="{BB962C8B-B14F-4D97-AF65-F5344CB8AC3E}">
        <p14:creationId xmlns:p14="http://schemas.microsoft.com/office/powerpoint/2010/main" val="3444819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D325A-6DE7-8347-BE62-B543CB8C6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5076" cy="4351338"/>
          </a:xfrm>
        </p:spPr>
        <p:txBody>
          <a:bodyPr/>
          <a:lstStyle/>
          <a:p>
            <a:r>
              <a:rPr lang="en-US" dirty="0"/>
              <a:t>MD5</a:t>
            </a:r>
          </a:p>
          <a:p>
            <a:r>
              <a:rPr lang="en-US" dirty="0"/>
              <a:t>SHA-1</a:t>
            </a:r>
          </a:p>
          <a:p>
            <a:r>
              <a:rPr lang="en-US" dirty="0"/>
              <a:t>CRC-32</a:t>
            </a:r>
          </a:p>
          <a:p>
            <a:r>
              <a:rPr lang="en-US" dirty="0"/>
              <a:t>Salsa</a:t>
            </a:r>
          </a:p>
          <a:p>
            <a:r>
              <a:rPr lang="en-US" dirty="0"/>
              <a:t>Spooky</a:t>
            </a:r>
          </a:p>
          <a:p>
            <a:r>
              <a:rPr lang="en-US" dirty="0"/>
              <a:t>Many others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297921-0BD2-F24F-A7F2-8C43B909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2F0F0F02-3C1C-2946-8803-B917BEFB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256" y="365964"/>
            <a:ext cx="4879464" cy="581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3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718B-AF0E-BA44-950A-5A9BF420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Hashing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1FBF5039-C697-704D-B214-02E8CF01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9576"/>
            <a:ext cx="80264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5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6435-5E51-F546-B06D-94F5AB96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4E9F-F7AC-5044-8990-921E68B0B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5281" cy="4351338"/>
          </a:xfrm>
        </p:spPr>
        <p:txBody>
          <a:bodyPr/>
          <a:lstStyle/>
          <a:p>
            <a:r>
              <a:rPr lang="en-US" dirty="0"/>
              <a:t>Simplest way is to use mod or div operator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when a node dies?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2514DE4-5C03-6B4E-B970-481925E7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031" y="2162353"/>
            <a:ext cx="33401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2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AAD2-691B-E749-8A97-1359D7BC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B211-B011-994D-90D9-E44164779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want to depend on the number of servers</a:t>
            </a:r>
          </a:p>
          <a:p>
            <a:pPr lvl="1"/>
            <a:r>
              <a:rPr lang="en-US" dirty="0"/>
              <a:t>Key location and server mapped virtually</a:t>
            </a:r>
          </a:p>
        </p:txBody>
      </p:sp>
      <p:pic>
        <p:nvPicPr>
          <p:cNvPr id="3074" name="Picture 2" descr="Consistent Hashing Example: Servers">
            <a:extLst>
              <a:ext uri="{FF2B5EF4-FFF2-40B4-BE49-F238E27FC236}">
                <a16:creationId xmlns:a16="http://schemas.microsoft.com/office/drawing/2014/main" id="{BE57B6FE-B158-6D4A-827C-F2B7D4EFB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45" y="2703838"/>
            <a:ext cx="5062710" cy="370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nsistent Hashing Example: Objects">
            <a:extLst>
              <a:ext uri="{FF2B5EF4-FFF2-40B4-BE49-F238E27FC236}">
                <a16:creationId xmlns:a16="http://schemas.microsoft.com/office/drawing/2014/main" id="{8A6251DD-5551-AC4C-81ED-8BF454C2A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089" y="2703838"/>
            <a:ext cx="5062711" cy="370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133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ntent Hashing Example 5">
            <a:extLst>
              <a:ext uri="{FF2B5EF4-FFF2-40B4-BE49-F238E27FC236}">
                <a16:creationId xmlns:a16="http://schemas.microsoft.com/office/drawing/2014/main" id="{F8D2F723-D291-3441-B14F-CF3F6B4F8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5" t="5186" r="17763" b="7770"/>
          <a:stretch/>
        </p:blipFill>
        <p:spPr bwMode="auto">
          <a:xfrm>
            <a:off x="6284842" y="1282148"/>
            <a:ext cx="5068958" cy="474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4C781D-199B-B544-9D3E-1F970C12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7937-E765-B04C-A978-0F59E29F0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8036" cy="4351338"/>
          </a:xfrm>
        </p:spPr>
        <p:txBody>
          <a:bodyPr/>
          <a:lstStyle/>
          <a:p>
            <a:r>
              <a:rPr lang="en-US" dirty="0"/>
              <a:t>Can lead to hotspots and load imbalance</a:t>
            </a:r>
          </a:p>
          <a:p>
            <a:r>
              <a:rPr lang="en-US" dirty="0"/>
              <a:t>Solution</a:t>
            </a:r>
          </a:p>
          <a:p>
            <a:pPr lvl="1"/>
            <a:r>
              <a:rPr lang="en-US" dirty="0"/>
              <a:t>Virtual Nodes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Replication</a:t>
            </a:r>
          </a:p>
          <a:p>
            <a:pPr lvl="1"/>
            <a:r>
              <a:rPr lang="en-US" dirty="0"/>
              <a:t>Use another hash function</a:t>
            </a:r>
          </a:p>
          <a:p>
            <a:pPr lvl="1"/>
            <a:r>
              <a:rPr lang="en-US" dirty="0"/>
              <a:t>Replicate around the ring to next real nodes</a:t>
            </a:r>
          </a:p>
        </p:txBody>
      </p:sp>
    </p:spTree>
    <p:extLst>
      <p:ext uri="{BB962C8B-B14F-4D97-AF65-F5344CB8AC3E}">
        <p14:creationId xmlns:p14="http://schemas.microsoft.com/office/powerpoint/2010/main" val="223142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832F-4300-6748-A60C-E8724DA1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Hashing – Node failure</a:t>
            </a:r>
          </a:p>
        </p:txBody>
      </p:sp>
      <p:pic>
        <p:nvPicPr>
          <p:cNvPr id="5122" name="Picture 2" descr="Content Hashing Example 5">
            <a:extLst>
              <a:ext uri="{FF2B5EF4-FFF2-40B4-BE49-F238E27FC236}">
                <a16:creationId xmlns:a16="http://schemas.microsoft.com/office/drawing/2014/main" id="{2BCFDDD4-7303-D948-BC6F-851B1FA3C6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77" y="1857542"/>
            <a:ext cx="5961920" cy="43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C6CAAC-B36D-CD43-AA5E-CAFED2AE73C8}"/>
              </a:ext>
            </a:extLst>
          </p:cNvPr>
          <p:cNvSpPr txBox="1"/>
          <p:nvPr/>
        </p:nvSpPr>
        <p:spPr>
          <a:xfrm>
            <a:off x="1099752" y="2026508"/>
            <a:ext cx="354526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C fails</a:t>
            </a:r>
          </a:p>
          <a:p>
            <a:endParaRPr lang="en-US" dirty="0"/>
          </a:p>
          <a:p>
            <a:r>
              <a:rPr lang="en-US" dirty="0"/>
              <a:t>Remap where the data goes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a request for data arrives</a:t>
            </a:r>
          </a:p>
          <a:p>
            <a:r>
              <a:rPr lang="en-US" dirty="0"/>
              <a:t>	If not present, look to replicate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807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32E6-EBED-7244-93FA-D9A6DEFEA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Hashing – Node Addition</a:t>
            </a:r>
          </a:p>
        </p:txBody>
      </p:sp>
      <p:pic>
        <p:nvPicPr>
          <p:cNvPr id="6146" name="Picture 2" descr="Consistent Hashing Example 7">
            <a:extLst>
              <a:ext uri="{FF2B5EF4-FFF2-40B4-BE49-F238E27FC236}">
                <a16:creationId xmlns:a16="http://schemas.microsoft.com/office/drawing/2014/main" id="{FA3BEF4F-1ED5-AB4A-8125-C5529CA0B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130" y="1871003"/>
            <a:ext cx="5907157" cy="432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83E9A-4F40-C64A-87D1-C5106FE8B93C}"/>
              </a:ext>
            </a:extLst>
          </p:cNvPr>
          <p:cNvSpPr txBox="1"/>
          <p:nvPr/>
        </p:nvSpPr>
        <p:spPr>
          <a:xfrm>
            <a:off x="988541" y="2162432"/>
            <a:ext cx="36487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Node D</a:t>
            </a:r>
          </a:p>
          <a:p>
            <a:r>
              <a:rPr lang="en-US" dirty="0"/>
              <a:t>	Just hash it into the ring</a:t>
            </a:r>
          </a:p>
          <a:p>
            <a:r>
              <a:rPr lang="en-US" dirty="0"/>
              <a:t>	remap and redistribute the data</a:t>
            </a:r>
          </a:p>
          <a:p>
            <a:endParaRPr lang="en-US" dirty="0"/>
          </a:p>
          <a:p>
            <a:r>
              <a:rPr lang="en-US" dirty="0"/>
              <a:t>Can be done on the fly</a:t>
            </a:r>
          </a:p>
        </p:txBody>
      </p:sp>
    </p:spTree>
    <p:extLst>
      <p:ext uri="{BB962C8B-B14F-4D97-AF65-F5344CB8AC3E}">
        <p14:creationId xmlns:p14="http://schemas.microsoft.com/office/powerpoint/2010/main" val="3977052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8159F27-7930-AC43-9AA3-72FF87E97D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and synchronization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EAD87F0-E7DD-C048-998A-9CE9B44C89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(“There’s never enough time…”)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D777F1B-E151-FF4C-831F-2374F41E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4864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Problem!</a:t>
            </a:r>
          </a:p>
        </p:txBody>
      </p:sp>
      <p:pic>
        <p:nvPicPr>
          <p:cNvPr id="4" name="Picture 2" descr="C:\Program Files (x86)\Microsoft Office\MEDIA\CAGCAT10\j0285750.wmf">
            <a:extLst>
              <a:ext uri="{FF2B5EF4-FFF2-40B4-BE49-F238E27FC236}">
                <a16:creationId xmlns:a16="http://schemas.microsoft.com/office/drawing/2014/main" id="{233B9641-DBE9-C24B-809E-BF9AFB575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6" y="4598988"/>
            <a:ext cx="14065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 (x86)\Microsoft Office\MEDIA\CAGCAT10\j0285750.wmf">
            <a:extLst>
              <a:ext uri="{FF2B5EF4-FFF2-40B4-BE49-F238E27FC236}">
                <a16:creationId xmlns:a16="http://schemas.microsoft.com/office/drawing/2014/main" id="{09D018D9-38E1-2E4D-AEB4-D8DDE12E5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4662488"/>
            <a:ext cx="14065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C:\Users\Zenome\AppData\Local\Microsoft\Windows\Temporary Internet Files\Content.IE5\ED4E6FWI\MC900312664[1].wmf">
            <a:extLst>
              <a:ext uri="{FF2B5EF4-FFF2-40B4-BE49-F238E27FC236}">
                <a16:creationId xmlns:a16="http://schemas.microsoft.com/office/drawing/2014/main" id="{706B064D-922E-3A43-9821-1D4B7BABD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2192339"/>
            <a:ext cx="1435100" cy="11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397D73-5659-8C4F-B368-1B483492201A}"/>
              </a:ext>
            </a:extLst>
          </p:cNvPr>
          <p:cNvCxnSpPr/>
          <p:nvPr/>
        </p:nvCxnSpPr>
        <p:spPr>
          <a:xfrm rot="5400000" flipH="1" flipV="1">
            <a:off x="2873376" y="3549651"/>
            <a:ext cx="1393825" cy="9588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D4187B-B527-2B43-B459-9E969B1DFCD4}"/>
              </a:ext>
            </a:extLst>
          </p:cNvPr>
          <p:cNvCxnSpPr/>
          <p:nvPr/>
        </p:nvCxnSpPr>
        <p:spPr>
          <a:xfrm rot="16200000" flipV="1">
            <a:off x="4565651" y="3406776"/>
            <a:ext cx="1330325" cy="11811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A13D1E-7C1D-FD48-AF63-E359320F3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57400"/>
            <a:ext cx="2139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Book Antiqua" panose="02040602050305030304" pitchFamily="18" charset="0"/>
              </a:rPr>
              <a:t>A common ‘Resource’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D1C38-F73B-864D-A9B5-2227B0A0F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6" y="5549900"/>
            <a:ext cx="1033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Book Antiqua" panose="02040602050305030304" pitchFamily="18" charset="0"/>
              </a:rPr>
              <a:t>Node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67F50-A002-054D-BFB6-1F7C31B44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725" y="5495925"/>
            <a:ext cx="865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Book Antiqua" panose="02040602050305030304" pitchFamily="18" charset="0"/>
              </a:rPr>
              <a:t>Node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F7B1DA-65C9-494A-BCA4-63733756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3849689"/>
            <a:ext cx="1181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Book Antiqua" panose="02040602050305030304" pitchFamily="18" charset="0"/>
              </a:rPr>
              <a:t>request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E1749-5012-9448-8E14-FE40972AC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0813" y="3786189"/>
            <a:ext cx="1179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Book Antiqua" panose="02040602050305030304" pitchFamily="18" charset="0"/>
              </a:rPr>
              <a:t>request B</a:t>
            </a:r>
            <a:endParaRPr lang="en-US" altLang="en-US">
              <a:latin typeface="Book Antiqua" panose="0204060205030503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5F757A-5BEA-C540-BFA7-EF67E29DB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1" y="5916614"/>
            <a:ext cx="3249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Book Antiqua" panose="02040602050305030304" pitchFamily="18" charset="0"/>
              </a:rPr>
              <a:t>A Distributed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20F4C2-E6CD-BE41-AFD4-73113F71EF4B}"/>
              </a:ext>
            </a:extLst>
          </p:cNvPr>
          <p:cNvSpPr txBox="1"/>
          <p:nvPr/>
        </p:nvSpPr>
        <p:spPr>
          <a:xfrm>
            <a:off x="5715000" y="1752600"/>
            <a:ext cx="4800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 WHICH REQUEST WAS MADE FIRST?</a:t>
            </a:r>
          </a:p>
        </p:txBody>
      </p:sp>
      <p:pic>
        <p:nvPicPr>
          <p:cNvPr id="2053" name="Picture 5" descr="C:\Users\Zenome\AppData\Local\Microsoft\Windows\Temporary Internet Files\Content.IE5\0IBJ9H6V\MC900383550[1].wmf">
            <a:extLst>
              <a:ext uri="{FF2B5EF4-FFF2-40B4-BE49-F238E27FC236}">
                <a16:creationId xmlns:a16="http://schemas.microsoft.com/office/drawing/2014/main" id="{27F56A09-359F-CB4F-9C21-40F7FBBCF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0" r="31351" b="75060"/>
          <a:stretch>
            <a:fillRect/>
          </a:stretch>
        </p:blipFill>
        <p:spPr bwMode="auto">
          <a:xfrm>
            <a:off x="3810000" y="13716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2A5118F-0FA4-BA4C-A830-1800DB7E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09F1D2-244A-E141-9154-CB314E36AE68}" type="slidenum">
              <a:rPr lang="en-US" altLang="en-US">
                <a:solidFill>
                  <a:srgbClr val="E3E1D7"/>
                </a:solidFill>
                <a:latin typeface="Book Antiqua" panose="02040602050305030304" pitchFamily="18" charset="0"/>
              </a:rPr>
              <a:pPr eaLnBrk="1" hangingPunct="1"/>
              <a:t>19</a:t>
            </a:fld>
            <a:endParaRPr lang="en-US" altLang="en-US">
              <a:solidFill>
                <a:srgbClr val="E3E1D7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02B6106-F766-2241-B55C-12BFA83A2567}"/>
              </a:ext>
            </a:extLst>
          </p:cNvPr>
          <p:cNvSpPr txBox="1"/>
          <p:nvPr/>
        </p:nvSpPr>
        <p:spPr>
          <a:xfrm>
            <a:off x="7391400" y="2297114"/>
            <a:ext cx="21336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</a:p>
        </p:txBody>
      </p:sp>
      <p:pic>
        <p:nvPicPr>
          <p:cNvPr id="12291" name="Picture 2" descr="C:\Users\Zenome\AppData\Local\Microsoft\Windows\Temporary Internet Files\Content.IE5\LZME78KG\MC900383884[1].wmf">
            <a:extLst>
              <a:ext uri="{FF2B5EF4-FFF2-40B4-BE49-F238E27FC236}">
                <a16:creationId xmlns:a16="http://schemas.microsoft.com/office/drawing/2014/main" id="{9A8C1C03-92A5-1A4D-9E2D-8D2924CFC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1" y="2667000"/>
            <a:ext cx="18192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17">
            <a:extLst>
              <a:ext uri="{FF2B5EF4-FFF2-40B4-BE49-F238E27FC236}">
                <a16:creationId xmlns:a16="http://schemas.microsoft.com/office/drawing/2014/main" id="{F930009C-8F0C-F747-8AED-02B5686A3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583114"/>
            <a:ext cx="251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Book Antiqua" panose="02040602050305030304" pitchFamily="18" charset="0"/>
              </a:rPr>
              <a:t>A Global Clock  ??</a:t>
            </a:r>
          </a:p>
        </p:txBody>
      </p:sp>
      <p:sp>
        <p:nvSpPr>
          <p:cNvPr id="12293" name="TextBox 18">
            <a:extLst>
              <a:ext uri="{FF2B5EF4-FFF2-40B4-BE49-F238E27FC236}">
                <a16:creationId xmlns:a16="http://schemas.microsoft.com/office/drawing/2014/main" id="{B135AD43-2473-5E4D-85F8-ED3254CD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040314"/>
            <a:ext cx="2438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latin typeface="Book Antiqua" panose="02040602050305030304" pitchFamily="18" charset="0"/>
              </a:rPr>
              <a:t>Global Synchronization?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E4626FCA-541A-1942-BECA-F99EFAE1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4864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Problem!</a:t>
            </a:r>
          </a:p>
        </p:txBody>
      </p:sp>
      <p:grpSp>
        <p:nvGrpSpPr>
          <p:cNvPr id="12295" name="Group 24">
            <a:extLst>
              <a:ext uri="{FF2B5EF4-FFF2-40B4-BE49-F238E27FC236}">
                <a16:creationId xmlns:a16="http://schemas.microsoft.com/office/drawing/2014/main" id="{A76BEC63-2ACF-1348-A81F-2254F1EC38D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057400"/>
            <a:ext cx="4800600" cy="4320824"/>
            <a:chOff x="1066800" y="1828800"/>
            <a:chExt cx="4953000" cy="4888658"/>
          </a:xfrm>
        </p:grpSpPr>
        <p:pic>
          <p:nvPicPr>
            <p:cNvPr id="12299" name="Picture 2" descr="C:\Program Files (x86)\Microsoft Office\MEDIA\CAGCAT10\j0285750.wmf">
              <a:extLst>
                <a:ext uri="{FF2B5EF4-FFF2-40B4-BE49-F238E27FC236}">
                  <a16:creationId xmlns:a16="http://schemas.microsoft.com/office/drawing/2014/main" id="{58C1C64D-1D21-7A4C-A920-C1F019B3A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861" y="4705026"/>
              <a:ext cx="1450939" cy="83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0" name="Picture 3" descr="C:\Program Files (x86)\Microsoft Office\MEDIA\CAGCAT10\j0285750.wmf">
              <a:extLst>
                <a:ext uri="{FF2B5EF4-FFF2-40B4-BE49-F238E27FC236}">
                  <a16:creationId xmlns:a16="http://schemas.microsoft.com/office/drawing/2014/main" id="{1891D12D-BB1C-5143-9D34-FA9CB65D6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776705"/>
              <a:ext cx="1450939" cy="83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1" name="Picture 4" descr="C:\Users\Zenome\AppData\Local\Microsoft\Windows\Temporary Internet Files\Content.IE5\ED4E6FWI\MC900312664[1].wmf">
              <a:extLst>
                <a:ext uri="{FF2B5EF4-FFF2-40B4-BE49-F238E27FC236}">
                  <a16:creationId xmlns:a16="http://schemas.microsoft.com/office/drawing/2014/main" id="{BE9BAE24-14F7-BB44-A85C-AB87107E99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5567" y="1981200"/>
              <a:ext cx="1480238" cy="1266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DCC40A4-7C8E-D945-B9DC-1A38440F9B38}"/>
                </a:ext>
              </a:extLst>
            </p:cNvPr>
            <p:cNvCxnSpPr/>
            <p:nvPr/>
          </p:nvCxnSpPr>
          <p:spPr>
            <a:xfrm rot="5400000" flipH="1" flipV="1">
              <a:off x="1839216" y="3564945"/>
              <a:ext cx="1576999" cy="98929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2F56E65-D5E7-2141-82A6-208CFB04312F}"/>
                </a:ext>
              </a:extLst>
            </p:cNvPr>
            <p:cNvCxnSpPr/>
            <p:nvPr/>
          </p:nvCxnSpPr>
          <p:spPr>
            <a:xfrm rot="16200000" flipV="1">
              <a:off x="3588379" y="3414370"/>
              <a:ext cx="1505154" cy="121859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304" name="TextBox 30">
              <a:extLst>
                <a:ext uri="{FF2B5EF4-FFF2-40B4-BE49-F238E27FC236}">
                  <a16:creationId xmlns:a16="http://schemas.microsoft.com/office/drawing/2014/main" id="{C012F1C1-E17B-BD49-9A94-B4E126376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1828800"/>
              <a:ext cx="2207821" cy="66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A common ‘Resource’</a:t>
              </a:r>
            </a:p>
          </p:txBody>
        </p:sp>
        <p:sp>
          <p:nvSpPr>
            <p:cNvPr id="12305" name="TextBox 31">
              <a:extLst>
                <a:ext uri="{FF2B5EF4-FFF2-40B4-BE49-F238E27FC236}">
                  <a16:creationId xmlns:a16="http://schemas.microsoft.com/office/drawing/2014/main" id="{05222237-3A7F-8B4A-999A-83A9C7FB6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327" y="5780220"/>
              <a:ext cx="1067073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Node A</a:t>
              </a:r>
            </a:p>
          </p:txBody>
        </p:sp>
        <p:sp>
          <p:nvSpPr>
            <p:cNvPr id="12306" name="TextBox 32">
              <a:extLst>
                <a:ext uri="{FF2B5EF4-FFF2-40B4-BE49-F238E27FC236}">
                  <a16:creationId xmlns:a16="http://schemas.microsoft.com/office/drawing/2014/main" id="{C61063AA-6363-2D41-B01D-16C43B3BE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256" y="5719516"/>
              <a:ext cx="893433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Node B</a:t>
              </a:r>
            </a:p>
          </p:txBody>
        </p:sp>
        <p:sp>
          <p:nvSpPr>
            <p:cNvPr id="12307" name="TextBox 33">
              <a:extLst>
                <a:ext uri="{FF2B5EF4-FFF2-40B4-BE49-F238E27FC236}">
                  <a16:creationId xmlns:a16="http://schemas.microsoft.com/office/drawing/2014/main" id="{A7997A71-F0E8-3E47-8015-C8814EA1E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855846"/>
              <a:ext cx="1218108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request A</a:t>
              </a:r>
            </a:p>
          </p:txBody>
        </p:sp>
        <p:sp>
          <p:nvSpPr>
            <p:cNvPr id="12308" name="TextBox 34">
              <a:extLst>
                <a:ext uri="{FF2B5EF4-FFF2-40B4-BE49-F238E27FC236}">
                  <a16:creationId xmlns:a16="http://schemas.microsoft.com/office/drawing/2014/main" id="{E2D50600-75B1-254B-8482-D1841DA0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465" y="3784167"/>
              <a:ext cx="1218108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request B</a:t>
              </a:r>
              <a:endParaRPr lang="en-US" altLang="en-US">
                <a:latin typeface="Book Antiqua" panose="02040602050305030304" pitchFamily="18" charset="0"/>
              </a:endParaRPr>
            </a:p>
          </p:txBody>
        </p:sp>
        <p:sp>
          <p:nvSpPr>
            <p:cNvPr id="12309" name="TextBox 35">
              <a:extLst>
                <a:ext uri="{FF2B5EF4-FFF2-40B4-BE49-F238E27FC236}">
                  <a16:creationId xmlns:a16="http://schemas.microsoft.com/office/drawing/2014/main" id="{C0969375-63A7-B243-9786-0EFAF27B4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908" y="6195122"/>
              <a:ext cx="3353892" cy="522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latin typeface="Book Antiqua" panose="02040602050305030304" pitchFamily="18" charset="0"/>
                </a:rPr>
                <a:t>A Distributed System</a:t>
              </a:r>
            </a:p>
          </p:txBody>
        </p:sp>
      </p:grpSp>
      <p:pic>
        <p:nvPicPr>
          <p:cNvPr id="12296" name="Picture 5" descr="C:\Users\Zenome\AppData\Local\Microsoft\Windows\Temporary Internet Files\Content.IE5\0IBJ9H6V\MC900383550[1].wmf">
            <a:extLst>
              <a:ext uri="{FF2B5EF4-FFF2-40B4-BE49-F238E27FC236}">
                <a16:creationId xmlns:a16="http://schemas.microsoft.com/office/drawing/2014/main" id="{552A52F4-A08F-0743-813D-8812CB431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0" r="31351" b="75060"/>
          <a:stretch>
            <a:fillRect/>
          </a:stretch>
        </p:blipFill>
        <p:spPr bwMode="auto">
          <a:xfrm>
            <a:off x="3810000" y="13716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5B4CCF3-5D3E-8843-830F-42E4D759C0F6}"/>
              </a:ext>
            </a:extLst>
          </p:cNvPr>
          <p:cNvSpPr txBox="1"/>
          <p:nvPr/>
        </p:nvSpPr>
        <p:spPr>
          <a:xfrm>
            <a:off x="5715000" y="1752600"/>
            <a:ext cx="4800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 WHICH REQUEST WAS MADE FIRST?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14F59E9-7BC1-294B-8F5C-60A58430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AE71FB-19F7-A946-B136-91ACD3854A45}" type="slidenum">
              <a:rPr lang="en-US" altLang="en-US">
                <a:solidFill>
                  <a:srgbClr val="E3E1D7"/>
                </a:solidFill>
                <a:latin typeface="Book Antiqua" panose="02040602050305030304" pitchFamily="18" charset="0"/>
              </a:rPr>
              <a:pPr eaLnBrk="1" hangingPunct="1"/>
              <a:t>20</a:t>
            </a:fld>
            <a:endParaRPr lang="en-US" altLang="en-US">
              <a:solidFill>
                <a:srgbClr val="E3E1D7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C:\Users\Zenome\AppData\Local\Microsoft\Windows\Temporary Internet Files\Content.IE5\LZME78KG\MC900383884[1].wmf">
            <a:extLst>
              <a:ext uri="{FF2B5EF4-FFF2-40B4-BE49-F238E27FC236}">
                <a16:creationId xmlns:a16="http://schemas.microsoft.com/office/drawing/2014/main" id="{C6E935B5-1263-1C41-B324-F8B6A0E00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4" y="4038600"/>
            <a:ext cx="681037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 descr="C:\Users\Zenome\AppData\Local\Microsoft\Windows\Temporary Internet Files\Content.IE5\LZME78KG\MC900383884[1].wmf">
            <a:extLst>
              <a:ext uri="{FF2B5EF4-FFF2-40B4-BE49-F238E27FC236}">
                <a16:creationId xmlns:a16="http://schemas.microsoft.com/office/drawing/2014/main" id="{EED1C8D9-0D35-5C44-A0DE-A829B0D96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038600"/>
            <a:ext cx="6810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1">
            <a:extLst>
              <a:ext uri="{FF2B5EF4-FFF2-40B4-BE49-F238E27FC236}">
                <a16:creationId xmlns:a16="http://schemas.microsoft.com/office/drawing/2014/main" id="{FBA105F4-6A1E-5442-9380-DCAC306F7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54314"/>
            <a:ext cx="259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Book Antiqua" panose="02040602050305030304" pitchFamily="18" charset="0"/>
              </a:rPr>
              <a:t>Individual Clocks?</a:t>
            </a:r>
          </a:p>
        </p:txBody>
      </p:sp>
      <p:sp>
        <p:nvSpPr>
          <p:cNvPr id="13317" name="TextBox 23">
            <a:extLst>
              <a:ext uri="{FF2B5EF4-FFF2-40B4-BE49-F238E27FC236}">
                <a16:creationId xmlns:a16="http://schemas.microsoft.com/office/drawing/2014/main" id="{1F0C926D-4A64-BF43-B9E3-EE088DC49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316288"/>
            <a:ext cx="2667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latin typeface="Book Antiqua" panose="02040602050305030304" pitchFamily="18" charset="0"/>
              </a:rPr>
              <a:t>Are individual clocks accurate, precise?</a:t>
            </a:r>
          </a:p>
        </p:txBody>
      </p:sp>
      <p:sp>
        <p:nvSpPr>
          <p:cNvPr id="13318" name="TextBox 24">
            <a:extLst>
              <a:ext uri="{FF2B5EF4-FFF2-40B4-BE49-F238E27FC236}">
                <a16:creationId xmlns:a16="http://schemas.microsoft.com/office/drawing/2014/main" id="{7D5B3AB3-3CB5-2C4F-B179-F837CDA5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002088"/>
            <a:ext cx="1981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latin typeface="Book Antiqua" panose="02040602050305030304" pitchFamily="18" charset="0"/>
              </a:rPr>
              <a:t>One clock might run faster/slower?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880D032-3159-D842-B7E3-A2E73F16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4864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Problem!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BE6ED2-F056-4C4F-91EB-F22EE8D65895}"/>
              </a:ext>
            </a:extLst>
          </p:cNvPr>
          <p:cNvSpPr txBox="1"/>
          <p:nvPr/>
        </p:nvSpPr>
        <p:spPr>
          <a:xfrm>
            <a:off x="5715000" y="1752600"/>
            <a:ext cx="4800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 WHICH REQUEST WAS MADE FIRST?</a:t>
            </a:r>
          </a:p>
        </p:txBody>
      </p:sp>
      <p:grpSp>
        <p:nvGrpSpPr>
          <p:cNvPr id="13321" name="Group 27">
            <a:extLst>
              <a:ext uri="{FF2B5EF4-FFF2-40B4-BE49-F238E27FC236}">
                <a16:creationId xmlns:a16="http://schemas.microsoft.com/office/drawing/2014/main" id="{CAA875CB-7650-EE43-9445-EE540018A80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057400"/>
            <a:ext cx="4800600" cy="4320824"/>
            <a:chOff x="1066800" y="1828800"/>
            <a:chExt cx="4953000" cy="4888658"/>
          </a:xfrm>
        </p:grpSpPr>
        <p:pic>
          <p:nvPicPr>
            <p:cNvPr id="13327" name="Picture 2" descr="C:\Program Files (x86)\Microsoft Office\MEDIA\CAGCAT10\j0285750.wmf">
              <a:extLst>
                <a:ext uri="{FF2B5EF4-FFF2-40B4-BE49-F238E27FC236}">
                  <a16:creationId xmlns:a16="http://schemas.microsoft.com/office/drawing/2014/main" id="{A09C6E79-4CD7-8041-812F-8B19857EB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861" y="4705026"/>
              <a:ext cx="1450939" cy="83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8" name="Picture 3" descr="C:\Program Files (x86)\Microsoft Office\MEDIA\CAGCAT10\j0285750.wmf">
              <a:extLst>
                <a:ext uri="{FF2B5EF4-FFF2-40B4-BE49-F238E27FC236}">
                  <a16:creationId xmlns:a16="http://schemas.microsoft.com/office/drawing/2014/main" id="{66B0E93A-1F29-FB40-BE43-32C0D59289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776705"/>
              <a:ext cx="1450939" cy="83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9" name="Picture 4" descr="C:\Users\Zenome\AppData\Local\Microsoft\Windows\Temporary Internet Files\Content.IE5\ED4E6FWI\MC900312664[1].wmf">
              <a:extLst>
                <a:ext uri="{FF2B5EF4-FFF2-40B4-BE49-F238E27FC236}">
                  <a16:creationId xmlns:a16="http://schemas.microsoft.com/office/drawing/2014/main" id="{C9A37A78-BC4A-C44B-9DD8-F0DE74D17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5567" y="1981200"/>
              <a:ext cx="1480238" cy="1266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CBDFA4B-2130-9A4B-BCC7-11A113A7B32E}"/>
                </a:ext>
              </a:extLst>
            </p:cNvPr>
            <p:cNvCxnSpPr/>
            <p:nvPr/>
          </p:nvCxnSpPr>
          <p:spPr>
            <a:xfrm rot="5400000" flipH="1" flipV="1">
              <a:off x="1839216" y="3564945"/>
              <a:ext cx="1576999" cy="98929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705DD1F-ACA8-3F48-8B66-DEF8E5320C1F}"/>
                </a:ext>
              </a:extLst>
            </p:cNvPr>
            <p:cNvCxnSpPr/>
            <p:nvPr/>
          </p:nvCxnSpPr>
          <p:spPr>
            <a:xfrm rot="16200000" flipV="1">
              <a:off x="3588379" y="3414370"/>
              <a:ext cx="1505154" cy="121859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332" name="TextBox 33">
              <a:extLst>
                <a:ext uri="{FF2B5EF4-FFF2-40B4-BE49-F238E27FC236}">
                  <a16:creationId xmlns:a16="http://schemas.microsoft.com/office/drawing/2014/main" id="{2F4F73EA-1893-6346-A72A-4191FF5E4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1828800"/>
              <a:ext cx="2207821" cy="66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A common ‘Resource’</a:t>
              </a:r>
            </a:p>
          </p:txBody>
        </p:sp>
        <p:sp>
          <p:nvSpPr>
            <p:cNvPr id="13333" name="TextBox 34">
              <a:extLst>
                <a:ext uri="{FF2B5EF4-FFF2-40B4-BE49-F238E27FC236}">
                  <a16:creationId xmlns:a16="http://schemas.microsoft.com/office/drawing/2014/main" id="{71B673D1-A176-0644-B8CE-8947761BE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327" y="5780220"/>
              <a:ext cx="1067073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Node A</a:t>
              </a:r>
            </a:p>
          </p:txBody>
        </p:sp>
        <p:sp>
          <p:nvSpPr>
            <p:cNvPr id="13334" name="TextBox 35">
              <a:extLst>
                <a:ext uri="{FF2B5EF4-FFF2-40B4-BE49-F238E27FC236}">
                  <a16:creationId xmlns:a16="http://schemas.microsoft.com/office/drawing/2014/main" id="{7A2620F1-7206-1A4C-B2F8-754B07A65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7256" y="5719516"/>
              <a:ext cx="893433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Node B</a:t>
              </a:r>
            </a:p>
          </p:txBody>
        </p:sp>
        <p:sp>
          <p:nvSpPr>
            <p:cNvPr id="13335" name="TextBox 36">
              <a:extLst>
                <a:ext uri="{FF2B5EF4-FFF2-40B4-BE49-F238E27FC236}">
                  <a16:creationId xmlns:a16="http://schemas.microsoft.com/office/drawing/2014/main" id="{79C97992-029F-D54E-AD95-FCB309CAC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855846"/>
              <a:ext cx="1218108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request A</a:t>
              </a:r>
            </a:p>
          </p:txBody>
        </p:sp>
        <p:sp>
          <p:nvSpPr>
            <p:cNvPr id="13336" name="TextBox 37">
              <a:extLst>
                <a:ext uri="{FF2B5EF4-FFF2-40B4-BE49-F238E27FC236}">
                  <a16:creationId xmlns:a16="http://schemas.microsoft.com/office/drawing/2014/main" id="{B607D0AB-BAF2-B647-8E4E-E24062AFB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465" y="3784167"/>
              <a:ext cx="1218108" cy="38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Book Antiqua" panose="02040602050305030304" pitchFamily="18" charset="0"/>
                </a:rPr>
                <a:t>request B</a:t>
              </a:r>
              <a:endParaRPr lang="en-US" altLang="en-US">
                <a:latin typeface="Book Antiqua" panose="02040602050305030304" pitchFamily="18" charset="0"/>
              </a:endParaRPr>
            </a:p>
          </p:txBody>
        </p:sp>
        <p:sp>
          <p:nvSpPr>
            <p:cNvPr id="13337" name="TextBox 38">
              <a:extLst>
                <a:ext uri="{FF2B5EF4-FFF2-40B4-BE49-F238E27FC236}">
                  <a16:creationId xmlns:a16="http://schemas.microsoft.com/office/drawing/2014/main" id="{2E60CC01-E33A-0541-91BF-E0A1D017E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908" y="6195122"/>
              <a:ext cx="3353892" cy="522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latin typeface="Book Antiqua" panose="02040602050305030304" pitchFamily="18" charset="0"/>
                </a:rPr>
                <a:t>A Distributed System</a:t>
              </a:r>
            </a:p>
          </p:txBody>
        </p:sp>
      </p:grpSp>
      <p:pic>
        <p:nvPicPr>
          <p:cNvPr id="13322" name="Picture 5" descr="C:\Users\Zenome\AppData\Local\Microsoft\Windows\Temporary Internet Files\Content.IE5\0IBJ9H6V\MC900383550[1].wmf">
            <a:extLst>
              <a:ext uri="{FF2B5EF4-FFF2-40B4-BE49-F238E27FC236}">
                <a16:creationId xmlns:a16="http://schemas.microsoft.com/office/drawing/2014/main" id="{D8D703F5-1EAF-8742-8C53-3800AF5BC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0" r="31351" b="75060"/>
          <a:stretch>
            <a:fillRect/>
          </a:stretch>
        </p:blipFill>
        <p:spPr bwMode="auto">
          <a:xfrm>
            <a:off x="3810000" y="13716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FAAF997-51BE-1E49-A286-0CB107BED179}"/>
              </a:ext>
            </a:extLst>
          </p:cNvPr>
          <p:cNvSpPr txBox="1"/>
          <p:nvPr/>
        </p:nvSpPr>
        <p:spPr>
          <a:xfrm>
            <a:off x="7391400" y="2297114"/>
            <a:ext cx="21336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</a:p>
        </p:txBody>
      </p:sp>
      <p:sp>
        <p:nvSpPr>
          <p:cNvPr id="13324" name="TextBox 41">
            <a:extLst>
              <a:ext uri="{FF2B5EF4-FFF2-40B4-BE49-F238E27FC236}">
                <a16:creationId xmlns:a16="http://schemas.microsoft.com/office/drawing/2014/main" id="{AD1E9E15-B8F5-9649-9D9A-3C76FF06A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191000"/>
            <a:ext cx="12192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latin typeface="Book Antiqua" panose="02040602050305030304" pitchFamily="18" charset="0"/>
              </a:rPr>
              <a:t>10:00 AM</a:t>
            </a:r>
          </a:p>
        </p:txBody>
      </p:sp>
      <p:sp>
        <p:nvSpPr>
          <p:cNvPr id="13325" name="TextBox 43">
            <a:extLst>
              <a:ext uri="{FF2B5EF4-FFF2-40B4-BE49-F238E27FC236}">
                <a16:creationId xmlns:a16="http://schemas.microsoft.com/office/drawing/2014/main" id="{AD835FE6-D3E1-274B-A4E8-ADA5A6C11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114800"/>
            <a:ext cx="12192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latin typeface="Book Antiqua" panose="02040602050305030304" pitchFamily="18" charset="0"/>
              </a:rPr>
              <a:t>10:02 AM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BACF4B61-DF4A-1C4F-B1FB-C1E58613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46AF6E-B65E-4648-9C90-6A124170DAF6}" type="slidenum">
              <a:rPr lang="en-US" altLang="en-US">
                <a:solidFill>
                  <a:srgbClr val="E3E1D7"/>
                </a:solidFill>
                <a:latin typeface="Book Antiqua" panose="02040602050305030304" pitchFamily="18" charset="0"/>
              </a:rPr>
              <a:pPr eaLnBrk="1" hangingPunct="1"/>
              <a:t>21</a:t>
            </a:fld>
            <a:endParaRPr lang="en-US" altLang="en-US">
              <a:solidFill>
                <a:srgbClr val="E3E1D7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B979-1C13-7741-8442-38A0F9BC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8229600" cy="1219200"/>
          </a:xfrm>
        </p:spPr>
        <p:txBody>
          <a:bodyPr/>
          <a:lstStyle/>
          <a:p>
            <a:pPr marL="54864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Problem!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BC9123-0493-1845-A0DF-D3C99419C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Synchronization in a Distributed System!</a:t>
            </a:r>
          </a:p>
          <a:p>
            <a:pPr lvl="1" eaLnBrk="1" hangingPunct="1"/>
            <a:r>
              <a:rPr lang="en-US" altLang="en-US" dirty="0"/>
              <a:t>Event Ordering : Which event occurred first?</a:t>
            </a:r>
          </a:p>
          <a:p>
            <a:pPr lvl="1" eaLnBrk="1" hangingPunct="1"/>
            <a:r>
              <a:rPr lang="en-US" altLang="en-US" dirty="0"/>
              <a:t>How to sync the clocks across the nodes?</a:t>
            </a:r>
          </a:p>
          <a:p>
            <a:r>
              <a:rPr lang="en-US" altLang="en-US" dirty="0"/>
              <a:t>Premise</a:t>
            </a:r>
          </a:p>
          <a:p>
            <a:pPr lvl="1"/>
            <a:r>
              <a:rPr lang="en-US" altLang="en-US" dirty="0"/>
              <a:t>The notion of time is well-defined (and measurable) at each single location</a:t>
            </a:r>
          </a:p>
          <a:p>
            <a:pPr lvl="1"/>
            <a:r>
              <a:rPr lang="en-US" altLang="en-US" dirty="0"/>
              <a:t>But the relationship between time at different locations is unclear</a:t>
            </a:r>
          </a:p>
          <a:p>
            <a:pPr lvl="2"/>
            <a:r>
              <a:rPr lang="en-US" altLang="en-US" dirty="0"/>
              <a:t>Can minimize discrepancies, but never eliminate them</a:t>
            </a:r>
          </a:p>
          <a:p>
            <a:r>
              <a:rPr lang="en-US" altLang="en-US" dirty="0"/>
              <a:t>Reality</a:t>
            </a:r>
          </a:p>
          <a:p>
            <a:pPr lvl="1"/>
            <a:r>
              <a:rPr lang="en-US" altLang="en-US" dirty="0"/>
              <a:t>Stationary GPS receivers can get global time with &lt; 1µs error</a:t>
            </a:r>
          </a:p>
          <a:p>
            <a:pPr lvl="1"/>
            <a:r>
              <a:rPr lang="en-US" altLang="en-US" dirty="0"/>
              <a:t>Few systems designed to use this</a:t>
            </a:r>
          </a:p>
          <a:p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EDA77-D0C8-B749-9AC5-FC0D0624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BF6CD21-44B4-EF4C-ABFB-A46E5B55B690}" type="slidenum">
              <a:rPr lang="en-US" altLang="en-US" b="1">
                <a:solidFill>
                  <a:srgbClr val="E3E1D7"/>
                </a:solidFill>
                <a:latin typeface="Book Antiqua" panose="02040602050305030304" pitchFamily="18" charset="0"/>
              </a:rPr>
              <a:pPr eaLnBrk="1" hangingPunct="1"/>
              <a:t>22</a:t>
            </a:fld>
            <a:endParaRPr lang="en-US" altLang="en-US" b="1">
              <a:solidFill>
                <a:srgbClr val="E3E1D7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DF70386-DF04-A04C-8648-A200805A0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baseball example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7AA66E3-7E0C-1140-BEE6-186DF1AC2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61932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Four locations:  pitcher’s mound, first base, home plate, and third base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Ten events: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1</a:t>
            </a:r>
            <a:r>
              <a:rPr lang="en-US" altLang="en-US" sz="2000" dirty="0"/>
              <a:t>:  pitcher throws ball to home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2</a:t>
            </a:r>
            <a:r>
              <a:rPr lang="en-US" altLang="en-US" sz="2000" dirty="0"/>
              <a:t>:  ball arrives at home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3</a:t>
            </a:r>
            <a:r>
              <a:rPr lang="en-US" altLang="en-US" sz="2000" dirty="0"/>
              <a:t>:  batter hits ball to pitcher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4</a:t>
            </a:r>
            <a:r>
              <a:rPr lang="en-US" altLang="en-US" sz="2000" dirty="0"/>
              <a:t>:  batter runs to first base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5</a:t>
            </a:r>
            <a:r>
              <a:rPr lang="en-US" altLang="en-US" sz="2000" dirty="0"/>
              <a:t>:  runner runs to home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6</a:t>
            </a:r>
            <a:r>
              <a:rPr lang="en-US" altLang="en-US" sz="2000" dirty="0"/>
              <a:t>:  ball arrives at pitcher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7</a:t>
            </a:r>
            <a:r>
              <a:rPr lang="en-US" altLang="en-US" sz="2000" dirty="0"/>
              <a:t>:  pitcher throws ball to first base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8</a:t>
            </a:r>
            <a:r>
              <a:rPr lang="en-US" altLang="en-US" sz="2000" dirty="0"/>
              <a:t>:  runner arrives at home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9</a:t>
            </a:r>
            <a:r>
              <a:rPr lang="en-US" altLang="en-US" sz="2000" dirty="0"/>
              <a:t>:  ball arrives at first base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e</a:t>
            </a:r>
            <a:r>
              <a:rPr lang="en-US" altLang="en-US" sz="2000" baseline="-30000" dirty="0"/>
              <a:t>10</a:t>
            </a:r>
            <a:r>
              <a:rPr lang="en-US" altLang="en-US" sz="2000" dirty="0"/>
              <a:t>:  batter arrives at first base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5FA4C0-01AC-D941-98A1-B6BCFA2F7C83}"/>
              </a:ext>
            </a:extLst>
          </p:cNvPr>
          <p:cNvSpPr txBox="1"/>
          <p:nvPr/>
        </p:nvSpPr>
        <p:spPr>
          <a:xfrm>
            <a:off x="7315200" y="2210708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outs</a:t>
            </a:r>
          </a:p>
          <a:p>
            <a:r>
              <a:rPr lang="en-US" dirty="0"/>
              <a:t>Runner on third</a:t>
            </a:r>
          </a:p>
        </p:txBody>
      </p:sp>
      <p:pic>
        <p:nvPicPr>
          <p:cNvPr id="8197" name="Picture 5" descr="Baseball Players on Diamond &amp;quot; by Chuck Whelon | Redbubble">
            <a:extLst>
              <a:ext uri="{FF2B5EF4-FFF2-40B4-BE49-F238E27FC236}">
                <a16:creationId xmlns:a16="http://schemas.microsoft.com/office/drawing/2014/main" id="{0A980C09-3DE6-7F41-8695-F2CF7EDC2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" t="28889" r="13334"/>
          <a:stretch/>
        </p:blipFill>
        <p:spPr bwMode="auto">
          <a:xfrm>
            <a:off x="6366054" y="2910218"/>
            <a:ext cx="4250709" cy="362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 with low confidence">
            <a:extLst>
              <a:ext uri="{FF2B5EF4-FFF2-40B4-BE49-F238E27FC236}">
                <a16:creationId xmlns:a16="http://schemas.microsoft.com/office/drawing/2014/main" id="{5467B6E1-FB42-204F-87B7-C367E19B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94906">
            <a:off x="7321765" y="4635040"/>
            <a:ext cx="371814" cy="3438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0D9AB8D-1D91-1D47-84F8-A5B466D9E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baseball example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7C3CB02-45E1-D746-8254-1D3BFB025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914284"/>
            <a:ext cx="8229600" cy="2590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Pitcher knows e</a:t>
            </a:r>
            <a:r>
              <a:rPr lang="en-US" altLang="en-US" baseline="-30000" dirty="0"/>
              <a:t>1</a:t>
            </a:r>
            <a:r>
              <a:rPr lang="en-US" altLang="en-US" dirty="0"/>
              <a:t> happens before e</a:t>
            </a:r>
            <a:r>
              <a:rPr lang="en-US" altLang="en-US" baseline="-30000" dirty="0"/>
              <a:t>6</a:t>
            </a:r>
            <a:r>
              <a:rPr lang="en-US" altLang="en-US" dirty="0"/>
              <a:t>, which happens before e</a:t>
            </a:r>
            <a:r>
              <a:rPr lang="en-US" altLang="en-US" baseline="-30000" dirty="0"/>
              <a:t>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Home plate umpire knows e</a:t>
            </a:r>
            <a:r>
              <a:rPr lang="en-US" altLang="en-US" baseline="-30000" dirty="0"/>
              <a:t>2</a:t>
            </a:r>
            <a:r>
              <a:rPr lang="en-US" altLang="en-US" dirty="0"/>
              <a:t> is before e</a:t>
            </a:r>
            <a:r>
              <a:rPr lang="en-US" altLang="en-US" baseline="-30000" dirty="0"/>
              <a:t>3</a:t>
            </a:r>
            <a:r>
              <a:rPr lang="en-US" altLang="en-US" dirty="0"/>
              <a:t>, which is before e</a:t>
            </a:r>
            <a:r>
              <a:rPr lang="en-US" altLang="en-US" baseline="-30000" dirty="0"/>
              <a:t>4</a:t>
            </a:r>
            <a:r>
              <a:rPr lang="en-US" altLang="en-US" dirty="0"/>
              <a:t>, which is before e</a:t>
            </a:r>
            <a:r>
              <a:rPr lang="en-US" altLang="en-US" baseline="-30000" dirty="0"/>
              <a:t>8</a:t>
            </a:r>
            <a:r>
              <a:rPr lang="en-US" altLang="en-US" dirty="0"/>
              <a:t>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Relationship between e</a:t>
            </a:r>
            <a:r>
              <a:rPr lang="en-US" altLang="en-US" baseline="-30000" dirty="0"/>
              <a:t>8</a:t>
            </a:r>
            <a:r>
              <a:rPr lang="en-US" altLang="en-US" dirty="0"/>
              <a:t> and e</a:t>
            </a:r>
            <a:r>
              <a:rPr lang="en-US" altLang="en-US" baseline="-30000" dirty="0"/>
              <a:t>9</a:t>
            </a:r>
            <a:r>
              <a:rPr lang="en-US" altLang="en-US" dirty="0"/>
              <a:t> is unclear</a:t>
            </a:r>
          </a:p>
        </p:txBody>
      </p:sp>
      <p:pic>
        <p:nvPicPr>
          <p:cNvPr id="9220" name="Picture 5">
            <a:extLst>
              <a:ext uri="{FF2B5EF4-FFF2-40B4-BE49-F238E27FC236}">
                <a16:creationId xmlns:a16="http://schemas.microsoft.com/office/drawing/2014/main" id="{B289F262-DB6F-BA44-9E65-6D33184FB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957" y="2860124"/>
            <a:ext cx="6139676" cy="342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982CB73-70FB-5643-91A3-A33C3B2C8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Ways to synchronize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0D9A8AF-1D96-904D-B61E-C714DC098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Send message from first base to home?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 to a central timekeeper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long does this message take to arrive?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Synchronize clocks before the game?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Clocks drift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Synchronize continuously during the game?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GPS, pulsars,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EE1F28E-4691-8444-8772-5D02171BD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Real synchronization is imperfect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83FFB3B-3663-B844-81AA-7748DA45D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Clocks never exactly synchronized</a:t>
            </a:r>
          </a:p>
          <a:p>
            <a:pPr eaLnBrk="1" hangingPunct="1"/>
            <a:r>
              <a:rPr lang="en-US" altLang="en-US" dirty="0"/>
              <a:t>Often inadequate for distributed systems</a:t>
            </a:r>
          </a:p>
          <a:p>
            <a:pPr lvl="1" eaLnBrk="1" hangingPunct="1"/>
            <a:r>
              <a:rPr lang="en-US" altLang="en-US" dirty="0"/>
              <a:t>might need totally-ordered events</a:t>
            </a:r>
          </a:p>
          <a:p>
            <a:pPr lvl="1" eaLnBrk="1" hangingPunct="1"/>
            <a:r>
              <a:rPr lang="en-US" altLang="en-US" dirty="0"/>
              <a:t>might need millionth-of-a-second precision</a:t>
            </a:r>
          </a:p>
          <a:p>
            <a:pPr lvl="1" eaLnBrk="1" hangingPunct="1"/>
            <a:endParaRPr lang="en-US" altLang="en-US" dirty="0"/>
          </a:p>
          <a:p>
            <a:r>
              <a:rPr lang="en-US" altLang="en-US" dirty="0"/>
              <a:t>Approach towards solution</a:t>
            </a:r>
          </a:p>
          <a:p>
            <a:pPr lvl="1">
              <a:spcBef>
                <a:spcPts val="0"/>
              </a:spcBef>
              <a:defRPr/>
            </a:pPr>
            <a:r>
              <a:rPr lang="en-US" dirty="0"/>
              <a:t>Develop a logical model of event ordering (without the use of physical clocks)</a:t>
            </a:r>
          </a:p>
          <a:p>
            <a:pPr lvl="2">
              <a:spcBef>
                <a:spcPts val="0"/>
              </a:spcBef>
              <a:defRPr/>
            </a:pPr>
            <a:r>
              <a:rPr lang="en-US" dirty="0"/>
              <a:t>Might result into Anomalous Behavior?</a:t>
            </a:r>
          </a:p>
          <a:p>
            <a:pPr marL="811530" lvl="1" indent="-457200">
              <a:defRPr/>
            </a:pPr>
            <a:endParaRPr lang="en-US" dirty="0"/>
          </a:p>
          <a:p>
            <a:pPr lvl="1">
              <a:spcBef>
                <a:spcPts val="0"/>
              </a:spcBef>
              <a:defRPr/>
            </a:pPr>
            <a:r>
              <a:rPr lang="en-US" dirty="0"/>
              <a:t>Bring in ‘Physical’ Clocks to integrate with the logical model </a:t>
            </a:r>
          </a:p>
          <a:p>
            <a:pPr lvl="2">
              <a:spcBef>
                <a:spcPts val="0"/>
              </a:spcBef>
              <a:defRPr/>
            </a:pPr>
            <a:r>
              <a:rPr lang="en-US" dirty="0"/>
              <a:t>Fix anomalous behavior</a:t>
            </a:r>
          </a:p>
          <a:p>
            <a:pPr marL="811530" lvl="1" indent="-457200">
              <a:defRPr/>
            </a:pPr>
            <a:endParaRPr lang="en-US" dirty="0"/>
          </a:p>
          <a:p>
            <a:pPr lvl="1">
              <a:spcBef>
                <a:spcPts val="0"/>
              </a:spcBef>
              <a:defRPr/>
            </a:pPr>
            <a:r>
              <a:rPr lang="en-US" dirty="0"/>
              <a:t>Make sure that the ‘Physical’ Clocks are synced as best as we can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D3C2AA1-6636-9141-847B-025EB97D9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Logical time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56B7B23-87E7-3F47-B127-21EAE1C7E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Capture just the “happens before” relationship between events</a:t>
            </a:r>
          </a:p>
          <a:p>
            <a:pPr lvl="1" eaLnBrk="1" hangingPunct="1"/>
            <a:r>
              <a:rPr lang="en-US" altLang="en-US"/>
              <a:t>Discard the infinitesimal granularity of time</a:t>
            </a:r>
          </a:p>
          <a:p>
            <a:pPr lvl="1" eaLnBrk="1" hangingPunct="1"/>
            <a:r>
              <a:rPr lang="en-US" altLang="en-US"/>
              <a:t>Corresponds roughly to causality</a:t>
            </a:r>
          </a:p>
          <a:p>
            <a:pPr eaLnBrk="1" hangingPunct="1"/>
            <a:r>
              <a:rPr lang="en-US" altLang="en-US"/>
              <a:t>Time at each process is well-defined</a:t>
            </a:r>
          </a:p>
          <a:p>
            <a:pPr lvl="1" eaLnBrk="1" hangingPunct="1"/>
            <a:r>
              <a:rPr lang="en-US" altLang="en-US"/>
              <a:t>Definition (</a:t>
            </a:r>
            <a:r>
              <a:rPr lang="en-US" altLang="en-US">
                <a:cs typeface="Arial" panose="020B0604020202020204" pitchFamily="34" charset="0"/>
              </a:rPr>
              <a:t>→</a:t>
            </a:r>
            <a:r>
              <a:rPr lang="en-US" altLang="en-US" i="1" baseline="-30000">
                <a:cs typeface="Arial" panose="020B0604020202020204" pitchFamily="34" charset="0"/>
              </a:rPr>
              <a:t>i</a:t>
            </a:r>
            <a:r>
              <a:rPr lang="en-US" altLang="en-US"/>
              <a:t>):  We say </a:t>
            </a:r>
            <a:r>
              <a:rPr lang="en-US" altLang="en-US" i="1"/>
              <a:t>e </a:t>
            </a:r>
            <a:r>
              <a:rPr lang="en-US" altLang="en-US">
                <a:cs typeface="Arial" panose="020B0604020202020204" pitchFamily="34" charset="0"/>
              </a:rPr>
              <a:t>→</a:t>
            </a:r>
            <a:r>
              <a:rPr lang="en-US" altLang="en-US" i="1" baseline="-30000">
                <a:cs typeface="Arial" panose="020B0604020202020204" pitchFamily="34" charset="0"/>
              </a:rPr>
              <a:t>i</a:t>
            </a:r>
            <a:r>
              <a:rPr lang="en-US" altLang="en-US" i="1">
                <a:cs typeface="Arial" panose="020B0604020202020204" pitchFamily="34" charset="0"/>
              </a:rPr>
              <a:t> e’</a:t>
            </a:r>
            <a:r>
              <a:rPr lang="en-US" altLang="en-US">
                <a:cs typeface="Arial" panose="020B0604020202020204" pitchFamily="34" charset="0"/>
              </a:rPr>
              <a:t> if </a:t>
            </a: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>
                <a:cs typeface="Arial" panose="020B0604020202020204" pitchFamily="34" charset="0"/>
              </a:rPr>
              <a:t> happens before </a:t>
            </a:r>
            <a:r>
              <a:rPr lang="en-US" altLang="en-US" i="1">
                <a:cs typeface="Arial" panose="020B0604020202020204" pitchFamily="34" charset="0"/>
              </a:rPr>
              <a:t>e’</a:t>
            </a:r>
            <a:r>
              <a:rPr lang="en-US" altLang="en-US">
                <a:cs typeface="Arial" panose="020B0604020202020204" pitchFamily="34" charset="0"/>
              </a:rPr>
              <a:t> at process </a:t>
            </a:r>
            <a:r>
              <a:rPr lang="en-US" altLang="en-US" i="1">
                <a:cs typeface="Arial" panose="020B0604020202020204" pitchFamily="34" charset="0"/>
              </a:rPr>
              <a:t>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F5C21B7-FCBB-9549-B909-122E1BDE7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Global logical time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4204E95-6DFB-A146-A568-DC9659FBB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907171"/>
            <a:ext cx="9188669" cy="4800600"/>
          </a:xfrm>
        </p:spPr>
        <p:txBody>
          <a:bodyPr/>
          <a:lstStyle/>
          <a:p>
            <a:pPr eaLnBrk="1" hangingPunct="1"/>
            <a:r>
              <a:rPr lang="en-US" altLang="en-US" dirty="0"/>
              <a:t>Definition: happens before (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):  </a:t>
            </a:r>
          </a:p>
          <a:p>
            <a:pPr eaLnBrk="1" hangingPunct="1"/>
            <a:r>
              <a:rPr lang="en-US" altLang="en-US" dirty="0"/>
              <a:t>We define e 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 e’ using the following rules:</a:t>
            </a:r>
          </a:p>
          <a:p>
            <a:pPr lvl="1" eaLnBrk="1" hangingPunct="1"/>
            <a:r>
              <a:rPr lang="en-US" altLang="en-US" dirty="0"/>
              <a:t>Local ordering:  </a:t>
            </a:r>
            <a:r>
              <a:rPr lang="en-US" altLang="en-US" i="1" dirty="0"/>
              <a:t>e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i="1" dirty="0"/>
              <a:t>e’</a:t>
            </a:r>
            <a:r>
              <a:rPr lang="en-US" altLang="en-US" dirty="0"/>
              <a:t> if </a:t>
            </a:r>
            <a:r>
              <a:rPr lang="en-US" altLang="en-US" i="1" dirty="0"/>
              <a:t>e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baseline="-30000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i="1" dirty="0"/>
              <a:t>e’</a:t>
            </a:r>
            <a:r>
              <a:rPr lang="en-US" altLang="en-US" dirty="0"/>
              <a:t> for any process </a:t>
            </a:r>
            <a:r>
              <a:rPr lang="en-US" altLang="en-US" i="1" dirty="0" err="1"/>
              <a:t>i</a:t>
            </a:r>
            <a:endParaRPr lang="en-US" altLang="en-US" i="1" dirty="0"/>
          </a:p>
          <a:p>
            <a:pPr lvl="1" eaLnBrk="1" hangingPunct="1"/>
            <a:r>
              <a:rPr lang="en-US" altLang="en-US" dirty="0"/>
              <a:t>Messages:  send(</a:t>
            </a:r>
            <a:r>
              <a:rPr lang="en-US" altLang="en-US" i="1" dirty="0"/>
              <a:t>m</a:t>
            </a:r>
            <a:r>
              <a:rPr lang="en-US" altLang="en-US" dirty="0"/>
              <a:t>)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dirty="0"/>
              <a:t>receive(</a:t>
            </a:r>
            <a:r>
              <a:rPr lang="en-US" altLang="en-US" i="1" dirty="0"/>
              <a:t>m</a:t>
            </a:r>
            <a:r>
              <a:rPr lang="en-US" altLang="en-US" dirty="0"/>
              <a:t>) for any message </a:t>
            </a:r>
            <a:r>
              <a:rPr lang="en-US" altLang="en-US" i="1" dirty="0"/>
              <a:t>m</a:t>
            </a:r>
          </a:p>
          <a:p>
            <a:pPr lvl="1" eaLnBrk="1" hangingPunct="1"/>
            <a:r>
              <a:rPr lang="en-US" altLang="en-US" dirty="0"/>
              <a:t>Transitivity:  </a:t>
            </a:r>
            <a:r>
              <a:rPr lang="en-US" altLang="en-US" i="1" dirty="0"/>
              <a:t>e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i="1" dirty="0"/>
              <a:t>e’’</a:t>
            </a:r>
            <a:r>
              <a:rPr lang="en-US" altLang="en-US" dirty="0"/>
              <a:t> if </a:t>
            </a:r>
            <a:r>
              <a:rPr lang="en-US" altLang="en-US" i="1" dirty="0"/>
              <a:t>e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i="1" dirty="0"/>
              <a:t>e’</a:t>
            </a:r>
            <a:r>
              <a:rPr lang="en-US" altLang="en-US" dirty="0"/>
              <a:t> and </a:t>
            </a:r>
            <a:r>
              <a:rPr lang="en-US" altLang="en-US" i="1" dirty="0"/>
              <a:t>e’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 </a:t>
            </a:r>
            <a:r>
              <a:rPr lang="en-US" altLang="en-US" i="1" dirty="0"/>
              <a:t>e’’</a:t>
            </a:r>
          </a:p>
          <a:p>
            <a:pPr lvl="1" eaLnBrk="1" hangingPunct="1"/>
            <a:endParaRPr lang="en-US" altLang="en-US" i="1" dirty="0"/>
          </a:p>
          <a:p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 is only a partial-order</a:t>
            </a:r>
          </a:p>
          <a:p>
            <a:pPr lvl="1"/>
            <a:r>
              <a:rPr lang="en-US" altLang="en-US" dirty="0"/>
              <a:t>Some events are unrelated</a:t>
            </a:r>
          </a:p>
          <a:p>
            <a:r>
              <a:rPr lang="en-US" altLang="en-US" dirty="0"/>
              <a:t>Definition (concurrency):  We say </a:t>
            </a:r>
            <a:r>
              <a:rPr lang="en-US" altLang="en-US" i="1" dirty="0"/>
              <a:t>e</a:t>
            </a:r>
            <a:r>
              <a:rPr lang="en-US" altLang="en-US" dirty="0"/>
              <a:t> is concurrent with </a:t>
            </a:r>
            <a:r>
              <a:rPr lang="en-US" altLang="en-US" i="1" dirty="0"/>
              <a:t>e’</a:t>
            </a:r>
            <a:r>
              <a:rPr lang="en-US" altLang="en-US" dirty="0"/>
              <a:t> (written </a:t>
            </a:r>
            <a:r>
              <a:rPr lang="en-US" altLang="en-US" i="1" dirty="0" err="1"/>
              <a:t>e</a:t>
            </a:r>
            <a:r>
              <a:rPr lang="en-US" altLang="en-US" i="1" dirty="0" err="1">
                <a:cs typeface="Arial" panose="020B0604020202020204" pitchFamily="34" charset="0"/>
              </a:rPr>
              <a:t>║</a:t>
            </a:r>
            <a:r>
              <a:rPr lang="en-US" altLang="en-US" i="1" dirty="0" err="1"/>
              <a:t>e</a:t>
            </a:r>
            <a:r>
              <a:rPr lang="en-US" altLang="en-US" i="1" dirty="0"/>
              <a:t>’</a:t>
            </a:r>
            <a:r>
              <a:rPr lang="en-US" altLang="en-US" dirty="0"/>
              <a:t>) if neither </a:t>
            </a:r>
            <a:r>
              <a:rPr lang="en-US" altLang="en-US" i="1" dirty="0"/>
              <a:t>e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 </a:t>
            </a:r>
            <a:r>
              <a:rPr lang="en-US" altLang="en-US" i="1" dirty="0"/>
              <a:t>e’</a:t>
            </a:r>
            <a:r>
              <a:rPr lang="en-US" altLang="en-US" dirty="0"/>
              <a:t> nor </a:t>
            </a:r>
            <a:r>
              <a:rPr lang="en-US" altLang="en-US" i="1" dirty="0"/>
              <a:t>e’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→</a:t>
            </a:r>
            <a:r>
              <a:rPr lang="en-US" altLang="en-US" dirty="0"/>
              <a:t> </a:t>
            </a:r>
            <a:r>
              <a:rPr lang="en-US" altLang="en-US" i="1" dirty="0"/>
              <a:t>e</a:t>
            </a:r>
            <a:endParaRPr lang="en-US" altLang="en-US" dirty="0"/>
          </a:p>
          <a:p>
            <a:endParaRPr lang="en-US" altLang="en-US" i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64C73EA4-C9F9-2642-9F48-405E8064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057" y="1961572"/>
            <a:ext cx="6139676" cy="342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6" name="Rectangle 2">
            <a:extLst>
              <a:ext uri="{FF2B5EF4-FFF2-40B4-BE49-F238E27FC236}">
                <a16:creationId xmlns:a16="http://schemas.microsoft.com/office/drawing/2014/main" id="{06F75532-05DE-AC4E-919B-A1290E881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baseball example revisited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33B8B97-24A6-2C4B-AFCE-59052376C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i="1"/>
              <a:t>e</a:t>
            </a:r>
            <a:r>
              <a:rPr lang="en-US" altLang="en-US" i="1" baseline="-30000"/>
              <a:t>1</a:t>
            </a:r>
            <a:r>
              <a:rPr lang="en-US" altLang="en-US" i="1"/>
              <a:t> </a:t>
            </a:r>
            <a:r>
              <a:rPr lang="en-US" altLang="en-US" i="1">
                <a:cs typeface="Arial" panose="020B0604020202020204" pitchFamily="34" charset="0"/>
              </a:rPr>
              <a:t>→ e</a:t>
            </a:r>
            <a:r>
              <a:rPr lang="en-US" altLang="en-US" i="1" baseline="-30000">
                <a:cs typeface="Arial" panose="020B0604020202020204" pitchFamily="34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by the message rule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1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10</a:t>
            </a:r>
            <a:r>
              <a:rPr lang="en-US" altLang="en-US">
                <a:cs typeface="Arial" panose="020B0604020202020204" pitchFamily="34" charset="0"/>
              </a:rPr>
              <a:t>, because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1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, by the message rule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2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4</a:t>
            </a:r>
            <a:r>
              <a:rPr lang="en-US" altLang="en-US">
                <a:cs typeface="Arial" panose="020B0604020202020204" pitchFamily="34" charset="0"/>
              </a:rPr>
              <a:t>, by local ordering at home plate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4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10</a:t>
            </a:r>
            <a:r>
              <a:rPr lang="en-US" altLang="en-US">
                <a:cs typeface="Arial" panose="020B0604020202020204" pitchFamily="34" charset="0"/>
              </a:rPr>
              <a:t>, by the message rule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Repeated transitivity of the above relations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8</a:t>
            </a:r>
            <a:r>
              <a:rPr lang="en-US" altLang="en-US" i="1">
                <a:cs typeface="Arial" panose="020B0604020202020204" pitchFamily="34" charset="0"/>
              </a:rPr>
              <a:t>║e</a:t>
            </a:r>
            <a:r>
              <a:rPr lang="en-US" altLang="en-US" i="1" baseline="-30000">
                <a:cs typeface="Arial" panose="020B0604020202020204" pitchFamily="34" charset="0"/>
              </a:rPr>
              <a:t>9</a:t>
            </a:r>
            <a:r>
              <a:rPr lang="en-US" altLang="en-US">
                <a:cs typeface="Arial" panose="020B0604020202020204" pitchFamily="34" charset="0"/>
              </a:rPr>
              <a:t>, because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No application of the → rules yields either </a:t>
            </a: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8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9</a:t>
            </a:r>
            <a:r>
              <a:rPr lang="en-US" altLang="en-US">
                <a:cs typeface="Arial" panose="020B0604020202020204" pitchFamily="34" charset="0"/>
              </a:rPr>
              <a:t> or </a:t>
            </a:r>
            <a:r>
              <a:rPr lang="en-US" altLang="en-US" i="1">
                <a:cs typeface="Arial" panose="020B0604020202020204" pitchFamily="34" charset="0"/>
              </a:rPr>
              <a:t>e</a:t>
            </a:r>
            <a:r>
              <a:rPr lang="en-US" altLang="en-US" i="1" baseline="-30000">
                <a:cs typeface="Arial" panose="020B0604020202020204" pitchFamily="34" charset="0"/>
              </a:rPr>
              <a:t>9</a:t>
            </a:r>
            <a:r>
              <a:rPr lang="en-US" altLang="en-US" i="1">
                <a:cs typeface="Arial" panose="020B0604020202020204" pitchFamily="34" charset="0"/>
              </a:rPr>
              <a:t> → e</a:t>
            </a:r>
            <a:r>
              <a:rPr lang="en-US" altLang="en-US" i="1" baseline="-30000">
                <a:cs typeface="Arial" panose="020B0604020202020204" pitchFamily="34" charset="0"/>
              </a:rPr>
              <a:t>8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79E7070-5092-EF48-A3E2-3E8D1B181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Lamport logical clocks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E98149E-8FA6-444D-B6D2-E4656ED58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Lamport clock </a:t>
            </a:r>
            <a:r>
              <a:rPr lang="en-US" altLang="en-US" i="1"/>
              <a:t>L</a:t>
            </a:r>
            <a:r>
              <a:rPr lang="en-US" altLang="en-US"/>
              <a:t> orders events consistent with logical “happens before” ordering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If e </a:t>
            </a:r>
            <a:r>
              <a:rPr lang="en-US" altLang="en-US">
                <a:cs typeface="Arial" panose="020B0604020202020204" pitchFamily="34" charset="0"/>
              </a:rPr>
              <a:t>→ e’, then </a:t>
            </a:r>
            <a:r>
              <a:rPr lang="en-US" altLang="en-US" i="1">
                <a:cs typeface="Arial" panose="020B0604020202020204" pitchFamily="34" charset="0"/>
              </a:rPr>
              <a:t>L(e) &lt; L(e’)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But not the converse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L(e) &lt; L(e’)</a:t>
            </a:r>
            <a:r>
              <a:rPr lang="en-US" altLang="en-US">
                <a:cs typeface="Arial" panose="020B0604020202020204" pitchFamily="34" charset="0"/>
              </a:rPr>
              <a:t> does not imply </a:t>
            </a:r>
            <a:r>
              <a:rPr lang="en-US" altLang="en-US" i="1">
                <a:cs typeface="Arial" panose="020B0604020202020204" pitchFamily="34" charset="0"/>
              </a:rPr>
              <a:t>e → e’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Similar rules for concurrency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L(e) = L(e’)</a:t>
            </a:r>
            <a:r>
              <a:rPr lang="en-US" altLang="en-US">
                <a:cs typeface="Arial" panose="020B0604020202020204" pitchFamily="34" charset="0"/>
              </a:rPr>
              <a:t> implies </a:t>
            </a:r>
            <a:r>
              <a:rPr lang="en-US" altLang="en-US" i="1">
                <a:cs typeface="Arial" panose="020B0604020202020204" pitchFamily="34" charset="0"/>
              </a:rPr>
              <a:t>e║e’</a:t>
            </a:r>
            <a:r>
              <a:rPr lang="en-US" altLang="en-US">
                <a:cs typeface="Arial" panose="020B0604020202020204" pitchFamily="34" charset="0"/>
              </a:rPr>
              <a:t> (for distinct </a:t>
            </a:r>
            <a:r>
              <a:rPr lang="en-US" altLang="en-US" i="1">
                <a:cs typeface="Arial" panose="020B0604020202020204" pitchFamily="34" charset="0"/>
              </a:rPr>
              <a:t>e,e’</a:t>
            </a:r>
            <a:r>
              <a:rPr lang="en-US" altLang="en-US"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>
                <a:cs typeface="Arial" panose="020B0604020202020204" pitchFamily="34" charset="0"/>
              </a:rPr>
              <a:t>e║e’</a:t>
            </a:r>
            <a:r>
              <a:rPr lang="en-US" altLang="en-US">
                <a:cs typeface="Arial" panose="020B0604020202020204" pitchFamily="34" charset="0"/>
              </a:rPr>
              <a:t> does not imply </a:t>
            </a:r>
            <a:r>
              <a:rPr lang="en-US" altLang="en-US" i="1">
                <a:cs typeface="Arial" panose="020B0604020202020204" pitchFamily="34" charset="0"/>
              </a:rPr>
              <a:t>L(e) = L(e’)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i.e., Lamport clocks arbitrarily order some concurrent events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F426048-2F32-384D-B2A0-68034A377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Lamport’s algorithm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FC2FBAF-D4F1-6B43-B72B-FEB562099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dirty="0"/>
              <a:t>Each process </a:t>
            </a:r>
            <a:r>
              <a:rPr lang="en-US" altLang="en-US" i="1" dirty="0" err="1"/>
              <a:t>i</a:t>
            </a:r>
            <a:r>
              <a:rPr lang="en-US" altLang="en-US" dirty="0"/>
              <a:t> keeps a local clock, </a:t>
            </a:r>
            <a:r>
              <a:rPr lang="en-US" altLang="en-US" i="1" dirty="0"/>
              <a:t>L</a:t>
            </a:r>
            <a:r>
              <a:rPr lang="en-US" altLang="en-US" i="1" baseline="-30000" dirty="0"/>
              <a:t>i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dirty="0"/>
              <a:t>Three rules:</a:t>
            </a:r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en-US" altLang="en-US" dirty="0"/>
              <a:t>At process </a:t>
            </a:r>
            <a:r>
              <a:rPr lang="en-US" altLang="en-US" i="1" dirty="0" err="1"/>
              <a:t>i</a:t>
            </a:r>
            <a:r>
              <a:rPr lang="en-US" altLang="en-US" dirty="0"/>
              <a:t>, increment </a:t>
            </a:r>
            <a:r>
              <a:rPr lang="en-US" altLang="en-US" i="1" dirty="0"/>
              <a:t>L</a:t>
            </a:r>
            <a:r>
              <a:rPr lang="en-US" altLang="en-US" i="1" baseline="-30000" dirty="0"/>
              <a:t>i</a:t>
            </a:r>
            <a:r>
              <a:rPr lang="en-US" altLang="en-US" dirty="0"/>
              <a:t> before each event</a:t>
            </a:r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en-US" altLang="en-US" dirty="0"/>
              <a:t>To send a message </a:t>
            </a:r>
            <a:r>
              <a:rPr lang="en-US" altLang="en-US" i="1" dirty="0"/>
              <a:t>m</a:t>
            </a:r>
            <a:r>
              <a:rPr lang="en-US" altLang="en-US" dirty="0"/>
              <a:t> at process </a:t>
            </a:r>
            <a:r>
              <a:rPr lang="en-US" altLang="en-US" i="1" dirty="0" err="1"/>
              <a:t>i</a:t>
            </a:r>
            <a:r>
              <a:rPr lang="en-US" altLang="en-US" dirty="0"/>
              <a:t>, apply rule 1 and then include the current local time in the message:  i.e., </a:t>
            </a:r>
            <a:r>
              <a:rPr lang="en-US" altLang="en-US" i="1" dirty="0"/>
              <a:t>send(</a:t>
            </a:r>
            <a:r>
              <a:rPr lang="en-US" altLang="en-US" i="1" dirty="0" err="1"/>
              <a:t>m,L</a:t>
            </a:r>
            <a:r>
              <a:rPr lang="en-US" altLang="en-US" i="1" baseline="-30000" dirty="0" err="1"/>
              <a:t>i</a:t>
            </a:r>
            <a:r>
              <a:rPr lang="en-US" altLang="en-US" i="1" dirty="0"/>
              <a:t>)</a:t>
            </a:r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en-US" altLang="en-US" dirty="0"/>
              <a:t>To receive a message </a:t>
            </a:r>
            <a:r>
              <a:rPr lang="en-US" altLang="en-US" i="1" dirty="0"/>
              <a:t>(</a:t>
            </a:r>
            <a:r>
              <a:rPr lang="en-US" altLang="en-US" i="1" dirty="0" err="1"/>
              <a:t>m,t</a:t>
            </a:r>
            <a:r>
              <a:rPr lang="en-US" altLang="en-US" i="1" dirty="0"/>
              <a:t>)</a:t>
            </a:r>
            <a:r>
              <a:rPr lang="en-US" altLang="en-US" dirty="0"/>
              <a:t> at process </a:t>
            </a:r>
            <a:r>
              <a:rPr lang="en-US" altLang="en-US" i="1" dirty="0"/>
              <a:t>j</a:t>
            </a:r>
            <a:r>
              <a:rPr lang="en-US" altLang="en-US" dirty="0"/>
              <a:t>, set </a:t>
            </a:r>
            <a:r>
              <a:rPr lang="en-US" altLang="en-US" i="1" dirty="0" err="1"/>
              <a:t>L</a:t>
            </a:r>
            <a:r>
              <a:rPr lang="en-US" altLang="en-US" i="1" baseline="-30000" dirty="0" err="1"/>
              <a:t>j</a:t>
            </a:r>
            <a:r>
              <a:rPr lang="en-US" altLang="en-US" i="1" dirty="0"/>
              <a:t> = max(</a:t>
            </a:r>
            <a:r>
              <a:rPr lang="en-US" altLang="en-US" i="1" dirty="0" err="1"/>
              <a:t>L</a:t>
            </a:r>
            <a:r>
              <a:rPr lang="en-US" altLang="en-US" i="1" baseline="-30000" dirty="0" err="1"/>
              <a:t>j</a:t>
            </a:r>
            <a:r>
              <a:rPr lang="en-US" altLang="en-US" i="1" dirty="0" err="1"/>
              <a:t>,t</a:t>
            </a:r>
            <a:r>
              <a:rPr lang="en-US" altLang="en-US" i="1" dirty="0"/>
              <a:t>)</a:t>
            </a:r>
            <a:r>
              <a:rPr lang="en-US" altLang="en-US" dirty="0"/>
              <a:t> and then apply rule 1 before time-stamping the receive event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dirty="0"/>
              <a:t>The global time </a:t>
            </a:r>
            <a:r>
              <a:rPr lang="en-US" altLang="en-US" i="1" dirty="0"/>
              <a:t>L(e)</a:t>
            </a:r>
            <a:r>
              <a:rPr lang="en-US" altLang="en-US" dirty="0"/>
              <a:t> of an event </a:t>
            </a:r>
            <a:r>
              <a:rPr lang="en-US" altLang="en-US" i="1" dirty="0"/>
              <a:t>e</a:t>
            </a:r>
            <a:r>
              <a:rPr lang="en-US" altLang="en-US" dirty="0"/>
              <a:t> is just its local time</a:t>
            </a:r>
          </a:p>
          <a:p>
            <a:pPr marL="990600" lvl="1" indent="-533400">
              <a:lnSpc>
                <a:spcPct val="80000"/>
              </a:lnSpc>
            </a:pPr>
            <a:r>
              <a:rPr lang="en-US" altLang="en-US" dirty="0"/>
              <a:t>For an event </a:t>
            </a:r>
            <a:r>
              <a:rPr lang="en-US" altLang="en-US" i="1" dirty="0"/>
              <a:t>e</a:t>
            </a:r>
            <a:r>
              <a:rPr lang="en-US" altLang="en-US" dirty="0"/>
              <a:t> at process </a:t>
            </a:r>
            <a:r>
              <a:rPr lang="en-US" altLang="en-US" i="1" dirty="0" err="1"/>
              <a:t>i</a:t>
            </a:r>
            <a:r>
              <a:rPr lang="en-US" altLang="en-US" dirty="0"/>
              <a:t>, </a:t>
            </a:r>
            <a:r>
              <a:rPr lang="en-US" altLang="en-US" i="1" dirty="0"/>
              <a:t>L(e) = L</a:t>
            </a:r>
            <a:r>
              <a:rPr lang="en-US" altLang="en-US" i="1" baseline="-30000" dirty="0"/>
              <a:t>i</a:t>
            </a:r>
            <a:r>
              <a:rPr lang="en-US" altLang="en-US" i="1" dirty="0"/>
              <a:t>(e)</a:t>
            </a:r>
          </a:p>
          <a:p>
            <a:pPr marL="990600" lvl="1" indent="-533400">
              <a:lnSpc>
                <a:spcPct val="80000"/>
              </a:lnSpc>
            </a:pPr>
            <a:endParaRPr lang="en-US" altLang="en-US" i="1" dirty="0"/>
          </a:p>
          <a:p>
            <a:pPr marL="990600" lvl="1" indent="-533400">
              <a:lnSpc>
                <a:spcPct val="80000"/>
              </a:lnSpc>
            </a:pPr>
            <a:endParaRPr lang="en-US" altLang="en-US" i="1" dirty="0"/>
          </a:p>
          <a:p>
            <a:r>
              <a:rPr lang="en-US" altLang="en-US" dirty="0"/>
              <a:t>Many systems require a total-ordering of events, not a partial-ordering</a:t>
            </a:r>
          </a:p>
          <a:p>
            <a:r>
              <a:rPr lang="en-US" altLang="en-US" dirty="0"/>
              <a:t>Use </a:t>
            </a:r>
            <a:r>
              <a:rPr lang="en-US" altLang="en-US" dirty="0" err="1"/>
              <a:t>Lamport’s</a:t>
            </a:r>
            <a:r>
              <a:rPr lang="en-US" altLang="en-US" dirty="0"/>
              <a:t> algorithm, but break ties using the process ID</a:t>
            </a:r>
          </a:p>
          <a:p>
            <a:pPr lvl="1"/>
            <a:r>
              <a:rPr lang="en-US" altLang="en-US" i="1" dirty="0"/>
              <a:t>L(e) = </a:t>
            </a:r>
            <a:r>
              <a:rPr lang="en-US" altLang="en-US" i="1" dirty="0">
                <a:latin typeface="cmmi9" pitchFamily="34" charset="0"/>
              </a:rPr>
              <a:t>M * </a:t>
            </a:r>
            <a:r>
              <a:rPr lang="en-US" altLang="en-US" i="1" dirty="0"/>
              <a:t>L</a:t>
            </a:r>
            <a:r>
              <a:rPr lang="en-US" altLang="en-US" i="1" baseline="-30000" dirty="0"/>
              <a:t>i</a:t>
            </a:r>
            <a:r>
              <a:rPr lang="en-US" altLang="en-US" i="1" dirty="0"/>
              <a:t>(e) + </a:t>
            </a:r>
            <a:r>
              <a:rPr lang="en-US" altLang="en-US" i="1" dirty="0" err="1"/>
              <a:t>i</a:t>
            </a:r>
            <a:endParaRPr lang="en-US" altLang="en-US" i="1" dirty="0">
              <a:latin typeface="cmmi9" pitchFamily="34" charset="0"/>
            </a:endParaRPr>
          </a:p>
          <a:p>
            <a:pPr lvl="2"/>
            <a:r>
              <a:rPr lang="en-US" altLang="en-US" i="1" dirty="0">
                <a:latin typeface="cmmi9" pitchFamily="34" charset="0"/>
              </a:rPr>
              <a:t>M </a:t>
            </a:r>
            <a:r>
              <a:rPr lang="en-US" altLang="en-US" dirty="0">
                <a:latin typeface="cmmi9" pitchFamily="34" charset="0"/>
              </a:rPr>
              <a:t>= maximum number of processes</a:t>
            </a:r>
            <a:endParaRPr lang="en-US" altLang="en-US" dirty="0"/>
          </a:p>
          <a:p>
            <a:pPr marL="697992" indent="-533400">
              <a:lnSpc>
                <a:spcPct val="80000"/>
              </a:lnSpc>
            </a:pPr>
            <a:endParaRPr lang="en-US" altLang="en-US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BF50EE1-B851-AA45-85A2-13F4A7E94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Lamport on the baseball example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5C68431-F968-9143-8F5A-BF65FD17C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Initializing each local clock to 0, we get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1</a:t>
            </a:r>
            <a:r>
              <a:rPr lang="en-US" altLang="en-US" sz="1800" i="1" dirty="0"/>
              <a:t>) = 1</a:t>
            </a:r>
            <a:r>
              <a:rPr lang="en-US" altLang="en-US" sz="1800" dirty="0"/>
              <a:t> 		(pitcher throws ball to home)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2</a:t>
            </a:r>
            <a:r>
              <a:rPr lang="en-US" altLang="en-US" sz="1800" i="1" dirty="0"/>
              <a:t>) = 2</a:t>
            </a:r>
            <a:r>
              <a:rPr lang="en-US" altLang="en-US" sz="1800" dirty="0"/>
              <a:t> 		(ball arrives at home)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3</a:t>
            </a:r>
            <a:r>
              <a:rPr lang="en-US" altLang="en-US" sz="1800" i="1" dirty="0"/>
              <a:t>) = 3</a:t>
            </a:r>
            <a:r>
              <a:rPr lang="en-US" altLang="en-US" sz="1800" dirty="0"/>
              <a:t> 		(batter hits ball to pitcher)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4</a:t>
            </a:r>
            <a:r>
              <a:rPr lang="en-US" altLang="en-US" sz="1800" i="1" dirty="0"/>
              <a:t>) = 4</a:t>
            </a:r>
            <a:r>
              <a:rPr lang="en-US" altLang="en-US" sz="1800" dirty="0"/>
              <a:t>		(batter runs to first base)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5</a:t>
            </a:r>
            <a:r>
              <a:rPr lang="en-US" altLang="en-US" sz="1800" i="1" dirty="0"/>
              <a:t>) = 1</a:t>
            </a:r>
            <a:r>
              <a:rPr lang="en-US" altLang="en-US" sz="1800" dirty="0"/>
              <a:t>		(runner runs to home)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6</a:t>
            </a:r>
            <a:r>
              <a:rPr lang="en-US" altLang="en-US" sz="1800" i="1" dirty="0"/>
              <a:t>) = 4</a:t>
            </a:r>
            <a:r>
              <a:rPr lang="en-US" altLang="en-US" sz="1800" dirty="0"/>
              <a:t>		(ball arrives at pitcher)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7</a:t>
            </a:r>
            <a:r>
              <a:rPr lang="en-US" altLang="en-US" sz="1800" i="1" dirty="0"/>
              <a:t>) = 5</a:t>
            </a:r>
            <a:r>
              <a:rPr lang="en-US" altLang="en-US" sz="1800" dirty="0"/>
              <a:t>		(pitcher throws ball to first base)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8</a:t>
            </a:r>
            <a:r>
              <a:rPr lang="en-US" altLang="en-US" sz="1800" i="1" dirty="0"/>
              <a:t>) = 5</a:t>
            </a:r>
            <a:r>
              <a:rPr lang="en-US" altLang="en-US" sz="1800" dirty="0"/>
              <a:t>		(runner arrives at home)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9</a:t>
            </a:r>
            <a:r>
              <a:rPr lang="en-US" altLang="en-US" sz="1800" i="1" dirty="0"/>
              <a:t>) = 6</a:t>
            </a:r>
            <a:r>
              <a:rPr lang="en-US" altLang="en-US" sz="1800" dirty="0"/>
              <a:t>		(ball arrives at first base)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 dirty="0"/>
              <a:t>		L(e</a:t>
            </a:r>
            <a:r>
              <a:rPr lang="en-US" altLang="en-US" sz="1800" i="1" baseline="-30000" dirty="0"/>
              <a:t>10</a:t>
            </a:r>
            <a:r>
              <a:rPr lang="en-US" altLang="en-US" sz="1800" i="1" dirty="0"/>
              <a:t>) = 7</a:t>
            </a:r>
            <a:r>
              <a:rPr lang="en-US" altLang="en-US" sz="1800" dirty="0"/>
              <a:t>		(batter arrives at first base)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For our example, </a:t>
            </a:r>
            <a:r>
              <a:rPr lang="en-US" altLang="en-US" dirty="0" err="1"/>
              <a:t>Lamport’s</a:t>
            </a:r>
            <a:r>
              <a:rPr lang="en-US" altLang="en-US" dirty="0"/>
              <a:t> algorithm says that the run scores (</a:t>
            </a:r>
            <a:r>
              <a:rPr lang="en-US" altLang="en-US" dirty="0" err="1"/>
              <a:t>kinda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7ED9-5F81-DE4A-BA25-6A7A9ABE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Lamport</a:t>
            </a:r>
            <a:r>
              <a:rPr lang="en-US" dirty="0"/>
              <a:t> clock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02528AF-354F-1E4E-90E5-05AC6C022CCD}"/>
              </a:ext>
            </a:extLst>
          </p:cNvPr>
          <p:cNvGrpSpPr/>
          <p:nvPr/>
        </p:nvGrpSpPr>
        <p:grpSpPr>
          <a:xfrm>
            <a:off x="4065103" y="1317824"/>
            <a:ext cx="7318513" cy="4618479"/>
            <a:chOff x="2133600" y="1143000"/>
            <a:chExt cx="7848600" cy="495300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EA716F8-29C9-B840-8EA8-F98A193CF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143000"/>
              <a:ext cx="7848600" cy="495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lnSpc>
                  <a:spcPct val="110000"/>
                </a:lnSpc>
                <a:buFont typeface="Wingdings" pitchFamily="2" charset="2"/>
                <a:buNone/>
              </a:pPr>
              <a:r>
                <a:rPr lang="en-US" altLang="en-US" sz="2400" kern="0">
                  <a:latin typeface="Arial" panose="020B0604020202020204" pitchFamily="34" charset="0"/>
                </a:rPr>
                <a:t>  </a:t>
              </a:r>
              <a:endParaRPr lang="en-US" altLang="en-US" kern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E66E63D6-B4DC-674D-AE01-97DB816DB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9800" y="2413000"/>
              <a:ext cx="4940300" cy="12700"/>
            </a:xfrm>
            <a:prstGeom prst="line">
              <a:avLst/>
            </a:prstGeom>
            <a:noFill/>
            <a:ln w="28575">
              <a:solidFill>
                <a:srgbClr val="037C03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60A56D3B-6D8C-E740-BFDB-63AD80002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7100" y="2197101"/>
              <a:ext cx="1155700" cy="42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/>
                <a:t>p  1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EA58EE20-84B4-2743-923B-FA2EDEF47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5200" y="2844801"/>
              <a:ext cx="1155700" cy="42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/>
                <a:t>p  2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D8B7520A-9DB5-D544-976A-290EF5898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5200" y="3454401"/>
              <a:ext cx="1155700" cy="42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/>
                <a:t>p  3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F3AC6D07-E06F-2049-9A57-C48B036E5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0600" y="4216401"/>
              <a:ext cx="1155700" cy="42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/>
                <a:t>p  4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B9F6FDFB-3D7D-064A-B321-9E2CE53CC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2413000"/>
              <a:ext cx="520700" cy="6223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80D376B4-7763-DE40-9432-AB98974EC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000" y="2425700"/>
              <a:ext cx="914400" cy="12954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138C526-49B0-D54E-844B-508BA83E8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5800" y="3708400"/>
              <a:ext cx="482600" cy="7493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E6C0DDF1-59E5-5446-96FD-4496E55A5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4400" y="3048000"/>
              <a:ext cx="406400" cy="6604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9524854C-57DF-A14A-8A0C-9A46DE713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5600" y="2590800"/>
              <a:ext cx="228600" cy="18288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FEFDABE2-2DBE-6E48-AD98-6ED33223E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2438400"/>
              <a:ext cx="762000" cy="12954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8689E09-F9B6-144C-A7B4-EF4BEDB4B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3048000"/>
              <a:ext cx="4940300" cy="12700"/>
            </a:xfrm>
            <a:prstGeom prst="line">
              <a:avLst/>
            </a:prstGeom>
            <a:noFill/>
            <a:ln w="28575">
              <a:solidFill>
                <a:srgbClr val="037C03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B414C775-B5BC-6443-9105-65DC1E9FB5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3708400"/>
              <a:ext cx="4940300" cy="12700"/>
            </a:xfrm>
            <a:prstGeom prst="line">
              <a:avLst/>
            </a:prstGeom>
            <a:noFill/>
            <a:ln w="28575">
              <a:solidFill>
                <a:srgbClr val="037C03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D8D1F6FC-5724-4C49-AA0C-F96D78A67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3300" y="4419600"/>
              <a:ext cx="4940300" cy="12700"/>
            </a:xfrm>
            <a:prstGeom prst="line">
              <a:avLst/>
            </a:prstGeom>
            <a:noFill/>
            <a:ln w="28575">
              <a:solidFill>
                <a:srgbClr val="037C03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0E912888-9721-C646-9DF8-05A3C23B6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0700" y="3835400"/>
              <a:ext cx="317500" cy="5842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3E3F63F7-3976-C54D-84FF-9CD5EC8AD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800" y="22225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A792D1D9-D198-ED4F-B3DB-54EC5F558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625" y="21844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C5252969-7D44-F043-8B82-182D53023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0226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396997F3-16AC-1140-8A72-40D523F3C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025" y="29845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AEA5F81E-293E-1143-AB41-4CAAC017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600" y="22225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C73F8E0A-7B07-C149-BCFD-E7C3B4E01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9425" y="21844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623AEC9C-C3F9-894C-944E-0D46F6C7B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36957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274F12A7-1244-0647-87DC-F655DE252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525" y="36576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168D4F89-7B77-124C-B54F-84BA06B2B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8702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7B649315-923A-6142-9D0F-3AA3EBBF8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8321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8A22AF21-6CC5-AD4E-90C0-B26548E88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500" y="36957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77CD1458-9BF7-2341-84F3-DC54CB885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25" y="36576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64ECFD00-1EA3-424F-9C6C-1B2214FEA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0" y="35433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2CA4B43F-3441-6F48-A3B6-C3B7EFF4C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8325" y="35052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27EB5015-BFFE-444D-8E28-2378CDD57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700" y="44069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DED88824-8136-BF46-A9A7-E1AD2B927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5525" y="43688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" name="Oval 35">
              <a:extLst>
                <a:ext uri="{FF2B5EF4-FFF2-40B4-BE49-F238E27FC236}">
                  <a16:creationId xmlns:a16="http://schemas.microsoft.com/office/drawing/2014/main" id="{CB80C6C8-B4B8-B849-9B00-25F1C7B87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4975" y="23749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4DA742ED-7253-7141-A5BA-B594AE2F8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23368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9" name="Oval 37">
              <a:extLst>
                <a:ext uri="{FF2B5EF4-FFF2-40B4-BE49-F238E27FC236}">
                  <a16:creationId xmlns:a16="http://schemas.microsoft.com/office/drawing/2014/main" id="{DCB476E6-A5A3-F24D-920C-7A6CC717B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375" y="44069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10E47A2F-F5E1-094D-A7D7-1BD08D1A6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3688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Oval 39">
              <a:extLst>
                <a:ext uri="{FF2B5EF4-FFF2-40B4-BE49-F238E27FC236}">
                  <a16:creationId xmlns:a16="http://schemas.microsoft.com/office/drawing/2014/main" id="{CC839234-DB39-594F-B5D2-6B04D3F7D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8025" y="22352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6959673B-02EE-4B43-AE54-AF8F5C5BB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4850" y="21971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3" name="Oval 41">
              <a:extLst>
                <a:ext uri="{FF2B5EF4-FFF2-40B4-BE49-F238E27FC236}">
                  <a16:creationId xmlns:a16="http://schemas.microsoft.com/office/drawing/2014/main" id="{2F2BB9F8-E345-0242-B8EF-F67666FB3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0200" y="36830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398C186B-D0B4-CF4D-B865-3077EC064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7025" y="36449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2450AB21-C813-5D4B-B00D-DB978073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36449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23D1A7B9-9C00-AC4B-9B44-195E956F4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6425" y="36068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9DF97EBF-4BAF-2246-A619-92DE80C3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6400" y="44069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80C842E8-2CB7-AF4B-A40B-BF3D836CB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3225" y="43688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9" name="Oval 47">
              <a:extLst>
                <a:ext uri="{FF2B5EF4-FFF2-40B4-BE49-F238E27FC236}">
                  <a16:creationId xmlns:a16="http://schemas.microsoft.com/office/drawing/2014/main" id="{7A2FB34B-5596-DF48-B2B5-9037A2DB0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22987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075B8F5E-C729-4544-9479-A719F8E7E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22606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1" name="Oval 49">
              <a:extLst>
                <a:ext uri="{FF2B5EF4-FFF2-40B4-BE49-F238E27FC236}">
                  <a16:creationId xmlns:a16="http://schemas.microsoft.com/office/drawing/2014/main" id="{F83B9689-1147-F640-A2A6-CE59D50AD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900" y="29337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729A9596-01BC-D24D-984C-0DF8E2DC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0725" y="28956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3" name="Oval 51">
              <a:extLst>
                <a:ext uri="{FF2B5EF4-FFF2-40B4-BE49-F238E27FC236}">
                  <a16:creationId xmlns:a16="http://schemas.microsoft.com/office/drawing/2014/main" id="{F0E17D13-9746-3E4B-B7AC-987F62300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35941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D907A8F4-ABF5-DE43-9CFF-DD5EB33EF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35560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5" name="Oval 53">
              <a:extLst>
                <a:ext uri="{FF2B5EF4-FFF2-40B4-BE49-F238E27FC236}">
                  <a16:creationId xmlns:a16="http://schemas.microsoft.com/office/drawing/2014/main" id="{9C3E0413-20CA-4B4A-AAFA-C44BEB1BD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300" y="43053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0A1A09E0-F27A-C844-8F1B-07E6ACBF6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125" y="42672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E2ED66E-B2F1-3F4C-8808-311CC6009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00" y="25781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1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033E6C52-4BC2-534C-9D6E-3E879F0D5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600" y="30353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2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47B37BA3-BEBF-0B46-938A-4EE4C1B4E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6900" y="39116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4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F972D9A2-A762-4744-8A60-D715A3ED4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2000" y="31750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3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D7FD1E3B-6B8D-244F-B5E2-952303212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2766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6</a:t>
              </a:r>
            </a:p>
          </p:txBody>
        </p:sp>
        <p:sp>
          <p:nvSpPr>
            <p:cNvPr id="62" name="Text Box 61">
              <a:extLst>
                <a:ext uri="{FF2B5EF4-FFF2-40B4-BE49-F238E27FC236}">
                  <a16:creationId xmlns:a16="http://schemas.microsoft.com/office/drawing/2014/main" id="{743CECDB-1D73-C546-A692-28D8FB9AA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8500" y="39878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7</a:t>
              </a:r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CBE61FD3-3F08-3D48-909A-C23975643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9325" y="1701800"/>
              <a:ext cx="266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BBB5AF2-E82B-1846-9410-90657B21C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500" y="5118100"/>
              <a:ext cx="266700" cy="2159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/>
            </a:p>
          </p:txBody>
        </p:sp>
        <p:sp>
          <p:nvSpPr>
            <p:cNvPr id="65" name="Text Box 64">
              <a:extLst>
                <a:ext uri="{FF2B5EF4-FFF2-40B4-BE49-F238E27FC236}">
                  <a16:creationId xmlns:a16="http://schemas.microsoft.com/office/drawing/2014/main" id="{ABBED0AB-BD66-464D-A222-6E570559B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925" y="5054600"/>
              <a:ext cx="2222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66" name="Text Box 65">
              <a:extLst>
                <a:ext uri="{FF2B5EF4-FFF2-40B4-BE49-F238E27FC236}">
                  <a16:creationId xmlns:a16="http://schemas.microsoft.com/office/drawing/2014/main" id="{2FD40146-3443-8B4F-9BFD-133DFC788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9100" y="5041900"/>
              <a:ext cx="1663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solidFill>
                    <a:schemeClr val="tx1"/>
                  </a:solidFill>
                </a:rPr>
                <a:t>Clock Value</a:t>
              </a:r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B4F0FD66-2564-E243-8E19-8699A37F9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625" y="5225494"/>
              <a:ext cx="2184400" cy="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Text Box 67">
              <a:extLst>
                <a:ext uri="{FF2B5EF4-FFF2-40B4-BE49-F238E27FC236}">
                  <a16:creationId xmlns:a16="http://schemas.microsoft.com/office/drawing/2014/main" id="{A6E4C414-1DA1-844A-A378-6D1967150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4425" y="5047694"/>
              <a:ext cx="1663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solidFill>
                    <a:schemeClr val="tx1"/>
                  </a:solidFill>
                </a:rPr>
                <a:t>Message</a:t>
              </a:r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F71A690F-8F33-D248-AE64-AD638E385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7025" y="4946094"/>
              <a:ext cx="13589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dirty="0"/>
                <a:t>timestamp</a:t>
              </a:r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EC4C5545-0A4E-F34E-AA57-5F3299873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4700" y="1701800"/>
              <a:ext cx="4914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 Box 70">
              <a:extLst>
                <a:ext uri="{FF2B5EF4-FFF2-40B4-BE49-F238E27FC236}">
                  <a16:creationId xmlns:a16="http://schemas.microsoft.com/office/drawing/2014/main" id="{9F26D9AD-54EC-4740-BBAC-473581576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1308100"/>
              <a:ext cx="2298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solidFill>
                    <a:schemeClr val="tx1"/>
                  </a:solidFill>
                </a:rPr>
                <a:t>Physical Time</a:t>
              </a:r>
            </a:p>
          </p:txBody>
        </p:sp>
        <p:sp>
          <p:nvSpPr>
            <p:cNvPr id="72" name="Text Box 57">
              <a:extLst>
                <a:ext uri="{FF2B5EF4-FFF2-40B4-BE49-F238E27FC236}">
                  <a16:creationId xmlns:a16="http://schemas.microsoft.com/office/drawing/2014/main" id="{B9154D02-5F8D-EC48-B8D4-1B9BA9A0E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743200"/>
              <a:ext cx="3683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/>
                <a:t>8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7DC6737-8E35-0147-96FF-A1B3BF5AFCE6}"/>
              </a:ext>
            </a:extLst>
          </p:cNvPr>
          <p:cNvSpPr txBox="1"/>
          <p:nvPr/>
        </p:nvSpPr>
        <p:spPr>
          <a:xfrm>
            <a:off x="1097280" y="5258175"/>
            <a:ext cx="76930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+mj-lt"/>
                <a:ea typeface="ＭＳ Ｐゴシック" pitchFamily="-107" charset="-128"/>
              </a:rPr>
              <a:t>Limitations of </a:t>
            </a:r>
            <a:r>
              <a:rPr lang="en-US" sz="2000" dirty="0" err="1">
                <a:latin typeface="+mj-lt"/>
                <a:ea typeface="ＭＳ Ｐゴシック" pitchFamily="-107" charset="-128"/>
              </a:rPr>
              <a:t>Lamport</a:t>
            </a:r>
            <a:r>
              <a:rPr lang="en-US" sz="2000" dirty="0">
                <a:latin typeface="+mj-lt"/>
                <a:ea typeface="ＭＳ Ｐゴシック" pitchFamily="-107" charset="-128"/>
              </a:rPr>
              <a:t> Clocks:</a:t>
            </a:r>
          </a:p>
          <a:p>
            <a:pPr>
              <a:spcBef>
                <a:spcPct val="50000"/>
              </a:spcBef>
              <a:defRPr/>
            </a:pPr>
            <a:r>
              <a:rPr lang="en-US" sz="1600" b="1" dirty="0">
                <a:latin typeface="+mj-lt"/>
                <a:ea typeface="ＭＳ Ｐゴシック" pitchFamily="-107" charset="-128"/>
              </a:rPr>
              <a:t>It represents a </a:t>
            </a:r>
            <a:r>
              <a:rPr lang="en-US" sz="1600" b="1" i="1" dirty="0">
                <a:latin typeface="+mj-lt"/>
                <a:ea typeface="ＭＳ Ｐゴシック" pitchFamily="-107" charset="-128"/>
              </a:rPr>
              <a:t>partial order</a:t>
            </a:r>
            <a:r>
              <a:rPr lang="en-US" sz="1600" b="1" dirty="0">
                <a:latin typeface="+mj-lt"/>
                <a:ea typeface="ＭＳ Ｐゴシック" pitchFamily="-107" charset="-128"/>
              </a:rPr>
              <a:t>, if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a </a:t>
            </a:r>
            <a:r>
              <a:rPr lang="en-US" b="1" i="1" dirty="0">
                <a:latin typeface="+mj-lt"/>
                <a:ea typeface="ＭＳ Ｐゴシック" pitchFamily="-107" charset="-128"/>
                <a:sym typeface="Symbol" pitchFamily="18" charset="2"/>
              </a:rPr>
              <a:t>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b</a:t>
            </a:r>
            <a:r>
              <a:rPr lang="en-US" b="1" dirty="0">
                <a:latin typeface="+mj-lt"/>
                <a:ea typeface="ＭＳ Ｐゴシック" pitchFamily="-107" charset="-128"/>
              </a:rPr>
              <a:t> it implies that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L(a) &lt; L(b)</a:t>
            </a:r>
            <a:r>
              <a:rPr lang="en-US" b="1" dirty="0">
                <a:latin typeface="+mj-lt"/>
                <a:ea typeface="ＭＳ Ｐゴシック" pitchFamily="-107" charset="-128"/>
              </a:rPr>
              <a:t> but the converse is not true, i.e., if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L(a) &lt; L(b)</a:t>
            </a:r>
            <a:r>
              <a:rPr lang="en-US" b="1" dirty="0">
                <a:latin typeface="+mj-lt"/>
                <a:ea typeface="ＭＳ Ｐゴシック" pitchFamily="-107" charset="-128"/>
              </a:rPr>
              <a:t> it doesn’t imply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a </a:t>
            </a:r>
            <a:r>
              <a:rPr lang="en-US" b="1" i="1" dirty="0">
                <a:latin typeface="+mj-lt"/>
                <a:ea typeface="ＭＳ Ｐゴシック" pitchFamily="-107" charset="-128"/>
                <a:sym typeface="Symbol" pitchFamily="18" charset="2"/>
              </a:rPr>
              <a:t>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b</a:t>
            </a:r>
            <a:r>
              <a:rPr lang="en-US" b="1" dirty="0">
                <a:latin typeface="+mj-lt"/>
                <a:ea typeface="ＭＳ Ｐゴシック" pitchFamily="-107" charset="-128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1667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7ED9-5F81-DE4A-BA25-6A7A9ABE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Lamport</a:t>
            </a:r>
            <a:r>
              <a:rPr lang="en-US" dirty="0"/>
              <a:t> clock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A716F8-29C9-B840-8EA8-F98A193CF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103" y="1317824"/>
            <a:ext cx="7318513" cy="461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kern="0">
                <a:latin typeface="Arial" panose="020B0604020202020204" pitchFamily="34" charset="0"/>
              </a:rPr>
              <a:t>  </a:t>
            </a:r>
            <a:endParaRPr lang="en-US" altLang="en-US" kern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E66E63D6-B4DC-674D-AE01-97DB816DB1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0382" y="2502049"/>
            <a:ext cx="4606637" cy="11842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0A56D3B-6D8C-E740-BFDB-63AD80002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314" y="2300732"/>
            <a:ext cx="10776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  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EA58EE20-84B4-2743-923B-FA2EDEF47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841" y="2904687"/>
            <a:ext cx="10776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  2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D8B7520A-9DB5-D544-976A-290EF5898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841" y="3473115"/>
            <a:ext cx="10776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  3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F3AC6D07-E06F-2049-9A57-C48B036E5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526" y="4183650"/>
            <a:ext cx="10776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  4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B9F6FDFB-3D7D-064A-B321-9E2CE53CC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227" y="2502049"/>
            <a:ext cx="485532" cy="58027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80D376B4-7763-DE40-9432-AB98974EC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0393" y="2513892"/>
            <a:ext cx="852642" cy="120791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7138C526-49B0-D54E-844B-508BA83E8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988" y="3709959"/>
            <a:ext cx="450006" cy="698693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E6C0DDF1-59E5-5446-96FD-4496E55A5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8209" y="3094162"/>
            <a:ext cx="378952" cy="615797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9524854C-57DF-A14A-8A0C-9A46DE7134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8314" y="2667841"/>
            <a:ext cx="213161" cy="1705285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FEFDABE2-2DBE-6E48-AD98-6ED33223E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5689" y="2525734"/>
            <a:ext cx="710535" cy="120791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B8689E09-F9B6-144C-A7B4-EF4BEDB4B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2224" y="3094162"/>
            <a:ext cx="4606637" cy="11842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414C775-B5BC-6443-9105-65DC1E9FB5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2224" y="3709959"/>
            <a:ext cx="4606637" cy="11842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D8D1F6FC-5724-4C49-AA0C-F96D78A67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9593" y="4373125"/>
            <a:ext cx="4606637" cy="11842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0E912888-9721-C646-9DF8-05A3C23B6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66489" y="3828382"/>
            <a:ext cx="296056" cy="544744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3E3F63F7-3976-C54D-84FF-9CD5EC8A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804" y="2324416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A792D1D9-D198-ED4F-B3DB-54EC5F55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844" y="2288889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C5252969-7D44-F043-8B82-182D5302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179" y="3070478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396997F3-16AC-1140-8A72-40D523F3C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3219" y="3034951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Oval 23">
            <a:extLst>
              <a:ext uri="{FF2B5EF4-FFF2-40B4-BE49-F238E27FC236}">
                <a16:creationId xmlns:a16="http://schemas.microsoft.com/office/drawing/2014/main" id="{AEA5F81E-293E-1143-AB41-4CAAC017D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286" y="2324416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C73F8E0A-7B07-C149-BCFD-E7C3B4E01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26" y="2288889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623AEC9C-C3F9-894C-944E-0D46F6C7B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771" y="3698117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274F12A7-1244-0647-87DC-F655DE252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810" y="3662590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Oval 27">
            <a:extLst>
              <a:ext uri="{FF2B5EF4-FFF2-40B4-BE49-F238E27FC236}">
                <a16:creationId xmlns:a16="http://schemas.microsoft.com/office/drawing/2014/main" id="{168D4F89-7B77-124C-B54F-84BA06B2B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944" y="2928371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7B649315-923A-6142-9D0F-3AA3EBBF8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4984" y="2892844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Oval 29">
            <a:extLst>
              <a:ext uri="{FF2B5EF4-FFF2-40B4-BE49-F238E27FC236}">
                <a16:creationId xmlns:a16="http://schemas.microsoft.com/office/drawing/2014/main" id="{8A22AF21-6CC5-AD4E-90C0-B26548E88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0581" y="3698117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77CD1458-9BF7-2341-84F3-DC54CB885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621" y="3662590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Oval 31">
            <a:extLst>
              <a:ext uri="{FF2B5EF4-FFF2-40B4-BE49-F238E27FC236}">
                <a16:creationId xmlns:a16="http://schemas.microsoft.com/office/drawing/2014/main" id="{64ECFD00-1EA3-424F-9C6C-1B2214FEA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407" y="3556010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2CA4B43F-3441-6F48-A3B6-C3B7EFF4C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447" y="3520483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3">
            <a:extLst>
              <a:ext uri="{FF2B5EF4-FFF2-40B4-BE49-F238E27FC236}">
                <a16:creationId xmlns:a16="http://schemas.microsoft.com/office/drawing/2014/main" id="{27EB5015-BFFE-444D-8E28-2378CDD57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729" y="4361283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DED88824-8136-BF46-A9A7-E1AD2B927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768" y="4325756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7" name="Oval 35">
            <a:extLst>
              <a:ext uri="{FF2B5EF4-FFF2-40B4-BE49-F238E27FC236}">
                <a16:creationId xmlns:a16="http://schemas.microsoft.com/office/drawing/2014/main" id="{CB80C6C8-B4B8-B849-9B00-25F1C7B8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2329" y="2466523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4DA742ED-7253-7141-A5BA-B594AE2F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9368" y="2430996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" name="Oval 37">
            <a:extLst>
              <a:ext uri="{FF2B5EF4-FFF2-40B4-BE49-F238E27FC236}">
                <a16:creationId xmlns:a16="http://schemas.microsoft.com/office/drawing/2014/main" id="{DCB476E6-A5A3-F24D-920C-7A6CC717B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168" y="4361283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10E47A2F-F5E1-094D-A7D7-1BD08D1A6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207" y="4325756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CC839234-DB39-594F-B5D2-6B04D3F7D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937" y="2336258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6959673B-02EE-4B43-AE54-AF8F5C5BB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976" y="2300731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2F2BB9F8-E345-0242-B8EF-F67666FB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855" y="3686275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398C186B-D0B4-CF4D-B865-3077EC06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5895" y="3650748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5" name="Oval 43">
            <a:extLst>
              <a:ext uri="{FF2B5EF4-FFF2-40B4-BE49-F238E27FC236}">
                <a16:creationId xmlns:a16="http://schemas.microsoft.com/office/drawing/2014/main" id="{2450AB21-C813-5D4B-B00D-DB9780731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438" y="3650748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23D1A7B9-9C00-AC4B-9B44-195E956F4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6424" y="3615221"/>
            <a:ext cx="420400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7" name="Oval 45">
            <a:extLst>
              <a:ext uri="{FF2B5EF4-FFF2-40B4-BE49-F238E27FC236}">
                <a16:creationId xmlns:a16="http://schemas.microsoft.com/office/drawing/2014/main" id="{9DF97EBF-4BAF-2246-A619-92DE80C39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9909" y="4361283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48" name="Text Box 46">
            <a:extLst>
              <a:ext uri="{FF2B5EF4-FFF2-40B4-BE49-F238E27FC236}">
                <a16:creationId xmlns:a16="http://schemas.microsoft.com/office/drawing/2014/main" id="{80C842E8-2CB7-AF4B-A40B-BF3D836CB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948" y="4325756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Oval 47">
            <a:extLst>
              <a:ext uri="{FF2B5EF4-FFF2-40B4-BE49-F238E27FC236}">
                <a16:creationId xmlns:a16="http://schemas.microsoft.com/office/drawing/2014/main" id="{7A2FB34B-5596-DF48-B2B5-9037A2DB0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221" y="2395469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075B8F5E-C729-4544-9479-A719F8E7E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4261" y="2359942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Oval 49">
            <a:extLst>
              <a:ext uri="{FF2B5EF4-FFF2-40B4-BE49-F238E27FC236}">
                <a16:creationId xmlns:a16="http://schemas.microsoft.com/office/drawing/2014/main" id="{F83B9689-1147-F640-A2A6-CE59D50AD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064" y="2987582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729A9596-01BC-D24D-984C-0DF8E2DCA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103" y="2952055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Oval 51">
            <a:extLst>
              <a:ext uri="{FF2B5EF4-FFF2-40B4-BE49-F238E27FC236}">
                <a16:creationId xmlns:a16="http://schemas.microsoft.com/office/drawing/2014/main" id="{F0E17D13-9746-3E4B-B7AC-987F62300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221" y="3603379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D907A8F4-ABF5-DE43-9CFF-DD5EB33EF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4261" y="3567852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Oval 53">
            <a:extLst>
              <a:ext uri="{FF2B5EF4-FFF2-40B4-BE49-F238E27FC236}">
                <a16:creationId xmlns:a16="http://schemas.microsoft.com/office/drawing/2014/main" id="{9C3E0413-20CA-4B4A-AAFA-C44BEB1B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748" y="4266545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6" name="Text Box 54">
            <a:extLst>
              <a:ext uri="{FF2B5EF4-FFF2-40B4-BE49-F238E27FC236}">
                <a16:creationId xmlns:a16="http://schemas.microsoft.com/office/drawing/2014/main" id="{0A1A09E0-F27A-C844-8F1B-07E6ACBF6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788" y="4231018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DE2ED66E-B2F1-3F4C-8808-311CC6009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700" y="2655999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1</a:t>
            </a:r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033E6C52-4BC2-534C-9D6E-3E879F0D5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3554" y="3082320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2</a:t>
            </a:r>
          </a:p>
        </p:txBody>
      </p:sp>
      <p:sp>
        <p:nvSpPr>
          <p:cNvPr id="59" name="Text Box 57">
            <a:extLst>
              <a:ext uri="{FF2B5EF4-FFF2-40B4-BE49-F238E27FC236}">
                <a16:creationId xmlns:a16="http://schemas.microsoft.com/office/drawing/2014/main" id="{47B37BA3-BEBF-0B46-938A-4EE4C1B4E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092" y="3899435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4</a:t>
            </a:r>
          </a:p>
        </p:txBody>
      </p:sp>
      <p:sp>
        <p:nvSpPr>
          <p:cNvPr id="60" name="Text Box 58">
            <a:extLst>
              <a:ext uri="{FF2B5EF4-FFF2-40B4-BE49-F238E27FC236}">
                <a16:creationId xmlns:a16="http://schemas.microsoft.com/office/drawing/2014/main" id="{F972D9A2-A762-4744-8A60-D715A3ED4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6102" y="3212585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3</a:t>
            </a:r>
          </a:p>
        </p:txBody>
      </p:sp>
      <p:sp>
        <p:nvSpPr>
          <p:cNvPr id="61" name="Text Box 59">
            <a:extLst>
              <a:ext uri="{FF2B5EF4-FFF2-40B4-BE49-F238E27FC236}">
                <a16:creationId xmlns:a16="http://schemas.microsoft.com/office/drawing/2014/main" id="{D7FD1E3B-6B8D-244F-B5E2-95230321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422" y="3307323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6</a:t>
            </a:r>
          </a:p>
        </p:txBody>
      </p:sp>
      <p:sp>
        <p:nvSpPr>
          <p:cNvPr id="62" name="Text Box 61">
            <a:extLst>
              <a:ext uri="{FF2B5EF4-FFF2-40B4-BE49-F238E27FC236}">
                <a16:creationId xmlns:a16="http://schemas.microsoft.com/office/drawing/2014/main" id="{743CECDB-1D73-C546-A692-28D8FB9AA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2281" y="3970489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7</a:t>
            </a:r>
          </a:p>
        </p:txBody>
      </p:sp>
      <p:sp>
        <p:nvSpPr>
          <p:cNvPr id="63" name="Line 62">
            <a:extLst>
              <a:ext uri="{FF2B5EF4-FFF2-40B4-BE49-F238E27FC236}">
                <a16:creationId xmlns:a16="http://schemas.microsoft.com/office/drawing/2014/main" id="{CBE61FD3-3F08-3D48-909A-C23975643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1940" y="1838883"/>
            <a:ext cx="2486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BBB5AF2-E82B-1846-9410-90657B21C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266" y="5024449"/>
            <a:ext cx="248687" cy="201318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65" name="Text Box 64">
            <a:extLst>
              <a:ext uri="{FF2B5EF4-FFF2-40B4-BE49-F238E27FC236}">
                <a16:creationId xmlns:a16="http://schemas.microsoft.com/office/drawing/2014/main" id="{ABBED0AB-BD66-464D-A222-6E570559B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621" y="4965238"/>
            <a:ext cx="207239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2FD40146-3443-8B4F-9BFD-133DFC78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850" y="4953396"/>
            <a:ext cx="1551335" cy="3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tx1"/>
                </a:solidFill>
              </a:rPr>
              <a:t>Clock Value</a:t>
            </a:r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B4F0FD66-2564-E243-8E19-8699A37F9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914" y="5124590"/>
            <a:ext cx="2036868" cy="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68" name="Text Box 67">
            <a:extLst>
              <a:ext uri="{FF2B5EF4-FFF2-40B4-BE49-F238E27FC236}">
                <a16:creationId xmlns:a16="http://schemas.microsoft.com/office/drawing/2014/main" id="{A6E4C414-1DA1-844A-A378-6D1967150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5889" y="4958799"/>
            <a:ext cx="1551335" cy="3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tx1"/>
                </a:solidFill>
              </a:rPr>
              <a:t>Message</a:t>
            </a:r>
          </a:p>
        </p:txBody>
      </p:sp>
      <p:sp>
        <p:nvSpPr>
          <p:cNvPr id="69" name="Text Box 68">
            <a:extLst>
              <a:ext uri="{FF2B5EF4-FFF2-40B4-BE49-F238E27FC236}">
                <a16:creationId xmlns:a16="http://schemas.microsoft.com/office/drawing/2014/main" id="{F71A690F-8F33-D248-AE64-AD638E385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444" y="4864061"/>
            <a:ext cx="1267121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/>
              <a:t>timestamp</a:t>
            </a:r>
          </a:p>
        </p:txBody>
      </p:sp>
      <p:sp>
        <p:nvSpPr>
          <p:cNvPr id="70" name="Line 69">
            <a:extLst>
              <a:ext uri="{FF2B5EF4-FFF2-40B4-BE49-F238E27FC236}">
                <a16:creationId xmlns:a16="http://schemas.microsoft.com/office/drawing/2014/main" id="{EC4C5545-0A4E-F34E-AA57-5F3299873D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6433" y="1838883"/>
            <a:ext cx="458295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71" name="Text Box 70">
            <a:extLst>
              <a:ext uri="{FF2B5EF4-FFF2-40B4-BE49-F238E27FC236}">
                <a16:creationId xmlns:a16="http://schemas.microsoft.com/office/drawing/2014/main" id="{9F26D9AD-54EC-4740-BBAC-473581576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869" y="1471773"/>
            <a:ext cx="2143448" cy="3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tx1"/>
                </a:solidFill>
              </a:rPr>
              <a:t>Physical Time</a:t>
            </a:r>
          </a:p>
        </p:txBody>
      </p:sp>
      <p:sp>
        <p:nvSpPr>
          <p:cNvPr id="72" name="Text Box 57">
            <a:extLst>
              <a:ext uri="{FF2B5EF4-FFF2-40B4-BE49-F238E27FC236}">
                <a16:creationId xmlns:a16="http://schemas.microsoft.com/office/drawing/2014/main" id="{B9154D02-5F8D-EC48-B8D4-1B9BA9A0E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9903" y="2809948"/>
            <a:ext cx="343425" cy="34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DC6737-8E35-0147-96FF-A1B3BF5AFCE6}"/>
              </a:ext>
            </a:extLst>
          </p:cNvPr>
          <p:cNvSpPr txBox="1"/>
          <p:nvPr/>
        </p:nvSpPr>
        <p:spPr>
          <a:xfrm>
            <a:off x="1097280" y="5258175"/>
            <a:ext cx="76930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+mj-lt"/>
                <a:ea typeface="ＭＳ Ｐゴシック" pitchFamily="-107" charset="-128"/>
              </a:rPr>
              <a:t>Limitations of </a:t>
            </a:r>
            <a:r>
              <a:rPr lang="en-US" sz="2000" dirty="0" err="1">
                <a:latin typeface="+mj-lt"/>
                <a:ea typeface="ＭＳ Ｐゴシック" pitchFamily="-107" charset="-128"/>
              </a:rPr>
              <a:t>Lamport</a:t>
            </a:r>
            <a:r>
              <a:rPr lang="en-US" sz="2000" dirty="0">
                <a:latin typeface="+mj-lt"/>
                <a:ea typeface="ＭＳ Ｐゴシック" pitchFamily="-107" charset="-128"/>
              </a:rPr>
              <a:t> Clocks:</a:t>
            </a:r>
          </a:p>
          <a:p>
            <a:pPr>
              <a:spcBef>
                <a:spcPct val="50000"/>
              </a:spcBef>
              <a:defRPr/>
            </a:pPr>
            <a:r>
              <a:rPr lang="en-US" sz="1600" b="1" dirty="0">
                <a:latin typeface="+mj-lt"/>
                <a:ea typeface="ＭＳ Ｐゴシック" pitchFamily="-107" charset="-128"/>
              </a:rPr>
              <a:t>It represents a </a:t>
            </a:r>
            <a:r>
              <a:rPr lang="en-US" sz="1600" b="1" i="1" dirty="0">
                <a:latin typeface="+mj-lt"/>
                <a:ea typeface="ＭＳ Ｐゴシック" pitchFamily="-107" charset="-128"/>
              </a:rPr>
              <a:t>partial order</a:t>
            </a:r>
            <a:r>
              <a:rPr lang="en-US" sz="1600" b="1" dirty="0">
                <a:latin typeface="+mj-lt"/>
                <a:ea typeface="ＭＳ Ｐゴシック" pitchFamily="-107" charset="-128"/>
              </a:rPr>
              <a:t>, if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a </a:t>
            </a:r>
            <a:r>
              <a:rPr lang="en-US" b="1" i="1" dirty="0">
                <a:latin typeface="+mj-lt"/>
                <a:ea typeface="ＭＳ Ｐゴシック" pitchFamily="-107" charset="-128"/>
                <a:sym typeface="Symbol" pitchFamily="18" charset="2"/>
              </a:rPr>
              <a:t>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b</a:t>
            </a:r>
            <a:r>
              <a:rPr lang="en-US" b="1" dirty="0">
                <a:latin typeface="+mj-lt"/>
                <a:ea typeface="ＭＳ Ｐゴシック" pitchFamily="-107" charset="-128"/>
              </a:rPr>
              <a:t> it implies that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L(a) &lt; L(b)</a:t>
            </a:r>
            <a:r>
              <a:rPr lang="en-US" b="1" dirty="0">
                <a:latin typeface="+mj-lt"/>
                <a:ea typeface="ＭＳ Ｐゴシック" pitchFamily="-107" charset="-128"/>
              </a:rPr>
              <a:t> but the converse is not true, i.e., if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L(a) &lt; L(b)</a:t>
            </a:r>
            <a:r>
              <a:rPr lang="en-US" b="1" dirty="0">
                <a:latin typeface="+mj-lt"/>
                <a:ea typeface="ＭＳ Ｐゴシック" pitchFamily="-107" charset="-128"/>
              </a:rPr>
              <a:t> it doesn’t imply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a </a:t>
            </a:r>
            <a:r>
              <a:rPr lang="en-US" b="1" i="1" dirty="0">
                <a:latin typeface="+mj-lt"/>
                <a:ea typeface="ＭＳ Ｐゴシック" pitchFamily="-107" charset="-128"/>
                <a:sym typeface="Symbol" pitchFamily="18" charset="2"/>
              </a:rPr>
              <a:t> </a:t>
            </a:r>
            <a:r>
              <a:rPr lang="en-US" b="1" i="1" dirty="0">
                <a:latin typeface="+mj-lt"/>
                <a:ea typeface="ＭＳ Ｐゴシック" pitchFamily="-107" charset="-128"/>
              </a:rPr>
              <a:t>b</a:t>
            </a:r>
            <a:r>
              <a:rPr lang="en-US" b="1" dirty="0">
                <a:latin typeface="+mj-lt"/>
                <a:ea typeface="ＭＳ Ｐゴシック" pitchFamily="-107" charset="-128"/>
              </a:rPr>
              <a:t>.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55F594-4F93-D746-95BC-34E05DC5D085}"/>
              </a:ext>
            </a:extLst>
          </p:cNvPr>
          <p:cNvSpPr txBox="1"/>
          <p:nvPr/>
        </p:nvSpPr>
        <p:spPr>
          <a:xfrm>
            <a:off x="10087724" y="2361861"/>
            <a:ext cx="188532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Same Timestamps</a:t>
            </a:r>
          </a:p>
          <a:p>
            <a:r>
              <a:rPr lang="en-US" dirty="0"/>
              <a:t>p1(7) </a:t>
            </a:r>
            <a:r>
              <a:rPr lang="en-US" dirty="0">
                <a:sym typeface="Wingdings" pitchFamily="2" charset="2"/>
              </a:rPr>
              <a:t> p2(3)??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63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566FF93-2A39-1843-AE77-E26EC290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Vector Clocks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B37254D0-3FF6-BA4C-B943-A4960C1FD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With </a:t>
            </a:r>
            <a:r>
              <a:rPr lang="en-US" altLang="en-US" sz="2400" dirty="0" err="1">
                <a:latin typeface="Arial" panose="020B0604020202020204" pitchFamily="34" charset="0"/>
              </a:rPr>
              <a:t>Lamport</a:t>
            </a:r>
            <a:r>
              <a:rPr lang="en-US" altLang="en-US" sz="2400" dirty="0">
                <a:latin typeface="Arial" panose="020B0604020202020204" pitchFamily="34" charset="0"/>
              </a:rPr>
              <a:t> Logical Timestamp</a:t>
            </a:r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altLang="en-US" sz="2400" dirty="0">
                <a:solidFill>
                  <a:schemeClr val="hlink"/>
                </a:solidFill>
                <a:latin typeface="Arial" panose="020B0604020202020204" pitchFamily="34" charset="0"/>
              </a:rPr>
              <a:t>e </a:t>
            </a:r>
            <a:r>
              <a:rPr lang="en-US" altLang="ja-JP" sz="2400" dirty="0">
                <a:solidFill>
                  <a:schemeClr val="hlink"/>
                </a:solidFill>
                <a:latin typeface="Arial" panose="020B0604020202020204" pitchFamily="34" charset="0"/>
                <a:sym typeface="Wingdings" pitchFamily="2" charset="2"/>
              </a:rPr>
              <a:t></a:t>
            </a:r>
            <a:r>
              <a:rPr lang="en-US" altLang="ja-JP" sz="2400" dirty="0">
                <a:solidFill>
                  <a:schemeClr val="hlink"/>
                </a:solidFill>
                <a:latin typeface="Arial" panose="020B0604020202020204" pitchFamily="34" charset="0"/>
              </a:rPr>
              <a:t> f </a:t>
            </a:r>
            <a:r>
              <a:rPr lang="en-US" altLang="ja-JP" sz="2400" dirty="0">
                <a:solidFill>
                  <a:schemeClr val="hlink"/>
                </a:solidFill>
                <a:latin typeface="Arial" panose="020B0604020202020204" pitchFamily="34" charset="0"/>
                <a:sym typeface="Symbol" pitchFamily="2" charset="2"/>
              </a:rPr>
              <a:t>  timestamp(e) &lt; timestamp (f),  but</a:t>
            </a:r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altLang="en-US" sz="2400" dirty="0">
                <a:solidFill>
                  <a:schemeClr val="hlink"/>
                </a:solidFill>
                <a:latin typeface="Arial" panose="020B0604020202020204" pitchFamily="34" charset="0"/>
                <a:sym typeface="Symbol" pitchFamily="2" charset="2"/>
              </a:rPr>
              <a:t>timestamp(e) &lt; timestamp (f)   {</a:t>
            </a:r>
            <a:r>
              <a:rPr lang="en-US" altLang="en-US" sz="2400" dirty="0">
                <a:solidFill>
                  <a:schemeClr val="hlink"/>
                </a:solidFill>
                <a:latin typeface="Arial" panose="020B0604020202020204" pitchFamily="34" charset="0"/>
              </a:rPr>
              <a:t>e </a:t>
            </a:r>
            <a:r>
              <a:rPr lang="en-US" altLang="ja-JP" sz="2400" dirty="0">
                <a:solidFill>
                  <a:schemeClr val="hlink"/>
                </a:solidFill>
                <a:latin typeface="Arial" panose="020B0604020202020204" pitchFamily="34" charset="0"/>
                <a:sym typeface="Wingdings" pitchFamily="2" charset="2"/>
              </a:rPr>
              <a:t></a:t>
            </a:r>
            <a:r>
              <a:rPr lang="en-US" altLang="ja-JP" sz="2400" dirty="0">
                <a:solidFill>
                  <a:schemeClr val="hlink"/>
                </a:solidFill>
                <a:latin typeface="Arial" panose="020B0604020202020204" pitchFamily="34" charset="0"/>
              </a:rPr>
              <a:t> f} OR {e and f concurrent}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Goal</a:t>
            </a:r>
          </a:p>
          <a:p>
            <a:pPr lvl="1" eaLnBrk="1" hangingPunct="1"/>
            <a:r>
              <a:rPr lang="en-US" altLang="en-US" sz="2000" dirty="0"/>
              <a:t>Want ordering that matches causality</a:t>
            </a:r>
          </a:p>
          <a:p>
            <a:pPr lvl="1" eaLnBrk="1" hangingPunct="1"/>
            <a:r>
              <a:rPr lang="en-US" altLang="en-US" sz="2000" dirty="0"/>
              <a:t>V(e) &lt; V(e’) if and only if e </a:t>
            </a:r>
            <a:r>
              <a:rPr lang="en-US" altLang="en-US" sz="2000" i="1" dirty="0">
                <a:cs typeface="Arial" panose="020B0604020202020204" pitchFamily="34" charset="0"/>
              </a:rPr>
              <a:t>→</a:t>
            </a:r>
            <a:r>
              <a:rPr lang="en-US" altLang="en-US" sz="2000" dirty="0"/>
              <a:t> e’</a:t>
            </a:r>
          </a:p>
          <a:p>
            <a:pPr eaLnBrk="1" hangingPunct="1"/>
            <a:r>
              <a:rPr lang="en-US" altLang="en-US" sz="2400" dirty="0"/>
              <a:t>Method</a:t>
            </a:r>
          </a:p>
          <a:p>
            <a:pPr lvl="1" eaLnBrk="1" hangingPunct="1"/>
            <a:r>
              <a:rPr lang="en-US" altLang="en-US" sz="2000" dirty="0"/>
              <a:t>Label each event by vector V(e) [c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c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…, </a:t>
            </a:r>
            <a:r>
              <a:rPr lang="en-US" altLang="en-US" sz="2000" dirty="0" err="1"/>
              <a:t>c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]</a:t>
            </a:r>
          </a:p>
          <a:p>
            <a:pPr lvl="2" eaLnBrk="1" hangingPunct="1"/>
            <a:r>
              <a:rPr lang="en-US" altLang="en-US" sz="1600" dirty="0"/>
              <a:t>c</a:t>
            </a:r>
            <a:r>
              <a:rPr lang="en-US" altLang="en-US" sz="1600" baseline="-25000" dirty="0"/>
              <a:t>i</a:t>
            </a:r>
            <a:r>
              <a:rPr lang="en-US" altLang="en-US" sz="1600" dirty="0"/>
              <a:t> = # events in process </a:t>
            </a:r>
            <a:r>
              <a:rPr lang="en-US" altLang="en-US" sz="1600" dirty="0" err="1"/>
              <a:t>i</a:t>
            </a:r>
            <a:r>
              <a:rPr lang="en-US" altLang="en-US" sz="1600" dirty="0"/>
              <a:t> that causally precede 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9278-E5F1-BA49-9236-17EB75AC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FF1AE-A72C-5743-9B7F-4C1B06C61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04" y="1817687"/>
            <a:ext cx="88392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altLang="en-US" sz="1800" kern="0" dirty="0">
                <a:latin typeface="Arial" panose="020B0604020202020204" pitchFamily="34" charset="0"/>
              </a:rPr>
              <a:t>A </a:t>
            </a:r>
            <a:r>
              <a:rPr lang="en-US" altLang="en-US" sz="1800" i="1" kern="0" dirty="0">
                <a:latin typeface="Arial" panose="020B0604020202020204" pitchFamily="34" charset="0"/>
              </a:rPr>
              <a:t>vector clock </a:t>
            </a:r>
            <a:r>
              <a:rPr lang="en-US" altLang="en-US" sz="1800" kern="0" dirty="0">
                <a:latin typeface="Arial" panose="020B0604020202020204" pitchFamily="34" charset="0"/>
              </a:rPr>
              <a:t>for a system of </a:t>
            </a:r>
            <a:r>
              <a:rPr lang="en-US" altLang="en-US" sz="1800" i="1" kern="0" dirty="0">
                <a:latin typeface="Arial" panose="020B0604020202020204" pitchFamily="34" charset="0"/>
              </a:rPr>
              <a:t>N </a:t>
            </a:r>
            <a:r>
              <a:rPr lang="en-US" altLang="en-US" sz="1800" kern="0" dirty="0">
                <a:latin typeface="Arial" panose="020B0604020202020204" pitchFamily="34" charset="0"/>
              </a:rPr>
              <a:t>processes is an array of </a:t>
            </a:r>
            <a:r>
              <a:rPr lang="en-US" altLang="en-US" sz="1800" i="1" kern="0" dirty="0">
                <a:latin typeface="Arial" panose="020B0604020202020204" pitchFamily="34" charset="0"/>
              </a:rPr>
              <a:t>N </a:t>
            </a:r>
            <a:r>
              <a:rPr lang="en-US" altLang="en-US" sz="1800" kern="0" dirty="0">
                <a:latin typeface="Arial" panose="020B0604020202020204" pitchFamily="34" charset="0"/>
              </a:rPr>
              <a:t>integers. </a:t>
            </a:r>
          </a:p>
          <a:p>
            <a:pPr marL="457200" lvl="1" indent="0">
              <a:buNone/>
            </a:pPr>
            <a:r>
              <a:rPr lang="en-US" altLang="en-US" sz="1800" i="1" kern="0" dirty="0">
                <a:latin typeface="Arial" panose="020B0604020202020204" pitchFamily="34" charset="0"/>
              </a:rPr>
              <a:t>P</a:t>
            </a:r>
            <a:r>
              <a:rPr lang="en-US" altLang="en-US" sz="1800" i="1" kern="0" baseline="-25000" dirty="0">
                <a:latin typeface="Arial" panose="020B0604020202020204" pitchFamily="34" charset="0"/>
              </a:rPr>
              <a:t>i</a:t>
            </a:r>
            <a:r>
              <a:rPr lang="en-US" altLang="en-US" sz="1800" kern="0" dirty="0">
                <a:latin typeface="Arial" panose="020B0604020202020204" pitchFamily="34" charset="0"/>
              </a:rPr>
              <a:t> keeps its VC</a:t>
            </a:r>
            <a:r>
              <a:rPr lang="en-US" altLang="en-US" sz="1800" i="1" kern="0" dirty="0">
                <a:latin typeface="Arial" panose="020B0604020202020204" pitchFamily="34" charset="0"/>
              </a:rPr>
              <a:t> V</a:t>
            </a:r>
            <a:r>
              <a:rPr lang="en-US" altLang="en-US" sz="1800" i="1" kern="0" baseline="-25000" dirty="0">
                <a:latin typeface="Arial" panose="020B0604020202020204" pitchFamily="34" charset="0"/>
              </a:rPr>
              <a:t>i</a:t>
            </a:r>
            <a:r>
              <a:rPr lang="en-US" altLang="en-US" sz="1800" kern="0" dirty="0">
                <a:latin typeface="Arial" panose="020B0604020202020204" pitchFamily="34" charset="0"/>
              </a:rPr>
              <a:t>, to timestamp local events.</a:t>
            </a:r>
          </a:p>
          <a:p>
            <a:pPr lvl="1"/>
            <a:endParaRPr lang="en-US" altLang="en-US" sz="1800" kern="0" dirty="0">
              <a:latin typeface="Arial" panose="020B0604020202020204" pitchFamily="34" charset="0"/>
            </a:endParaRPr>
          </a:p>
          <a:p>
            <a:pPr lvl="1"/>
            <a:r>
              <a:rPr lang="en-US" altLang="en-US" sz="1800" kern="0" dirty="0">
                <a:latin typeface="Arial" panose="020B0604020202020204" pitchFamily="34" charset="0"/>
              </a:rPr>
              <a:t>Vector clock rules:</a:t>
            </a:r>
          </a:p>
          <a:p>
            <a:pPr lvl="1">
              <a:buFont typeface="Monotype Sorts" pitchFamily="2" charset="2"/>
              <a:buNone/>
            </a:pPr>
            <a:endParaRPr lang="en-US" altLang="en-US" sz="1800" kern="0" dirty="0">
              <a:latin typeface="Arial" panose="020B0604020202020204" pitchFamily="34" charset="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VC1: Initially for each process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p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, 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[j] = 0,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i="1" kern="0" dirty="0">
                <a:latin typeface="Courier New" panose="02070309020205020404" pitchFamily="49" charset="0"/>
              </a:rPr>
              <a:t>     for j = 1,2, …, N</a:t>
            </a:r>
            <a:endParaRPr lang="en-US" altLang="en-US" sz="1800" kern="0" dirty="0">
              <a:latin typeface="Courier New" panose="02070309020205020404" pitchFamily="49" charset="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VC2: Just before time stamping an event,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p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kern="0" dirty="0">
                <a:latin typeface="Courier New" panose="02070309020205020404" pitchFamily="49" charset="0"/>
              </a:rPr>
              <a:t> sets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    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[</a:t>
            </a:r>
            <a:r>
              <a:rPr lang="en-US" altLang="en-US" sz="1800" i="1" kern="0" dirty="0" err="1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] = 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[</a:t>
            </a:r>
            <a:r>
              <a:rPr lang="en-US" altLang="en-US" sz="1800" i="1" kern="0" dirty="0" err="1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]+ 1</a:t>
            </a:r>
            <a:r>
              <a:rPr lang="en-US" altLang="en-US" sz="1800" kern="0" dirty="0">
                <a:latin typeface="Courier New" panose="02070309020205020404" pitchFamily="49" charset="0"/>
              </a:rPr>
              <a:t>.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VC3: p</a:t>
            </a:r>
            <a:r>
              <a:rPr lang="en-US" altLang="en-US" sz="1800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kern="0" dirty="0">
                <a:latin typeface="Courier New" panose="02070309020205020404" pitchFamily="49" charset="0"/>
              </a:rPr>
              <a:t> sends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t = 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kern="0" dirty="0">
                <a:latin typeface="Courier New" panose="02070309020205020404" pitchFamily="49" charset="0"/>
              </a:rPr>
              <a:t> in every message it sends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VC4: When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p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kern="0" dirty="0">
                <a:latin typeface="Courier New" panose="02070309020205020404" pitchFamily="49" charset="0"/>
              </a:rPr>
              <a:t> receives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t</a:t>
            </a:r>
            <a:r>
              <a:rPr lang="en-US" altLang="en-US" sz="1800" kern="0" dirty="0">
                <a:latin typeface="Courier New" panose="02070309020205020404" pitchFamily="49" charset="0"/>
              </a:rPr>
              <a:t> in a message, it sets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     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[j] = max(V</a:t>
            </a:r>
            <a:r>
              <a:rPr lang="en-US" altLang="en-US" sz="1800" i="1" kern="0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1800" i="1" kern="0" dirty="0">
                <a:latin typeface="Courier New" panose="02070309020205020404" pitchFamily="49" charset="0"/>
              </a:rPr>
              <a:t>[j], t[j]), for j = 1,2, …, N</a:t>
            </a:r>
            <a:r>
              <a:rPr lang="en-US" altLang="en-US" sz="1800" kern="0" dirty="0">
                <a:latin typeface="Courier New" panose="02070309020205020404" pitchFamily="49" charset="0"/>
              </a:rPr>
              <a:t>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800" kern="0" dirty="0">
                <a:latin typeface="Courier New" panose="02070309020205020404" pitchFamily="49" charset="0"/>
              </a:rPr>
              <a:t>    (the max is computed component wise)</a:t>
            </a:r>
          </a:p>
        </p:txBody>
      </p:sp>
    </p:spTree>
    <p:extLst>
      <p:ext uri="{BB962C8B-B14F-4D97-AF65-F5344CB8AC3E}">
        <p14:creationId xmlns:p14="http://schemas.microsoft.com/office/powerpoint/2010/main" val="1850782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3">
            <a:extLst>
              <a:ext uri="{FF2B5EF4-FFF2-40B4-BE49-F238E27FC236}">
                <a16:creationId xmlns:a16="http://schemas.microsoft.com/office/drawing/2014/main" id="{3302AD66-083E-FB49-92FD-1752FD935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457" y="2286069"/>
            <a:ext cx="7985125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18FAC0-8B43-0940-8F14-97495649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Timestamps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77311-84CF-1945-B4D8-FA82B2E2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Vector Timestamp Example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AA111DA-AD50-DB48-AA66-011EB4177D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40000" y="1600200"/>
            <a:ext cx="8128000" cy="49530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71684" name="Line 4">
            <a:extLst>
              <a:ext uri="{FF2B5EF4-FFF2-40B4-BE49-F238E27FC236}">
                <a16:creationId xmlns:a16="http://schemas.microsoft.com/office/drawing/2014/main" id="{BD443378-9FBB-8D4C-A6C0-55984DD4C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832100"/>
            <a:ext cx="4940300" cy="1270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CBA64F17-2EB8-BF45-916E-FAA9FCFE3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6543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1</a:t>
            </a:r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48DAA5D9-7521-5444-ADD7-698F8240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32639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2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C9D5A535-E2D9-1D41-BD87-4D82716E6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38989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3</a:t>
            </a:r>
          </a:p>
        </p:txBody>
      </p:sp>
      <p:sp>
        <p:nvSpPr>
          <p:cNvPr id="71688" name="Text Box 8">
            <a:extLst>
              <a:ext uri="{FF2B5EF4-FFF2-40B4-BE49-F238E27FC236}">
                <a16:creationId xmlns:a16="http://schemas.microsoft.com/office/drawing/2014/main" id="{B73690DB-5B69-2349-A418-8527D9859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45974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4</a:t>
            </a:r>
          </a:p>
        </p:txBody>
      </p:sp>
      <p:sp>
        <p:nvSpPr>
          <p:cNvPr id="71689" name="Line 15">
            <a:extLst>
              <a:ext uri="{FF2B5EF4-FFF2-40B4-BE49-F238E27FC236}">
                <a16:creationId xmlns:a16="http://schemas.microsoft.com/office/drawing/2014/main" id="{16C7738B-C5BB-D74C-A70E-847567D71F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3467100"/>
            <a:ext cx="4940300" cy="1270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0" name="Line 16">
            <a:extLst>
              <a:ext uri="{FF2B5EF4-FFF2-40B4-BE49-F238E27FC236}">
                <a16:creationId xmlns:a16="http://schemas.microsoft.com/office/drawing/2014/main" id="{32FF980C-4BA7-C34B-95CA-DB89195CDD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4140200"/>
            <a:ext cx="5422900" cy="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Line 17">
            <a:extLst>
              <a:ext uri="{FF2B5EF4-FFF2-40B4-BE49-F238E27FC236}">
                <a16:creationId xmlns:a16="http://schemas.microsoft.com/office/drawing/2014/main" id="{3E1F77FB-21EC-5949-97D4-31291ACBD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8300" y="4851400"/>
            <a:ext cx="5334000" cy="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2" name="Oval 19">
            <a:extLst>
              <a:ext uri="{FF2B5EF4-FFF2-40B4-BE49-F238E27FC236}">
                <a16:creationId xmlns:a16="http://schemas.microsoft.com/office/drawing/2014/main" id="{9029CD26-F884-A646-99C2-C63A6802A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27432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693" name="Text Box 20">
            <a:extLst>
              <a:ext uri="{FF2B5EF4-FFF2-40B4-BE49-F238E27FC236}">
                <a16:creationId xmlns:a16="http://schemas.microsoft.com/office/drawing/2014/main" id="{1C4D9BE3-7CB9-A646-A4C4-45F87A5CB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5" y="27178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694" name="Line 21">
            <a:extLst>
              <a:ext uri="{FF2B5EF4-FFF2-40B4-BE49-F238E27FC236}">
                <a16:creationId xmlns:a16="http://schemas.microsoft.com/office/drawing/2014/main" id="{B2FCEF6B-750A-334E-B341-E319139C2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800" y="2159000"/>
            <a:ext cx="266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5" name="Text Box 22">
            <a:extLst>
              <a:ext uri="{FF2B5EF4-FFF2-40B4-BE49-F238E27FC236}">
                <a16:creationId xmlns:a16="http://schemas.microsoft.com/office/drawing/2014/main" id="{729536FF-9BCA-194E-8860-4C20A5C0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397500"/>
            <a:ext cx="2374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Vector logical clock</a:t>
            </a:r>
          </a:p>
        </p:txBody>
      </p:sp>
      <p:sp>
        <p:nvSpPr>
          <p:cNvPr id="71696" name="Line 23">
            <a:extLst>
              <a:ext uri="{FF2B5EF4-FFF2-40B4-BE49-F238E27FC236}">
                <a16:creationId xmlns:a16="http://schemas.microsoft.com/office/drawing/2014/main" id="{56EA5490-A451-B246-A427-76F65A99F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8900" y="6223000"/>
            <a:ext cx="2184400" cy="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7" name="Text Box 24">
            <a:extLst>
              <a:ext uri="{FF2B5EF4-FFF2-40B4-BE49-F238E27FC236}">
                <a16:creationId xmlns:a16="http://schemas.microsoft.com/office/drawing/2014/main" id="{627769EE-A63A-5A43-ACE9-9609F1BE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5981700"/>
            <a:ext cx="1663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Message</a:t>
            </a:r>
          </a:p>
        </p:txBody>
      </p:sp>
      <p:sp>
        <p:nvSpPr>
          <p:cNvPr id="71698" name="Text Box 25">
            <a:extLst>
              <a:ext uri="{FF2B5EF4-FFF2-40B4-BE49-F238E27FC236}">
                <a16:creationId xmlns:a16="http://schemas.microsoft.com/office/drawing/2014/main" id="{2C3B6C38-57C8-0E4C-B58D-0A5C3790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5854700"/>
            <a:ext cx="2908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tx1"/>
                </a:solidFill>
              </a:rPr>
              <a:t>(vector timestamp)</a:t>
            </a:r>
          </a:p>
        </p:txBody>
      </p:sp>
      <p:sp>
        <p:nvSpPr>
          <p:cNvPr id="71699" name="Line 26">
            <a:extLst>
              <a:ext uri="{FF2B5EF4-FFF2-40B4-BE49-F238E27FC236}">
                <a16:creationId xmlns:a16="http://schemas.microsoft.com/office/drawing/2014/main" id="{118F91A8-B9F0-7244-84F4-26DF9EAA1A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0" y="2159000"/>
            <a:ext cx="4914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0" name="Text Box 27">
            <a:extLst>
              <a:ext uri="{FF2B5EF4-FFF2-40B4-BE49-F238E27FC236}">
                <a16:creationId xmlns:a16="http://schemas.microsoft.com/office/drawing/2014/main" id="{3E2ADA49-85CB-BA4A-A343-38E288545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765300"/>
            <a:ext cx="2298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Physical Time</a:t>
            </a:r>
          </a:p>
        </p:txBody>
      </p:sp>
      <p:sp>
        <p:nvSpPr>
          <p:cNvPr id="71701" name="Oval 28">
            <a:extLst>
              <a:ext uri="{FF2B5EF4-FFF2-40B4-BE49-F238E27FC236}">
                <a16:creationId xmlns:a16="http://schemas.microsoft.com/office/drawing/2014/main" id="{4EC05176-FA94-BB4F-8438-DD75D5276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3147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2" name="Text Box 29">
            <a:extLst>
              <a:ext uri="{FF2B5EF4-FFF2-40B4-BE49-F238E27FC236}">
                <a16:creationId xmlns:a16="http://schemas.microsoft.com/office/drawing/2014/main" id="{13D269B7-4F0C-BF4C-993B-C4E793254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32893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703" name="Oval 30">
            <a:extLst>
              <a:ext uri="{FF2B5EF4-FFF2-40B4-BE49-F238E27FC236}">
                <a16:creationId xmlns:a16="http://schemas.microsoft.com/office/drawing/2014/main" id="{1346F484-695B-1E4E-8E1A-C62204FD3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624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4" name="Text Box 31">
            <a:extLst>
              <a:ext uri="{FF2B5EF4-FFF2-40B4-BE49-F238E27FC236}">
                <a16:creationId xmlns:a16="http://schemas.microsoft.com/office/drawing/2014/main" id="{5464E10B-186B-2B4D-88F9-AAE5970BD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39370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705" name="Oval 32">
            <a:extLst>
              <a:ext uri="{FF2B5EF4-FFF2-40B4-BE49-F238E27FC236}">
                <a16:creationId xmlns:a16="http://schemas.microsoft.com/office/drawing/2014/main" id="{33A46D35-CB97-3940-B169-4F8B1079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0" y="46736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6" name="Text Box 33">
            <a:extLst>
              <a:ext uri="{FF2B5EF4-FFF2-40B4-BE49-F238E27FC236}">
                <a16:creationId xmlns:a16="http://schemas.microsoft.com/office/drawing/2014/main" id="{EF49A5D1-242A-5340-8C3E-771F25180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46482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grpSp>
        <p:nvGrpSpPr>
          <p:cNvPr id="2" name="Group 81">
            <a:extLst>
              <a:ext uri="{FF2B5EF4-FFF2-40B4-BE49-F238E27FC236}">
                <a16:creationId xmlns:a16="http://schemas.microsoft.com/office/drawing/2014/main" id="{1B74AE8F-453A-0F42-8549-BFF2680DAFAF}"/>
              </a:ext>
            </a:extLst>
          </p:cNvPr>
          <p:cNvGrpSpPr>
            <a:grpSpLocks/>
          </p:cNvGrpSpPr>
          <p:nvPr/>
        </p:nvGrpSpPr>
        <p:grpSpPr bwMode="auto">
          <a:xfrm>
            <a:off x="3921125" y="2565400"/>
            <a:ext cx="1263650" cy="1239838"/>
            <a:chOff x="1510" y="1328"/>
            <a:chExt cx="796" cy="781"/>
          </a:xfrm>
        </p:grpSpPr>
        <p:sp>
          <p:nvSpPr>
            <p:cNvPr id="71758" name="Line 9">
              <a:extLst>
                <a:ext uri="{FF2B5EF4-FFF2-40B4-BE49-F238E27FC236}">
                  <a16:creationId xmlns:a16="http://schemas.microsoft.com/office/drawing/2014/main" id="{1EEBD469-C60F-FC45-B84F-EEDD94E8F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1496"/>
              <a:ext cx="240" cy="4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59" name="Group 34">
              <a:extLst>
                <a:ext uri="{FF2B5EF4-FFF2-40B4-BE49-F238E27FC236}">
                  <a16:creationId xmlns:a16="http://schemas.microsoft.com/office/drawing/2014/main" id="{513EC76B-893C-7F44-991C-729E30FA5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0" y="1328"/>
              <a:ext cx="796" cy="781"/>
              <a:chOff x="1510" y="1328"/>
              <a:chExt cx="796" cy="781"/>
            </a:xfrm>
          </p:grpSpPr>
          <p:sp>
            <p:nvSpPr>
              <p:cNvPr id="71760" name="Text Box 35">
                <a:extLst>
                  <a:ext uri="{FF2B5EF4-FFF2-40B4-BE49-F238E27FC236}">
                    <a16:creationId xmlns:a16="http://schemas.microsoft.com/office/drawing/2014/main" id="{92ECAA5C-A7F9-E142-BA25-EA358AFA0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0" y="156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(1,0,0,0)</a:t>
                </a:r>
              </a:p>
            </p:txBody>
          </p:sp>
          <p:sp>
            <p:nvSpPr>
              <p:cNvPr id="71761" name="Oval 36">
                <a:extLst>
                  <a:ext uri="{FF2B5EF4-FFF2-40B4-BE49-F238E27FC236}">
                    <a16:creationId xmlns:a16="http://schemas.microsoft.com/office/drawing/2014/main" id="{704AA2AE-155B-2E40-9C35-EC1DD7DB0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2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62" name="Text Box 37">
                <a:extLst>
                  <a:ext uri="{FF2B5EF4-FFF2-40B4-BE49-F238E27FC236}">
                    <a16:creationId xmlns:a16="http://schemas.microsoft.com/office/drawing/2014/main" id="{B133536F-64AD-F54D-8F2B-5FB86F69E6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0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1,0,0,0</a:t>
                </a:r>
              </a:p>
            </p:txBody>
          </p:sp>
          <p:sp>
            <p:nvSpPr>
              <p:cNvPr id="71763" name="Oval 38">
                <a:extLst>
                  <a:ext uri="{FF2B5EF4-FFF2-40B4-BE49-F238E27FC236}">
                    <a16:creationId xmlns:a16="http://schemas.microsoft.com/office/drawing/2014/main" id="{8BC05157-33F8-084E-BE85-2D85B6EE6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91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64" name="Text Box 39">
                <a:extLst>
                  <a:ext uri="{FF2B5EF4-FFF2-40B4-BE49-F238E27FC236}">
                    <a16:creationId xmlns:a16="http://schemas.microsoft.com/office/drawing/2014/main" id="{6CC5C571-565A-734D-8946-88CF7E99E7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8" y="189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1,1,0,0</a:t>
                </a:r>
              </a:p>
            </p:txBody>
          </p:sp>
        </p:grpSp>
      </p:grpSp>
      <p:grpSp>
        <p:nvGrpSpPr>
          <p:cNvPr id="4" name="Group 82">
            <a:extLst>
              <a:ext uri="{FF2B5EF4-FFF2-40B4-BE49-F238E27FC236}">
                <a16:creationId xmlns:a16="http://schemas.microsoft.com/office/drawing/2014/main" id="{CE0D52CD-30A0-834F-987D-F63970D60084}"/>
              </a:ext>
            </a:extLst>
          </p:cNvPr>
          <p:cNvGrpSpPr>
            <a:grpSpLocks/>
          </p:cNvGrpSpPr>
          <p:nvPr/>
        </p:nvGrpSpPr>
        <p:grpSpPr bwMode="auto">
          <a:xfrm>
            <a:off x="4759325" y="2565400"/>
            <a:ext cx="1454150" cy="1887538"/>
            <a:chOff x="2038" y="1328"/>
            <a:chExt cx="916" cy="1189"/>
          </a:xfrm>
        </p:grpSpPr>
        <p:sp>
          <p:nvSpPr>
            <p:cNvPr id="71751" name="Line 10">
              <a:extLst>
                <a:ext uri="{FF2B5EF4-FFF2-40B4-BE49-F238E27FC236}">
                  <a16:creationId xmlns:a16="http://schemas.microsoft.com/office/drawing/2014/main" id="{297D7120-E956-0146-9191-C5854838F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96"/>
              <a:ext cx="384" cy="84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52" name="Group 40">
              <a:extLst>
                <a:ext uri="{FF2B5EF4-FFF2-40B4-BE49-F238E27FC236}">
                  <a16:creationId xmlns:a16="http://schemas.microsoft.com/office/drawing/2014/main" id="{EA2BCB3B-0651-BD4C-8BB4-554C013C4B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8" y="1328"/>
              <a:ext cx="916" cy="1189"/>
              <a:chOff x="2038" y="1328"/>
              <a:chExt cx="916" cy="1189"/>
            </a:xfrm>
          </p:grpSpPr>
          <p:sp>
            <p:nvSpPr>
              <p:cNvPr id="71753" name="Oval 41">
                <a:extLst>
                  <a:ext uri="{FF2B5EF4-FFF2-40B4-BE49-F238E27FC236}">
                    <a16:creationId xmlns:a16="http://schemas.microsoft.com/office/drawing/2014/main" id="{D84A2CD8-1932-9041-A1DA-6EFA08130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54" name="Text Box 42">
                <a:extLst>
                  <a:ext uri="{FF2B5EF4-FFF2-40B4-BE49-F238E27FC236}">
                    <a16:creationId xmlns:a16="http://schemas.microsoft.com/office/drawing/2014/main" id="{B59972C1-FD23-6944-BB5B-3E538E03D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8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2,0,0,0</a:t>
                </a:r>
              </a:p>
            </p:txBody>
          </p:sp>
          <p:sp>
            <p:nvSpPr>
              <p:cNvPr id="71755" name="Oval 43">
                <a:extLst>
                  <a:ext uri="{FF2B5EF4-FFF2-40B4-BE49-F238E27FC236}">
                    <a16:creationId xmlns:a16="http://schemas.microsoft.com/office/drawing/2014/main" id="{0E6534E2-FB9A-F947-82CD-4E3B63C95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" y="232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56" name="Text Box 44">
                <a:extLst>
                  <a:ext uri="{FF2B5EF4-FFF2-40B4-BE49-F238E27FC236}">
                    <a16:creationId xmlns:a16="http://schemas.microsoft.com/office/drawing/2014/main" id="{D3A3997F-1D4D-5D40-805B-ACA4822E2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6" y="230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2,0,1,0</a:t>
                </a:r>
              </a:p>
            </p:txBody>
          </p:sp>
          <p:sp>
            <p:nvSpPr>
              <p:cNvPr id="71757" name="Text Box 45">
                <a:extLst>
                  <a:ext uri="{FF2B5EF4-FFF2-40B4-BE49-F238E27FC236}">
                    <a16:creationId xmlns:a16="http://schemas.microsoft.com/office/drawing/2014/main" id="{C3729C71-8836-EA41-9073-053AA7A85F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4" y="1912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(2,0,0,0)</a:t>
                </a:r>
              </a:p>
            </p:txBody>
          </p:sp>
        </p:grpSp>
      </p:grpSp>
      <p:grpSp>
        <p:nvGrpSpPr>
          <p:cNvPr id="6" name="Group 83">
            <a:extLst>
              <a:ext uri="{FF2B5EF4-FFF2-40B4-BE49-F238E27FC236}">
                <a16:creationId xmlns:a16="http://schemas.microsoft.com/office/drawing/2014/main" id="{43EBD5D5-6925-2746-A5B7-ACFD2738FC33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3873500"/>
            <a:ext cx="1073150" cy="1303338"/>
            <a:chOff x="2800" y="2152"/>
            <a:chExt cx="676" cy="821"/>
          </a:xfrm>
        </p:grpSpPr>
        <p:sp>
          <p:nvSpPr>
            <p:cNvPr id="71744" name="Line 11">
              <a:extLst>
                <a:ext uri="{FF2B5EF4-FFF2-40B4-BE49-F238E27FC236}">
                  <a16:creationId xmlns:a16="http://schemas.microsoft.com/office/drawing/2014/main" id="{572BB963-F9A3-A74B-ADA2-3FFAA8CD6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312"/>
              <a:ext cx="144" cy="424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45" name="Group 79">
              <a:extLst>
                <a:ext uri="{FF2B5EF4-FFF2-40B4-BE49-F238E27FC236}">
                  <a16:creationId xmlns:a16="http://schemas.microsoft.com/office/drawing/2014/main" id="{B845BBEE-3763-FE44-88C4-6AE53D893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" y="2152"/>
              <a:ext cx="676" cy="821"/>
              <a:chOff x="2800" y="2152"/>
              <a:chExt cx="676" cy="821"/>
            </a:xfrm>
          </p:grpSpPr>
          <p:sp>
            <p:nvSpPr>
              <p:cNvPr id="71746" name="Oval 47">
                <a:extLst>
                  <a:ext uri="{FF2B5EF4-FFF2-40B4-BE49-F238E27FC236}">
                    <a16:creationId xmlns:a16="http://schemas.microsoft.com/office/drawing/2014/main" id="{206FABFA-2F13-274B-A2BC-3478DEC57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168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7" name="Text Box 48">
                <a:extLst>
                  <a:ext uri="{FF2B5EF4-FFF2-40B4-BE49-F238E27FC236}">
                    <a16:creationId xmlns:a16="http://schemas.microsoft.com/office/drawing/2014/main" id="{D1EBA318-59CF-CA48-8C67-01D0624BA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" y="2152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2,0,2,0</a:t>
                </a:r>
              </a:p>
            </p:txBody>
          </p:sp>
          <p:sp>
            <p:nvSpPr>
              <p:cNvPr id="71748" name="Oval 49">
                <a:extLst>
                  <a:ext uri="{FF2B5EF4-FFF2-40B4-BE49-F238E27FC236}">
                    <a16:creationId xmlns:a16="http://schemas.microsoft.com/office/drawing/2014/main" id="{4259AD99-42C5-0D48-BEDB-18FE4BE6D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0" y="2776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9" name="Text Box 50">
                <a:extLst>
                  <a:ext uri="{FF2B5EF4-FFF2-40B4-BE49-F238E27FC236}">
                    <a16:creationId xmlns:a16="http://schemas.microsoft.com/office/drawing/2014/main" id="{1107BDB0-CA6C-4740-A712-7292A945D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760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2,0,2,1</a:t>
                </a:r>
              </a:p>
            </p:txBody>
          </p:sp>
          <p:sp>
            <p:nvSpPr>
              <p:cNvPr id="71750" name="Text Box 51">
                <a:extLst>
                  <a:ext uri="{FF2B5EF4-FFF2-40B4-BE49-F238E27FC236}">
                    <a16:creationId xmlns:a16="http://schemas.microsoft.com/office/drawing/2014/main" id="{DE8F3BED-873D-ED4D-BAD2-347F4F2116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0" y="2472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(2,0,2,0)</a:t>
                </a:r>
              </a:p>
            </p:txBody>
          </p:sp>
        </p:grpSp>
      </p:grpSp>
      <p:grpSp>
        <p:nvGrpSpPr>
          <p:cNvPr id="8" name="Group 84">
            <a:extLst>
              <a:ext uri="{FF2B5EF4-FFF2-40B4-BE49-F238E27FC236}">
                <a16:creationId xmlns:a16="http://schemas.microsoft.com/office/drawing/2014/main" id="{AACE745A-F406-D04D-96F1-50BF32F8E5C0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213100"/>
            <a:ext cx="1492250" cy="1252538"/>
            <a:chOff x="2870" y="1736"/>
            <a:chExt cx="940" cy="789"/>
          </a:xfrm>
        </p:grpSpPr>
        <p:sp>
          <p:nvSpPr>
            <p:cNvPr id="71737" name="Line 12">
              <a:extLst>
                <a:ext uri="{FF2B5EF4-FFF2-40B4-BE49-F238E27FC236}">
                  <a16:creationId xmlns:a16="http://schemas.microsoft.com/office/drawing/2014/main" id="{EB0C605F-BFED-7D4A-A68C-7087E627E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896"/>
              <a:ext cx="256" cy="41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38" name="Group 52">
              <a:extLst>
                <a:ext uri="{FF2B5EF4-FFF2-40B4-BE49-F238E27FC236}">
                  <a16:creationId xmlns:a16="http://schemas.microsoft.com/office/drawing/2014/main" id="{089BB184-8BB3-2B45-8AB3-52C18F6AB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1736"/>
              <a:ext cx="940" cy="789"/>
              <a:chOff x="2870" y="1736"/>
              <a:chExt cx="940" cy="789"/>
            </a:xfrm>
          </p:grpSpPr>
          <p:sp>
            <p:nvSpPr>
              <p:cNvPr id="71739" name="Oval 53">
                <a:extLst>
                  <a:ext uri="{FF2B5EF4-FFF2-40B4-BE49-F238E27FC236}">
                    <a16:creationId xmlns:a16="http://schemas.microsoft.com/office/drawing/2014/main" id="{06936AAC-1B62-9640-8008-15A480F23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175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0" name="Text Box 54">
                <a:extLst>
                  <a:ext uri="{FF2B5EF4-FFF2-40B4-BE49-F238E27FC236}">
                    <a16:creationId xmlns:a16="http://schemas.microsoft.com/office/drawing/2014/main" id="{3AC535E7-0AD2-1C43-969E-9BEBCD715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73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1,2,0,0</a:t>
                </a:r>
              </a:p>
            </p:txBody>
          </p:sp>
          <p:sp>
            <p:nvSpPr>
              <p:cNvPr id="71741" name="Oval 55">
                <a:extLst>
                  <a:ext uri="{FF2B5EF4-FFF2-40B4-BE49-F238E27FC236}">
                    <a16:creationId xmlns:a16="http://schemas.microsoft.com/office/drawing/2014/main" id="{1CEF7AAE-BE1B-2E49-8638-730BE7681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328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2" name="Text Box 56">
                <a:extLst>
                  <a:ext uri="{FF2B5EF4-FFF2-40B4-BE49-F238E27FC236}">
                    <a16:creationId xmlns:a16="http://schemas.microsoft.com/office/drawing/2014/main" id="{066E4E08-D4D8-B94B-902E-0CF0E647A2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2" y="2312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2,2,3,0</a:t>
                </a:r>
              </a:p>
            </p:txBody>
          </p:sp>
          <p:sp>
            <p:nvSpPr>
              <p:cNvPr id="71743" name="Text Box 57">
                <a:extLst>
                  <a:ext uri="{FF2B5EF4-FFF2-40B4-BE49-F238E27FC236}">
                    <a16:creationId xmlns:a16="http://schemas.microsoft.com/office/drawing/2014/main" id="{9DCF0CFE-013A-5249-A004-3FA408DC0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1944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(1,2,0,0)</a:t>
                </a:r>
              </a:p>
            </p:txBody>
          </p:sp>
        </p:grpSp>
      </p:grpSp>
      <p:grpSp>
        <p:nvGrpSpPr>
          <p:cNvPr id="10" name="Group 85">
            <a:extLst>
              <a:ext uri="{FF2B5EF4-FFF2-40B4-BE49-F238E27FC236}">
                <a16:creationId xmlns:a16="http://schemas.microsoft.com/office/drawing/2014/main" id="{25E2E819-995C-0343-93CE-9A9371E0FBDE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565400"/>
            <a:ext cx="1631950" cy="1874838"/>
            <a:chOff x="3600" y="1328"/>
            <a:chExt cx="1028" cy="1181"/>
          </a:xfrm>
        </p:grpSpPr>
        <p:sp>
          <p:nvSpPr>
            <p:cNvPr id="71730" name="Line 14">
              <a:extLst>
                <a:ext uri="{FF2B5EF4-FFF2-40B4-BE49-F238E27FC236}">
                  <a16:creationId xmlns:a16="http://schemas.microsoft.com/office/drawing/2014/main" id="{98359302-061B-E146-8385-C94573FEF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504"/>
              <a:ext cx="480" cy="81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31" name="Group 58">
              <a:extLst>
                <a:ext uri="{FF2B5EF4-FFF2-40B4-BE49-F238E27FC236}">
                  <a16:creationId xmlns:a16="http://schemas.microsoft.com/office/drawing/2014/main" id="{2E1316CF-C0B6-FD4A-B143-E2ABA3783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328"/>
              <a:ext cx="1028" cy="1181"/>
              <a:chOff x="3550" y="1328"/>
              <a:chExt cx="1028" cy="1181"/>
            </a:xfrm>
          </p:grpSpPr>
          <p:sp>
            <p:nvSpPr>
              <p:cNvPr id="71732" name="Oval 59">
                <a:extLst>
                  <a:ext uri="{FF2B5EF4-FFF2-40B4-BE49-F238E27FC236}">
                    <a16:creationId xmlns:a16="http://schemas.microsoft.com/office/drawing/2014/main" id="{41CBCF26-97EE-E542-B402-190EDE79D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33" name="Text Box 60">
                <a:extLst>
                  <a:ext uri="{FF2B5EF4-FFF2-40B4-BE49-F238E27FC236}">
                    <a16:creationId xmlns:a16="http://schemas.microsoft.com/office/drawing/2014/main" id="{E29BED0C-C532-1A4F-94ED-6CF1AEB01C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0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4,0,2,2</a:t>
                </a:r>
              </a:p>
            </p:txBody>
          </p:sp>
          <p:sp>
            <p:nvSpPr>
              <p:cNvPr id="71734" name="Oval 61">
                <a:extLst>
                  <a:ext uri="{FF2B5EF4-FFF2-40B4-BE49-F238E27FC236}">
                    <a16:creationId xmlns:a16="http://schemas.microsoft.com/office/drawing/2014/main" id="{3F9D5093-D11A-B644-9762-12ACF9AF0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31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35" name="Text Box 62">
                <a:extLst>
                  <a:ext uri="{FF2B5EF4-FFF2-40B4-BE49-F238E27FC236}">
                    <a16:creationId xmlns:a16="http://schemas.microsoft.com/office/drawing/2014/main" id="{40F271F7-822C-D34C-A12C-A3AF67FF0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0" y="229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4,2,4,2</a:t>
                </a:r>
              </a:p>
            </p:txBody>
          </p:sp>
          <p:sp>
            <p:nvSpPr>
              <p:cNvPr id="71736" name="Text Box 63">
                <a:extLst>
                  <a:ext uri="{FF2B5EF4-FFF2-40B4-BE49-F238E27FC236}">
                    <a16:creationId xmlns:a16="http://schemas.microsoft.com/office/drawing/2014/main" id="{CD33C95D-DFDB-074D-88B5-3253E768F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6" y="168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(4,0,2,2)</a:t>
                </a:r>
              </a:p>
            </p:txBody>
          </p:sp>
        </p:grpSp>
      </p:grpSp>
      <p:grpSp>
        <p:nvGrpSpPr>
          <p:cNvPr id="12" name="Group 87">
            <a:extLst>
              <a:ext uri="{FF2B5EF4-FFF2-40B4-BE49-F238E27FC236}">
                <a16:creationId xmlns:a16="http://schemas.microsoft.com/office/drawing/2014/main" id="{ADDB814D-387C-574F-8A4A-176E3B02370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68600"/>
            <a:ext cx="1206500" cy="2255838"/>
            <a:chOff x="3360" y="1456"/>
            <a:chExt cx="760" cy="1421"/>
          </a:xfrm>
        </p:grpSpPr>
        <p:sp>
          <p:nvSpPr>
            <p:cNvPr id="71723" name="Line 13">
              <a:extLst>
                <a:ext uri="{FF2B5EF4-FFF2-40B4-BE49-F238E27FC236}">
                  <a16:creationId xmlns:a16="http://schemas.microsoft.com/office/drawing/2014/main" id="{9AB3535F-D119-7744-AEE2-464B54A18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632"/>
              <a:ext cx="48" cy="105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24" name="Group 80">
              <a:extLst>
                <a:ext uri="{FF2B5EF4-FFF2-40B4-BE49-F238E27FC236}">
                  <a16:creationId xmlns:a16="http://schemas.microsoft.com/office/drawing/2014/main" id="{F47F2486-71A8-9741-B1E5-0E4ACA89C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56"/>
              <a:ext cx="760" cy="1421"/>
              <a:chOff x="3360" y="1456"/>
              <a:chExt cx="760" cy="1421"/>
            </a:xfrm>
          </p:grpSpPr>
          <p:sp>
            <p:nvSpPr>
              <p:cNvPr id="71725" name="Oval 65">
                <a:extLst>
                  <a:ext uri="{FF2B5EF4-FFF2-40B4-BE49-F238E27FC236}">
                    <a16:creationId xmlns:a16="http://schemas.microsoft.com/office/drawing/2014/main" id="{086E87DD-A804-9B46-B86A-D5482853F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8" y="268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6" name="Text Box 66">
                <a:extLst>
                  <a:ext uri="{FF2B5EF4-FFF2-40B4-BE49-F238E27FC236}">
                    <a16:creationId xmlns:a16="http://schemas.microsoft.com/office/drawing/2014/main" id="{6853A154-10D8-4743-AFA3-9647E4986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66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2,0,2,2</a:t>
                </a:r>
              </a:p>
            </p:txBody>
          </p:sp>
          <p:sp>
            <p:nvSpPr>
              <p:cNvPr id="71727" name="Oval 67">
                <a:extLst>
                  <a:ext uri="{FF2B5EF4-FFF2-40B4-BE49-F238E27FC236}">
                    <a16:creationId xmlns:a16="http://schemas.microsoft.com/office/drawing/2014/main" id="{27321D8E-3A7B-EF41-91B6-4F9C1F1CF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2" y="147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8" name="Text Box 68">
                <a:extLst>
                  <a:ext uri="{FF2B5EF4-FFF2-40B4-BE49-F238E27FC236}">
                    <a16:creationId xmlns:a16="http://schemas.microsoft.com/office/drawing/2014/main" id="{1A013A1A-A708-B048-B492-B84639CCC4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45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3,0,2,2</a:t>
                </a:r>
              </a:p>
            </p:txBody>
          </p:sp>
          <p:sp>
            <p:nvSpPr>
              <p:cNvPr id="71729" name="Text Box 69">
                <a:extLst>
                  <a:ext uri="{FF2B5EF4-FFF2-40B4-BE49-F238E27FC236}">
                    <a16:creationId xmlns:a16="http://schemas.microsoft.com/office/drawing/2014/main" id="{3E8E3920-5EB0-444D-83DF-2E0A8B615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040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(2,0,2,2)</a:t>
                </a:r>
              </a:p>
            </p:txBody>
          </p:sp>
        </p:grpSp>
      </p:grpSp>
      <p:grpSp>
        <p:nvGrpSpPr>
          <p:cNvPr id="14" name="Group 86">
            <a:extLst>
              <a:ext uri="{FF2B5EF4-FFF2-40B4-BE49-F238E27FC236}">
                <a16:creationId xmlns:a16="http://schemas.microsoft.com/office/drawing/2014/main" id="{9E66B5B7-4FCD-8E40-A429-8817868B3849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4013200"/>
            <a:ext cx="1282700" cy="1138238"/>
            <a:chOff x="4464" y="2240"/>
            <a:chExt cx="808" cy="717"/>
          </a:xfrm>
        </p:grpSpPr>
        <p:sp>
          <p:nvSpPr>
            <p:cNvPr id="71716" name="Line 18">
              <a:extLst>
                <a:ext uri="{FF2B5EF4-FFF2-40B4-BE49-F238E27FC236}">
                  <a16:creationId xmlns:a16="http://schemas.microsoft.com/office/drawing/2014/main" id="{0B1288E6-2057-124A-AFA6-98924B2B2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2392"/>
              <a:ext cx="80" cy="392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17" name="Group 78">
              <a:extLst>
                <a:ext uri="{FF2B5EF4-FFF2-40B4-BE49-F238E27FC236}">
                  <a16:creationId xmlns:a16="http://schemas.microsoft.com/office/drawing/2014/main" id="{B3C7A587-227E-B842-9FFF-273F6F7A4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40"/>
              <a:ext cx="808" cy="717"/>
              <a:chOff x="4464" y="2240"/>
              <a:chExt cx="808" cy="717"/>
            </a:xfrm>
          </p:grpSpPr>
          <p:sp>
            <p:nvSpPr>
              <p:cNvPr id="71718" name="Oval 71">
                <a:extLst>
                  <a:ext uri="{FF2B5EF4-FFF2-40B4-BE49-F238E27FC236}">
                    <a16:creationId xmlns:a16="http://schemas.microsoft.com/office/drawing/2014/main" id="{AC00EA05-668D-DF47-BB28-220680B2D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6" y="276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19" name="Text Box 72">
                <a:extLst>
                  <a:ext uri="{FF2B5EF4-FFF2-40B4-BE49-F238E27FC236}">
                    <a16:creationId xmlns:a16="http://schemas.microsoft.com/office/drawing/2014/main" id="{3C5EF1DB-08BC-4A47-994A-03D166CEF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274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2,0,2,3</a:t>
                </a:r>
              </a:p>
            </p:txBody>
          </p:sp>
          <p:sp>
            <p:nvSpPr>
              <p:cNvPr id="71720" name="Oval 73">
                <a:extLst>
                  <a:ext uri="{FF2B5EF4-FFF2-40B4-BE49-F238E27FC236}">
                    <a16:creationId xmlns:a16="http://schemas.microsoft.com/office/drawing/2014/main" id="{E98033AD-DC0F-464F-8754-4FC563CD1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8" y="2256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1" name="Text Box 74">
                <a:extLst>
                  <a:ext uri="{FF2B5EF4-FFF2-40B4-BE49-F238E27FC236}">
                    <a16:creationId xmlns:a16="http://schemas.microsoft.com/office/drawing/2014/main" id="{C8EA3C3B-36E6-1C43-B55B-86C163A1A4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6" y="2240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4,2,5,3</a:t>
                </a:r>
              </a:p>
            </p:txBody>
          </p:sp>
          <p:sp>
            <p:nvSpPr>
              <p:cNvPr id="71722" name="Text Box 75">
                <a:extLst>
                  <a:ext uri="{FF2B5EF4-FFF2-40B4-BE49-F238E27FC236}">
                    <a16:creationId xmlns:a16="http://schemas.microsoft.com/office/drawing/2014/main" id="{5474C6A9-4FD1-C047-A62C-E0E4BFF580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4" y="252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(2,0,2,3)</a:t>
                </a:r>
              </a:p>
            </p:txBody>
          </p:sp>
        </p:grpSp>
      </p:grpSp>
      <p:sp>
        <p:nvSpPr>
          <p:cNvPr id="71714" name="Oval 76">
            <a:extLst>
              <a:ext uri="{FF2B5EF4-FFF2-40B4-BE49-F238E27FC236}">
                <a16:creationId xmlns:a16="http://schemas.microsoft.com/office/drawing/2014/main" id="{0B38494A-87E7-8849-90D3-6EF4E218D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200" y="5473700"/>
            <a:ext cx="838200" cy="2921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15" name="Text Box 77">
            <a:extLst>
              <a:ext uri="{FF2B5EF4-FFF2-40B4-BE49-F238E27FC236}">
                <a16:creationId xmlns:a16="http://schemas.microsoft.com/office/drawing/2014/main" id="{FCF76A73-9BBD-9744-B87E-257E521B9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5448300"/>
            <a:ext cx="9588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 err="1">
                <a:solidFill>
                  <a:schemeClr val="tx1"/>
                </a:solidFill>
              </a:rPr>
              <a:t>n,m,p,q</a:t>
            </a:r>
            <a:endParaRPr lang="en-US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60686-7969-9245-91BA-6B311EC3E517}"/>
              </a:ext>
            </a:extLst>
          </p:cNvPr>
          <p:cNvSpPr txBox="1"/>
          <p:nvPr/>
        </p:nvSpPr>
        <p:spPr>
          <a:xfrm>
            <a:off x="6946900" y="5471630"/>
            <a:ext cx="371415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Did (1,2,0,0) happen before (3,0,2,2)?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4F25-617D-B04C-BA88-A592AE8F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Vector Timestamps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D3FD7A9-FEFE-064F-8C3B-BD548B815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1964635"/>
            <a:ext cx="78994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kern="0" dirty="0">
                <a:latin typeface="Arial" panose="020B0604020202020204" pitchFamily="34" charset="0"/>
              </a:rPr>
              <a:t>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=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, 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latin typeface="Arial" panose="020B0604020202020204" pitchFamily="34" charset="0"/>
              </a:rPr>
              <a:t>	</a:t>
            </a:r>
            <a:r>
              <a:rPr lang="en-US" altLang="en-US" sz="2400" i="1" kern="0" dirty="0" err="1">
                <a:latin typeface="Arial" panose="020B0604020202020204" pitchFamily="34" charset="0"/>
              </a:rPr>
              <a:t>iff</a:t>
            </a:r>
            <a:r>
              <a:rPr lang="en-US" altLang="en-US" sz="2400" kern="0" dirty="0">
                <a:latin typeface="Arial" panose="020B0604020202020204" pitchFamily="34" charset="0"/>
              </a:rPr>
              <a:t>  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[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] =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[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], for all 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 = 1, … , n</a:t>
            </a:r>
            <a:endParaRPr lang="en-US" altLang="en-US" sz="2800" kern="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latin typeface="Arial" panose="020B0604020202020204" pitchFamily="34" charset="0"/>
              </a:rPr>
              <a:t>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≤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, 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latin typeface="Arial" panose="020B0604020202020204" pitchFamily="34" charset="0"/>
              </a:rPr>
              <a:t>	</a:t>
            </a:r>
            <a:r>
              <a:rPr lang="en-US" altLang="en-US" sz="2400" i="1" kern="0" dirty="0" err="1">
                <a:latin typeface="Arial" panose="020B0604020202020204" pitchFamily="34" charset="0"/>
              </a:rPr>
              <a:t>iff</a:t>
            </a:r>
            <a:r>
              <a:rPr lang="en-US" altLang="en-US" sz="2400" kern="0" dirty="0">
                <a:latin typeface="Arial" panose="020B0604020202020204" pitchFamily="34" charset="0"/>
              </a:rPr>
              <a:t>  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[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] ≤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[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], for all </a:t>
            </a:r>
            <a:r>
              <a:rPr lang="en-US" altLang="en-US" sz="2400" kern="0" dirty="0" err="1">
                <a:latin typeface="Arial" panose="020B0604020202020204" pitchFamily="34" charset="0"/>
              </a:rPr>
              <a:t>i</a:t>
            </a:r>
            <a:r>
              <a:rPr lang="en-US" altLang="en-US" sz="2400" kern="0" dirty="0">
                <a:latin typeface="Arial" panose="020B0604020202020204" pitchFamily="34" charset="0"/>
              </a:rPr>
              <a:t> = 1, … , n</a:t>
            </a:r>
            <a:endParaRPr lang="en-US" altLang="en-US" sz="2800" kern="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kern="0" dirty="0">
                <a:latin typeface="Arial" panose="020B0604020202020204" pitchFamily="34" charset="0"/>
              </a:rPr>
              <a:t>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&lt;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, 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latin typeface="Arial" panose="020B0604020202020204" pitchFamily="34" charset="0"/>
              </a:rPr>
              <a:t>	</a:t>
            </a:r>
            <a:r>
              <a:rPr lang="en-US" altLang="en-US" sz="2400" i="1" kern="0" dirty="0" err="1">
                <a:latin typeface="Arial" panose="020B0604020202020204" pitchFamily="34" charset="0"/>
              </a:rPr>
              <a:t>iff</a:t>
            </a:r>
            <a:r>
              <a:rPr lang="en-US" altLang="en-US" sz="2400" kern="0" dirty="0">
                <a:latin typeface="Arial" panose="020B0604020202020204" pitchFamily="34" charset="0"/>
              </a:rPr>
              <a:t>  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≤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 &amp;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latin typeface="Arial" panose="020B0604020202020204" pitchFamily="34" charset="0"/>
              </a:rPr>
              <a:t>	      </a:t>
            </a:r>
            <a:r>
              <a:rPr lang="en-US" altLang="en-US" sz="2400" kern="0" dirty="0">
                <a:latin typeface="Arial" panose="020B0604020202020204" pitchFamily="34" charset="0"/>
                <a:sym typeface="Symbol" pitchFamily="2" charset="2"/>
              </a:rPr>
              <a:t> j (1 ≤ j ≤ n &amp; VT</a:t>
            </a:r>
            <a:r>
              <a:rPr lang="en-US" altLang="en-US" sz="2400" kern="0" baseline="-25000" dirty="0"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  <a:sym typeface="Symbol" pitchFamily="2" charset="2"/>
              </a:rPr>
              <a:t>[j] &lt; VT</a:t>
            </a:r>
            <a:r>
              <a:rPr lang="en-US" altLang="en-US" sz="2400" kern="0" baseline="-25000" dirty="0"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  <a:sym typeface="Symbol" pitchFamily="2" charset="2"/>
              </a:rPr>
              <a:t> [j])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800" kern="0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kern="0" dirty="0">
                <a:latin typeface="Arial" panose="020B0604020202020204" pitchFamily="34" charset="0"/>
              </a:rPr>
              <a:t>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is concurrent with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altLang="en-US" sz="2400" kern="0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400" i="1" kern="0" dirty="0" err="1">
                <a:latin typeface="Arial" panose="020B0604020202020204" pitchFamily="34" charset="0"/>
              </a:rPr>
              <a:t>iff</a:t>
            </a:r>
            <a:r>
              <a:rPr lang="en-US" altLang="en-US" sz="2400" kern="0" dirty="0">
                <a:latin typeface="Arial" panose="020B0604020202020204" pitchFamily="34" charset="0"/>
              </a:rPr>
              <a:t>  (not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 ≤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  AND not 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2</a:t>
            </a:r>
            <a:r>
              <a:rPr lang="en-US" altLang="en-US" sz="2400" kern="0" dirty="0">
                <a:latin typeface="Arial" panose="020B0604020202020204" pitchFamily="34" charset="0"/>
              </a:rPr>
              <a:t> ≤ VT</a:t>
            </a:r>
            <a:r>
              <a:rPr lang="en-US" altLang="en-US" sz="2400" kern="0" baseline="-25000" dirty="0">
                <a:latin typeface="Arial" panose="020B0604020202020204" pitchFamily="34" charset="0"/>
              </a:rPr>
              <a:t>1</a:t>
            </a:r>
            <a:r>
              <a:rPr lang="en-US" altLang="en-US" sz="2400" kern="0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5786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77311-84CF-1945-B4D8-FA82B2E2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Vector Timestamp Example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AA111DA-AD50-DB48-AA66-011EB4177D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40000" y="1600200"/>
            <a:ext cx="8128000" cy="49530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71684" name="Line 4">
            <a:extLst>
              <a:ext uri="{FF2B5EF4-FFF2-40B4-BE49-F238E27FC236}">
                <a16:creationId xmlns:a16="http://schemas.microsoft.com/office/drawing/2014/main" id="{BD443378-9FBB-8D4C-A6C0-55984DD4C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832100"/>
            <a:ext cx="4940300" cy="1270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CBA64F17-2EB8-BF45-916E-FAA9FCFE3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6543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1</a:t>
            </a:r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48DAA5D9-7521-5444-ADD7-698F8240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32639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2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C9D5A535-E2D9-1D41-BD87-4D82716E6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38989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3</a:t>
            </a:r>
          </a:p>
        </p:txBody>
      </p:sp>
      <p:sp>
        <p:nvSpPr>
          <p:cNvPr id="71688" name="Text Box 8">
            <a:extLst>
              <a:ext uri="{FF2B5EF4-FFF2-40B4-BE49-F238E27FC236}">
                <a16:creationId xmlns:a16="http://schemas.microsoft.com/office/drawing/2014/main" id="{B73690DB-5B69-2349-A418-8527D9859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4597401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  4</a:t>
            </a:r>
          </a:p>
        </p:txBody>
      </p:sp>
      <p:sp>
        <p:nvSpPr>
          <p:cNvPr id="71689" name="Line 15">
            <a:extLst>
              <a:ext uri="{FF2B5EF4-FFF2-40B4-BE49-F238E27FC236}">
                <a16:creationId xmlns:a16="http://schemas.microsoft.com/office/drawing/2014/main" id="{16C7738B-C5BB-D74C-A70E-847567D71F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3467100"/>
            <a:ext cx="4940300" cy="1270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0" name="Line 16">
            <a:extLst>
              <a:ext uri="{FF2B5EF4-FFF2-40B4-BE49-F238E27FC236}">
                <a16:creationId xmlns:a16="http://schemas.microsoft.com/office/drawing/2014/main" id="{32FF980C-4BA7-C34B-95CA-DB89195CDD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4140200"/>
            <a:ext cx="5422900" cy="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Line 17">
            <a:extLst>
              <a:ext uri="{FF2B5EF4-FFF2-40B4-BE49-F238E27FC236}">
                <a16:creationId xmlns:a16="http://schemas.microsoft.com/office/drawing/2014/main" id="{3E1F77FB-21EC-5949-97D4-31291ACBD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8300" y="4851400"/>
            <a:ext cx="5334000" cy="0"/>
          </a:xfrm>
          <a:prstGeom prst="line">
            <a:avLst/>
          </a:prstGeom>
          <a:noFill/>
          <a:ln w="28575">
            <a:solidFill>
              <a:srgbClr val="037C0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2" name="Oval 19">
            <a:extLst>
              <a:ext uri="{FF2B5EF4-FFF2-40B4-BE49-F238E27FC236}">
                <a16:creationId xmlns:a16="http://schemas.microsoft.com/office/drawing/2014/main" id="{9029CD26-F884-A646-99C2-C63A6802A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27432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693" name="Text Box 20">
            <a:extLst>
              <a:ext uri="{FF2B5EF4-FFF2-40B4-BE49-F238E27FC236}">
                <a16:creationId xmlns:a16="http://schemas.microsoft.com/office/drawing/2014/main" id="{1C4D9BE3-7CB9-A646-A4C4-45F87A5CB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5" y="27178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694" name="Line 21">
            <a:extLst>
              <a:ext uri="{FF2B5EF4-FFF2-40B4-BE49-F238E27FC236}">
                <a16:creationId xmlns:a16="http://schemas.microsoft.com/office/drawing/2014/main" id="{B2FCEF6B-750A-334E-B341-E319139C2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800" y="2159000"/>
            <a:ext cx="266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5" name="Text Box 22">
            <a:extLst>
              <a:ext uri="{FF2B5EF4-FFF2-40B4-BE49-F238E27FC236}">
                <a16:creationId xmlns:a16="http://schemas.microsoft.com/office/drawing/2014/main" id="{729536FF-9BCA-194E-8860-4C20A5C0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397500"/>
            <a:ext cx="2374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Vector logical clock</a:t>
            </a:r>
          </a:p>
        </p:txBody>
      </p:sp>
      <p:sp>
        <p:nvSpPr>
          <p:cNvPr id="71696" name="Line 23">
            <a:extLst>
              <a:ext uri="{FF2B5EF4-FFF2-40B4-BE49-F238E27FC236}">
                <a16:creationId xmlns:a16="http://schemas.microsoft.com/office/drawing/2014/main" id="{56EA5490-A451-B246-A427-76F65A99F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8900" y="6223000"/>
            <a:ext cx="2184400" cy="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7" name="Text Box 24">
            <a:extLst>
              <a:ext uri="{FF2B5EF4-FFF2-40B4-BE49-F238E27FC236}">
                <a16:creationId xmlns:a16="http://schemas.microsoft.com/office/drawing/2014/main" id="{627769EE-A63A-5A43-ACE9-9609F1BE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5981700"/>
            <a:ext cx="1663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Message</a:t>
            </a:r>
          </a:p>
        </p:txBody>
      </p:sp>
      <p:sp>
        <p:nvSpPr>
          <p:cNvPr id="71698" name="Text Box 25">
            <a:extLst>
              <a:ext uri="{FF2B5EF4-FFF2-40B4-BE49-F238E27FC236}">
                <a16:creationId xmlns:a16="http://schemas.microsoft.com/office/drawing/2014/main" id="{2C3B6C38-57C8-0E4C-B58D-0A5C3790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5854700"/>
            <a:ext cx="2908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>
                <a:solidFill>
                  <a:schemeClr val="tx1"/>
                </a:solidFill>
              </a:rPr>
              <a:t>(vector timestamp)</a:t>
            </a:r>
          </a:p>
        </p:txBody>
      </p:sp>
      <p:sp>
        <p:nvSpPr>
          <p:cNvPr id="71699" name="Line 26">
            <a:extLst>
              <a:ext uri="{FF2B5EF4-FFF2-40B4-BE49-F238E27FC236}">
                <a16:creationId xmlns:a16="http://schemas.microsoft.com/office/drawing/2014/main" id="{118F91A8-B9F0-7244-84F4-26DF9EAA1A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0" y="2159000"/>
            <a:ext cx="4914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0" name="Text Box 27">
            <a:extLst>
              <a:ext uri="{FF2B5EF4-FFF2-40B4-BE49-F238E27FC236}">
                <a16:creationId xmlns:a16="http://schemas.microsoft.com/office/drawing/2014/main" id="{3E2ADA49-85CB-BA4A-A343-38E288545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765300"/>
            <a:ext cx="2298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tx1"/>
                </a:solidFill>
              </a:rPr>
              <a:t>Physical Time</a:t>
            </a:r>
          </a:p>
        </p:txBody>
      </p:sp>
      <p:sp>
        <p:nvSpPr>
          <p:cNvPr id="71701" name="Oval 28">
            <a:extLst>
              <a:ext uri="{FF2B5EF4-FFF2-40B4-BE49-F238E27FC236}">
                <a16:creationId xmlns:a16="http://schemas.microsoft.com/office/drawing/2014/main" id="{4EC05176-FA94-BB4F-8438-DD75D5276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3147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2" name="Text Box 29">
            <a:extLst>
              <a:ext uri="{FF2B5EF4-FFF2-40B4-BE49-F238E27FC236}">
                <a16:creationId xmlns:a16="http://schemas.microsoft.com/office/drawing/2014/main" id="{13D269B7-4F0C-BF4C-993B-C4E793254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32893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703" name="Oval 30">
            <a:extLst>
              <a:ext uri="{FF2B5EF4-FFF2-40B4-BE49-F238E27FC236}">
                <a16:creationId xmlns:a16="http://schemas.microsoft.com/office/drawing/2014/main" id="{1346F484-695B-1E4E-8E1A-C62204FD3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624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4" name="Text Box 31">
            <a:extLst>
              <a:ext uri="{FF2B5EF4-FFF2-40B4-BE49-F238E27FC236}">
                <a16:creationId xmlns:a16="http://schemas.microsoft.com/office/drawing/2014/main" id="{5464E10B-186B-2B4D-88F9-AAE5970BD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39370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sp>
        <p:nvSpPr>
          <p:cNvPr id="71705" name="Oval 32">
            <a:extLst>
              <a:ext uri="{FF2B5EF4-FFF2-40B4-BE49-F238E27FC236}">
                <a16:creationId xmlns:a16="http://schemas.microsoft.com/office/drawing/2014/main" id="{33A46D35-CB97-3940-B169-4F8B1079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0" y="4673600"/>
            <a:ext cx="774700" cy="2413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06" name="Text Box 33">
            <a:extLst>
              <a:ext uri="{FF2B5EF4-FFF2-40B4-BE49-F238E27FC236}">
                <a16:creationId xmlns:a16="http://schemas.microsoft.com/office/drawing/2014/main" id="{EF49A5D1-242A-5340-8C3E-771F25180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4648200"/>
            <a:ext cx="869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tx1"/>
                </a:solidFill>
              </a:rPr>
              <a:t>0,0,0,0</a:t>
            </a:r>
          </a:p>
        </p:txBody>
      </p:sp>
      <p:grpSp>
        <p:nvGrpSpPr>
          <p:cNvPr id="2" name="Group 81">
            <a:extLst>
              <a:ext uri="{FF2B5EF4-FFF2-40B4-BE49-F238E27FC236}">
                <a16:creationId xmlns:a16="http://schemas.microsoft.com/office/drawing/2014/main" id="{1B74AE8F-453A-0F42-8549-BFF2680DAFAF}"/>
              </a:ext>
            </a:extLst>
          </p:cNvPr>
          <p:cNvGrpSpPr>
            <a:grpSpLocks/>
          </p:cNvGrpSpPr>
          <p:nvPr/>
        </p:nvGrpSpPr>
        <p:grpSpPr bwMode="auto">
          <a:xfrm>
            <a:off x="3921125" y="2565400"/>
            <a:ext cx="1263650" cy="1239838"/>
            <a:chOff x="1510" y="1328"/>
            <a:chExt cx="796" cy="781"/>
          </a:xfrm>
        </p:grpSpPr>
        <p:sp>
          <p:nvSpPr>
            <p:cNvPr id="71758" name="Line 9">
              <a:extLst>
                <a:ext uri="{FF2B5EF4-FFF2-40B4-BE49-F238E27FC236}">
                  <a16:creationId xmlns:a16="http://schemas.microsoft.com/office/drawing/2014/main" id="{1EEBD469-C60F-FC45-B84F-EEDD94E8F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1496"/>
              <a:ext cx="240" cy="40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59" name="Group 34">
              <a:extLst>
                <a:ext uri="{FF2B5EF4-FFF2-40B4-BE49-F238E27FC236}">
                  <a16:creationId xmlns:a16="http://schemas.microsoft.com/office/drawing/2014/main" id="{513EC76B-893C-7F44-991C-729E30FA5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0" y="1328"/>
              <a:ext cx="796" cy="781"/>
              <a:chOff x="1510" y="1328"/>
              <a:chExt cx="796" cy="781"/>
            </a:xfrm>
          </p:grpSpPr>
          <p:sp>
            <p:nvSpPr>
              <p:cNvPr id="71760" name="Text Box 35">
                <a:extLst>
                  <a:ext uri="{FF2B5EF4-FFF2-40B4-BE49-F238E27FC236}">
                    <a16:creationId xmlns:a16="http://schemas.microsoft.com/office/drawing/2014/main" id="{92ECAA5C-A7F9-E142-BA25-EA358AFA0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0" y="156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(1,0,0,0)</a:t>
                </a:r>
              </a:p>
            </p:txBody>
          </p:sp>
          <p:sp>
            <p:nvSpPr>
              <p:cNvPr id="71761" name="Oval 36">
                <a:extLst>
                  <a:ext uri="{FF2B5EF4-FFF2-40B4-BE49-F238E27FC236}">
                    <a16:creationId xmlns:a16="http://schemas.microsoft.com/office/drawing/2014/main" id="{704AA2AE-155B-2E40-9C35-EC1DD7DB0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2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62" name="Text Box 37">
                <a:extLst>
                  <a:ext uri="{FF2B5EF4-FFF2-40B4-BE49-F238E27FC236}">
                    <a16:creationId xmlns:a16="http://schemas.microsoft.com/office/drawing/2014/main" id="{B133536F-64AD-F54D-8F2B-5FB86F69E6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0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1,0,0,0</a:t>
                </a:r>
              </a:p>
            </p:txBody>
          </p:sp>
          <p:sp>
            <p:nvSpPr>
              <p:cNvPr id="71763" name="Oval 38">
                <a:extLst>
                  <a:ext uri="{FF2B5EF4-FFF2-40B4-BE49-F238E27FC236}">
                    <a16:creationId xmlns:a16="http://schemas.microsoft.com/office/drawing/2014/main" id="{8BC05157-33F8-084E-BE85-2D85B6EE6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91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64" name="Text Box 39">
                <a:extLst>
                  <a:ext uri="{FF2B5EF4-FFF2-40B4-BE49-F238E27FC236}">
                    <a16:creationId xmlns:a16="http://schemas.microsoft.com/office/drawing/2014/main" id="{6CC5C571-565A-734D-8946-88CF7E99E7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8" y="189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1,1,0,0</a:t>
                </a:r>
              </a:p>
            </p:txBody>
          </p:sp>
        </p:grpSp>
      </p:grpSp>
      <p:grpSp>
        <p:nvGrpSpPr>
          <p:cNvPr id="4" name="Group 82">
            <a:extLst>
              <a:ext uri="{FF2B5EF4-FFF2-40B4-BE49-F238E27FC236}">
                <a16:creationId xmlns:a16="http://schemas.microsoft.com/office/drawing/2014/main" id="{CE0D52CD-30A0-834F-987D-F63970D60084}"/>
              </a:ext>
            </a:extLst>
          </p:cNvPr>
          <p:cNvGrpSpPr>
            <a:grpSpLocks/>
          </p:cNvGrpSpPr>
          <p:nvPr/>
        </p:nvGrpSpPr>
        <p:grpSpPr bwMode="auto">
          <a:xfrm>
            <a:off x="4759325" y="2565400"/>
            <a:ext cx="1454150" cy="1887538"/>
            <a:chOff x="2038" y="1328"/>
            <a:chExt cx="916" cy="1189"/>
          </a:xfrm>
        </p:grpSpPr>
        <p:sp>
          <p:nvSpPr>
            <p:cNvPr id="71751" name="Line 10">
              <a:extLst>
                <a:ext uri="{FF2B5EF4-FFF2-40B4-BE49-F238E27FC236}">
                  <a16:creationId xmlns:a16="http://schemas.microsoft.com/office/drawing/2014/main" id="{297D7120-E956-0146-9191-C5854838F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96"/>
              <a:ext cx="384" cy="84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52" name="Group 40">
              <a:extLst>
                <a:ext uri="{FF2B5EF4-FFF2-40B4-BE49-F238E27FC236}">
                  <a16:creationId xmlns:a16="http://schemas.microsoft.com/office/drawing/2014/main" id="{EA2BCB3B-0651-BD4C-8BB4-554C013C4B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8" y="1328"/>
              <a:ext cx="916" cy="1189"/>
              <a:chOff x="2038" y="1328"/>
              <a:chExt cx="916" cy="1189"/>
            </a:xfrm>
          </p:grpSpPr>
          <p:sp>
            <p:nvSpPr>
              <p:cNvPr id="71753" name="Oval 41">
                <a:extLst>
                  <a:ext uri="{FF2B5EF4-FFF2-40B4-BE49-F238E27FC236}">
                    <a16:creationId xmlns:a16="http://schemas.microsoft.com/office/drawing/2014/main" id="{D84A2CD8-1932-9041-A1DA-6EFA08130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54" name="Text Box 42">
                <a:extLst>
                  <a:ext uri="{FF2B5EF4-FFF2-40B4-BE49-F238E27FC236}">
                    <a16:creationId xmlns:a16="http://schemas.microsoft.com/office/drawing/2014/main" id="{B59972C1-FD23-6944-BB5B-3E538E03D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8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2,0,0,0</a:t>
                </a:r>
              </a:p>
            </p:txBody>
          </p:sp>
          <p:sp>
            <p:nvSpPr>
              <p:cNvPr id="71755" name="Oval 43">
                <a:extLst>
                  <a:ext uri="{FF2B5EF4-FFF2-40B4-BE49-F238E27FC236}">
                    <a16:creationId xmlns:a16="http://schemas.microsoft.com/office/drawing/2014/main" id="{0E6534E2-FB9A-F947-82CD-4E3B63C95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" y="232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56" name="Text Box 44">
                <a:extLst>
                  <a:ext uri="{FF2B5EF4-FFF2-40B4-BE49-F238E27FC236}">
                    <a16:creationId xmlns:a16="http://schemas.microsoft.com/office/drawing/2014/main" id="{D3A3997F-1D4D-5D40-805B-ACA4822E2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6" y="230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2,0,1,0</a:t>
                </a:r>
              </a:p>
            </p:txBody>
          </p:sp>
          <p:sp>
            <p:nvSpPr>
              <p:cNvPr id="71757" name="Text Box 45">
                <a:extLst>
                  <a:ext uri="{FF2B5EF4-FFF2-40B4-BE49-F238E27FC236}">
                    <a16:creationId xmlns:a16="http://schemas.microsoft.com/office/drawing/2014/main" id="{C3729C71-8836-EA41-9073-053AA7A85F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4" y="1912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(2,0,0,0)</a:t>
                </a:r>
              </a:p>
            </p:txBody>
          </p:sp>
        </p:grpSp>
      </p:grpSp>
      <p:grpSp>
        <p:nvGrpSpPr>
          <p:cNvPr id="6" name="Group 83">
            <a:extLst>
              <a:ext uri="{FF2B5EF4-FFF2-40B4-BE49-F238E27FC236}">
                <a16:creationId xmlns:a16="http://schemas.microsoft.com/office/drawing/2014/main" id="{43EBD5D5-6925-2746-A5B7-ACFD2738FC33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3873500"/>
            <a:ext cx="1073150" cy="1303338"/>
            <a:chOff x="2800" y="2152"/>
            <a:chExt cx="676" cy="821"/>
          </a:xfrm>
        </p:grpSpPr>
        <p:sp>
          <p:nvSpPr>
            <p:cNvPr id="71744" name="Line 11">
              <a:extLst>
                <a:ext uri="{FF2B5EF4-FFF2-40B4-BE49-F238E27FC236}">
                  <a16:creationId xmlns:a16="http://schemas.microsoft.com/office/drawing/2014/main" id="{572BB963-F9A3-A74B-ADA2-3FFAA8CD6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312"/>
              <a:ext cx="144" cy="424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45" name="Group 79">
              <a:extLst>
                <a:ext uri="{FF2B5EF4-FFF2-40B4-BE49-F238E27FC236}">
                  <a16:creationId xmlns:a16="http://schemas.microsoft.com/office/drawing/2014/main" id="{B845BBEE-3763-FE44-88C4-6AE53D893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" y="2152"/>
              <a:ext cx="676" cy="821"/>
              <a:chOff x="2800" y="2152"/>
              <a:chExt cx="676" cy="821"/>
            </a:xfrm>
          </p:grpSpPr>
          <p:sp>
            <p:nvSpPr>
              <p:cNvPr id="71746" name="Oval 47">
                <a:extLst>
                  <a:ext uri="{FF2B5EF4-FFF2-40B4-BE49-F238E27FC236}">
                    <a16:creationId xmlns:a16="http://schemas.microsoft.com/office/drawing/2014/main" id="{206FABFA-2F13-274B-A2BC-3478DEC57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168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7" name="Text Box 48">
                <a:extLst>
                  <a:ext uri="{FF2B5EF4-FFF2-40B4-BE49-F238E27FC236}">
                    <a16:creationId xmlns:a16="http://schemas.microsoft.com/office/drawing/2014/main" id="{D1EBA318-59CF-CA48-8C67-01D0624BA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" y="2152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2,0,2,0</a:t>
                </a:r>
              </a:p>
            </p:txBody>
          </p:sp>
          <p:sp>
            <p:nvSpPr>
              <p:cNvPr id="71748" name="Oval 49">
                <a:extLst>
                  <a:ext uri="{FF2B5EF4-FFF2-40B4-BE49-F238E27FC236}">
                    <a16:creationId xmlns:a16="http://schemas.microsoft.com/office/drawing/2014/main" id="{4259AD99-42C5-0D48-BEDB-18FE4BE6D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0" y="2776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9" name="Text Box 50">
                <a:extLst>
                  <a:ext uri="{FF2B5EF4-FFF2-40B4-BE49-F238E27FC236}">
                    <a16:creationId xmlns:a16="http://schemas.microsoft.com/office/drawing/2014/main" id="{1107BDB0-CA6C-4740-A712-7292A945D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760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2,0,2,1</a:t>
                </a:r>
              </a:p>
            </p:txBody>
          </p:sp>
          <p:sp>
            <p:nvSpPr>
              <p:cNvPr id="71750" name="Text Box 51">
                <a:extLst>
                  <a:ext uri="{FF2B5EF4-FFF2-40B4-BE49-F238E27FC236}">
                    <a16:creationId xmlns:a16="http://schemas.microsoft.com/office/drawing/2014/main" id="{DE8F3BED-873D-ED4D-BAD2-347F4F2116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0" y="2472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(2,0,2,0)</a:t>
                </a:r>
              </a:p>
            </p:txBody>
          </p:sp>
        </p:grpSp>
      </p:grpSp>
      <p:grpSp>
        <p:nvGrpSpPr>
          <p:cNvPr id="8" name="Group 84">
            <a:extLst>
              <a:ext uri="{FF2B5EF4-FFF2-40B4-BE49-F238E27FC236}">
                <a16:creationId xmlns:a16="http://schemas.microsoft.com/office/drawing/2014/main" id="{AACE745A-F406-D04D-96F1-50BF32F8E5C0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213100"/>
            <a:ext cx="1492250" cy="1252538"/>
            <a:chOff x="2870" y="1736"/>
            <a:chExt cx="940" cy="789"/>
          </a:xfrm>
        </p:grpSpPr>
        <p:sp>
          <p:nvSpPr>
            <p:cNvPr id="71737" name="Line 12">
              <a:extLst>
                <a:ext uri="{FF2B5EF4-FFF2-40B4-BE49-F238E27FC236}">
                  <a16:creationId xmlns:a16="http://schemas.microsoft.com/office/drawing/2014/main" id="{EB0C605F-BFED-7D4A-A68C-7087E627E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896"/>
              <a:ext cx="256" cy="41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38" name="Group 52">
              <a:extLst>
                <a:ext uri="{FF2B5EF4-FFF2-40B4-BE49-F238E27FC236}">
                  <a16:creationId xmlns:a16="http://schemas.microsoft.com/office/drawing/2014/main" id="{089BB184-8BB3-2B45-8AB3-52C18F6AB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1736"/>
              <a:ext cx="940" cy="789"/>
              <a:chOff x="2870" y="1736"/>
              <a:chExt cx="940" cy="789"/>
            </a:xfrm>
          </p:grpSpPr>
          <p:sp>
            <p:nvSpPr>
              <p:cNvPr id="71739" name="Oval 53">
                <a:extLst>
                  <a:ext uri="{FF2B5EF4-FFF2-40B4-BE49-F238E27FC236}">
                    <a16:creationId xmlns:a16="http://schemas.microsoft.com/office/drawing/2014/main" id="{06936AAC-1B62-9640-8008-15A480F23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175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0" name="Text Box 54">
                <a:extLst>
                  <a:ext uri="{FF2B5EF4-FFF2-40B4-BE49-F238E27FC236}">
                    <a16:creationId xmlns:a16="http://schemas.microsoft.com/office/drawing/2014/main" id="{3AC535E7-0AD2-1C43-969E-9BEBCD715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73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1,2,0,0</a:t>
                </a:r>
              </a:p>
            </p:txBody>
          </p:sp>
          <p:sp>
            <p:nvSpPr>
              <p:cNvPr id="71741" name="Oval 55">
                <a:extLst>
                  <a:ext uri="{FF2B5EF4-FFF2-40B4-BE49-F238E27FC236}">
                    <a16:creationId xmlns:a16="http://schemas.microsoft.com/office/drawing/2014/main" id="{1CEF7AAE-BE1B-2E49-8638-730BE7681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328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42" name="Text Box 56">
                <a:extLst>
                  <a:ext uri="{FF2B5EF4-FFF2-40B4-BE49-F238E27FC236}">
                    <a16:creationId xmlns:a16="http://schemas.microsoft.com/office/drawing/2014/main" id="{066E4E08-D4D8-B94B-902E-0CF0E647A2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2" y="2312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2,2,3,0</a:t>
                </a:r>
              </a:p>
            </p:txBody>
          </p:sp>
          <p:sp>
            <p:nvSpPr>
              <p:cNvPr id="71743" name="Text Box 57">
                <a:extLst>
                  <a:ext uri="{FF2B5EF4-FFF2-40B4-BE49-F238E27FC236}">
                    <a16:creationId xmlns:a16="http://schemas.microsoft.com/office/drawing/2014/main" id="{9DCF0CFE-013A-5249-A004-3FA408DC0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1944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(1,2,0,0)</a:t>
                </a:r>
              </a:p>
            </p:txBody>
          </p:sp>
        </p:grpSp>
      </p:grpSp>
      <p:grpSp>
        <p:nvGrpSpPr>
          <p:cNvPr id="10" name="Group 85">
            <a:extLst>
              <a:ext uri="{FF2B5EF4-FFF2-40B4-BE49-F238E27FC236}">
                <a16:creationId xmlns:a16="http://schemas.microsoft.com/office/drawing/2014/main" id="{25E2E819-995C-0343-93CE-9A9371E0FBDE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565400"/>
            <a:ext cx="1631950" cy="1874838"/>
            <a:chOff x="3600" y="1328"/>
            <a:chExt cx="1028" cy="1181"/>
          </a:xfrm>
        </p:grpSpPr>
        <p:sp>
          <p:nvSpPr>
            <p:cNvPr id="71730" name="Line 14">
              <a:extLst>
                <a:ext uri="{FF2B5EF4-FFF2-40B4-BE49-F238E27FC236}">
                  <a16:creationId xmlns:a16="http://schemas.microsoft.com/office/drawing/2014/main" id="{98359302-061B-E146-8385-C94573FEF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504"/>
              <a:ext cx="480" cy="81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31" name="Group 58">
              <a:extLst>
                <a:ext uri="{FF2B5EF4-FFF2-40B4-BE49-F238E27FC236}">
                  <a16:creationId xmlns:a16="http://schemas.microsoft.com/office/drawing/2014/main" id="{2E1316CF-C0B6-FD4A-B143-E2ABA3783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328"/>
              <a:ext cx="1028" cy="1181"/>
              <a:chOff x="3550" y="1328"/>
              <a:chExt cx="1028" cy="1181"/>
            </a:xfrm>
          </p:grpSpPr>
          <p:sp>
            <p:nvSpPr>
              <p:cNvPr id="71732" name="Oval 59">
                <a:extLst>
                  <a:ext uri="{FF2B5EF4-FFF2-40B4-BE49-F238E27FC236}">
                    <a16:creationId xmlns:a16="http://schemas.microsoft.com/office/drawing/2014/main" id="{41CBCF26-97EE-E542-B402-190EDE79D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344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33" name="Text Box 60">
                <a:extLst>
                  <a:ext uri="{FF2B5EF4-FFF2-40B4-BE49-F238E27FC236}">
                    <a16:creationId xmlns:a16="http://schemas.microsoft.com/office/drawing/2014/main" id="{E29BED0C-C532-1A4F-94ED-6CF1AEB01C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0" y="1328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4,0,2,2</a:t>
                </a:r>
              </a:p>
            </p:txBody>
          </p:sp>
          <p:sp>
            <p:nvSpPr>
              <p:cNvPr id="71734" name="Oval 61">
                <a:extLst>
                  <a:ext uri="{FF2B5EF4-FFF2-40B4-BE49-F238E27FC236}">
                    <a16:creationId xmlns:a16="http://schemas.microsoft.com/office/drawing/2014/main" id="{3F9D5093-D11A-B644-9762-12ACF9AF0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31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35" name="Text Box 62">
                <a:extLst>
                  <a:ext uri="{FF2B5EF4-FFF2-40B4-BE49-F238E27FC236}">
                    <a16:creationId xmlns:a16="http://schemas.microsoft.com/office/drawing/2014/main" id="{40F271F7-822C-D34C-A12C-A3AF67FF0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0" y="229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4,2,4,2</a:t>
                </a:r>
              </a:p>
            </p:txBody>
          </p:sp>
          <p:sp>
            <p:nvSpPr>
              <p:cNvPr id="71736" name="Text Box 63">
                <a:extLst>
                  <a:ext uri="{FF2B5EF4-FFF2-40B4-BE49-F238E27FC236}">
                    <a16:creationId xmlns:a16="http://schemas.microsoft.com/office/drawing/2014/main" id="{CD33C95D-DFDB-074D-88B5-3253E768F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6" y="168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(4,0,2,2)</a:t>
                </a:r>
              </a:p>
            </p:txBody>
          </p:sp>
        </p:grpSp>
      </p:grpSp>
      <p:grpSp>
        <p:nvGrpSpPr>
          <p:cNvPr id="12" name="Group 87">
            <a:extLst>
              <a:ext uri="{FF2B5EF4-FFF2-40B4-BE49-F238E27FC236}">
                <a16:creationId xmlns:a16="http://schemas.microsoft.com/office/drawing/2014/main" id="{ADDB814D-387C-574F-8A4A-176E3B02370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68600"/>
            <a:ext cx="1206500" cy="2255838"/>
            <a:chOff x="3360" y="1456"/>
            <a:chExt cx="760" cy="1421"/>
          </a:xfrm>
        </p:grpSpPr>
        <p:sp>
          <p:nvSpPr>
            <p:cNvPr id="71723" name="Line 13">
              <a:extLst>
                <a:ext uri="{FF2B5EF4-FFF2-40B4-BE49-F238E27FC236}">
                  <a16:creationId xmlns:a16="http://schemas.microsoft.com/office/drawing/2014/main" id="{9AB3535F-D119-7744-AEE2-464B54A18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632"/>
              <a:ext cx="48" cy="105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24" name="Group 80">
              <a:extLst>
                <a:ext uri="{FF2B5EF4-FFF2-40B4-BE49-F238E27FC236}">
                  <a16:creationId xmlns:a16="http://schemas.microsoft.com/office/drawing/2014/main" id="{F47F2486-71A8-9741-B1E5-0E4ACA89C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56"/>
              <a:ext cx="760" cy="1421"/>
              <a:chOff x="3360" y="1456"/>
              <a:chExt cx="760" cy="1421"/>
            </a:xfrm>
          </p:grpSpPr>
          <p:sp>
            <p:nvSpPr>
              <p:cNvPr id="71725" name="Oval 65">
                <a:extLst>
                  <a:ext uri="{FF2B5EF4-FFF2-40B4-BE49-F238E27FC236}">
                    <a16:creationId xmlns:a16="http://schemas.microsoft.com/office/drawing/2014/main" id="{086E87DD-A804-9B46-B86A-D5482853F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8" y="268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6" name="Text Box 66">
                <a:extLst>
                  <a:ext uri="{FF2B5EF4-FFF2-40B4-BE49-F238E27FC236}">
                    <a16:creationId xmlns:a16="http://schemas.microsoft.com/office/drawing/2014/main" id="{6853A154-10D8-4743-AFA3-9647E4986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66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2,0,2,2</a:t>
                </a:r>
              </a:p>
            </p:txBody>
          </p:sp>
          <p:sp>
            <p:nvSpPr>
              <p:cNvPr id="71727" name="Oval 67">
                <a:extLst>
                  <a:ext uri="{FF2B5EF4-FFF2-40B4-BE49-F238E27FC236}">
                    <a16:creationId xmlns:a16="http://schemas.microsoft.com/office/drawing/2014/main" id="{27321D8E-3A7B-EF41-91B6-4F9C1F1CF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2" y="1472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8" name="Text Box 68">
                <a:extLst>
                  <a:ext uri="{FF2B5EF4-FFF2-40B4-BE49-F238E27FC236}">
                    <a16:creationId xmlns:a16="http://schemas.microsoft.com/office/drawing/2014/main" id="{1A013A1A-A708-B048-B492-B84639CCC4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456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3,0,2,2</a:t>
                </a:r>
              </a:p>
            </p:txBody>
          </p:sp>
          <p:sp>
            <p:nvSpPr>
              <p:cNvPr id="71729" name="Text Box 69">
                <a:extLst>
                  <a:ext uri="{FF2B5EF4-FFF2-40B4-BE49-F238E27FC236}">
                    <a16:creationId xmlns:a16="http://schemas.microsoft.com/office/drawing/2014/main" id="{3E8E3920-5EB0-444D-83DF-2E0A8B615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040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(2,0,2,2)</a:t>
                </a:r>
              </a:p>
            </p:txBody>
          </p:sp>
        </p:grpSp>
      </p:grpSp>
      <p:grpSp>
        <p:nvGrpSpPr>
          <p:cNvPr id="14" name="Group 86">
            <a:extLst>
              <a:ext uri="{FF2B5EF4-FFF2-40B4-BE49-F238E27FC236}">
                <a16:creationId xmlns:a16="http://schemas.microsoft.com/office/drawing/2014/main" id="{9E66B5B7-4FCD-8E40-A429-8817868B3849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4013200"/>
            <a:ext cx="1282700" cy="1138238"/>
            <a:chOff x="4464" y="2240"/>
            <a:chExt cx="808" cy="717"/>
          </a:xfrm>
        </p:grpSpPr>
        <p:sp>
          <p:nvSpPr>
            <p:cNvPr id="71716" name="Line 18">
              <a:extLst>
                <a:ext uri="{FF2B5EF4-FFF2-40B4-BE49-F238E27FC236}">
                  <a16:creationId xmlns:a16="http://schemas.microsoft.com/office/drawing/2014/main" id="{0B1288E6-2057-124A-AFA6-98924B2B2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2392"/>
              <a:ext cx="80" cy="392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717" name="Group 78">
              <a:extLst>
                <a:ext uri="{FF2B5EF4-FFF2-40B4-BE49-F238E27FC236}">
                  <a16:creationId xmlns:a16="http://schemas.microsoft.com/office/drawing/2014/main" id="{B3C7A587-227E-B842-9FFF-273F6F7A4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40"/>
              <a:ext cx="808" cy="717"/>
              <a:chOff x="4464" y="2240"/>
              <a:chExt cx="808" cy="717"/>
            </a:xfrm>
          </p:grpSpPr>
          <p:sp>
            <p:nvSpPr>
              <p:cNvPr id="71718" name="Oval 71">
                <a:extLst>
                  <a:ext uri="{FF2B5EF4-FFF2-40B4-BE49-F238E27FC236}">
                    <a16:creationId xmlns:a16="http://schemas.microsoft.com/office/drawing/2014/main" id="{AC00EA05-668D-DF47-BB28-220680B2D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6" y="2760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19" name="Text Box 72">
                <a:extLst>
                  <a:ext uri="{FF2B5EF4-FFF2-40B4-BE49-F238E27FC236}">
                    <a16:creationId xmlns:a16="http://schemas.microsoft.com/office/drawing/2014/main" id="{3C5EF1DB-08BC-4A47-994A-03D166CEF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2744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2,0,2,3</a:t>
                </a:r>
              </a:p>
            </p:txBody>
          </p:sp>
          <p:sp>
            <p:nvSpPr>
              <p:cNvPr id="71720" name="Oval 73">
                <a:extLst>
                  <a:ext uri="{FF2B5EF4-FFF2-40B4-BE49-F238E27FC236}">
                    <a16:creationId xmlns:a16="http://schemas.microsoft.com/office/drawing/2014/main" id="{E98033AD-DC0F-464F-8754-4FC563CD1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8" y="2256"/>
                <a:ext cx="488" cy="152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721" name="Text Box 74">
                <a:extLst>
                  <a:ext uri="{FF2B5EF4-FFF2-40B4-BE49-F238E27FC236}">
                    <a16:creationId xmlns:a16="http://schemas.microsoft.com/office/drawing/2014/main" id="{C8EA3C3B-36E6-1C43-B55B-86C163A1A4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6" y="2240"/>
                <a:ext cx="5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4,2,5,3</a:t>
                </a:r>
              </a:p>
            </p:txBody>
          </p:sp>
          <p:sp>
            <p:nvSpPr>
              <p:cNvPr id="71722" name="Text Box 75">
                <a:extLst>
                  <a:ext uri="{FF2B5EF4-FFF2-40B4-BE49-F238E27FC236}">
                    <a16:creationId xmlns:a16="http://schemas.microsoft.com/office/drawing/2014/main" id="{5474C6A9-4FD1-C047-A62C-E0E4BFF580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4" y="2528"/>
                <a:ext cx="60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accent2"/>
                    </a:solidFill>
                    <a:latin typeface="Helvetica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solidFill>
                      <a:schemeClr val="tx1"/>
                    </a:solidFill>
                  </a:rPr>
                  <a:t>(2,0,2,3)</a:t>
                </a:r>
              </a:p>
            </p:txBody>
          </p:sp>
        </p:grpSp>
      </p:grpSp>
      <p:sp>
        <p:nvSpPr>
          <p:cNvPr id="71714" name="Oval 76">
            <a:extLst>
              <a:ext uri="{FF2B5EF4-FFF2-40B4-BE49-F238E27FC236}">
                <a16:creationId xmlns:a16="http://schemas.microsoft.com/office/drawing/2014/main" id="{0B38494A-87E7-8849-90D3-6EF4E218D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200" y="5473700"/>
            <a:ext cx="838200" cy="292100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1715" name="Text Box 77">
            <a:extLst>
              <a:ext uri="{FF2B5EF4-FFF2-40B4-BE49-F238E27FC236}">
                <a16:creationId xmlns:a16="http://schemas.microsoft.com/office/drawing/2014/main" id="{FCF76A73-9BBD-9744-B87E-257E521B9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5448300"/>
            <a:ext cx="9588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 err="1">
                <a:solidFill>
                  <a:schemeClr val="tx1"/>
                </a:solidFill>
              </a:rPr>
              <a:t>n,m,p,q</a:t>
            </a:r>
            <a:endParaRPr lang="en-US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60686-7969-9245-91BA-6B311EC3E517}"/>
              </a:ext>
            </a:extLst>
          </p:cNvPr>
          <p:cNvSpPr txBox="1"/>
          <p:nvPr/>
        </p:nvSpPr>
        <p:spPr>
          <a:xfrm>
            <a:off x="6946900" y="5471630"/>
            <a:ext cx="371415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Did (1,2,0,0) happen before (3,0,2,2)?</a:t>
            </a:r>
          </a:p>
        </p:txBody>
      </p:sp>
    </p:spTree>
    <p:extLst>
      <p:ext uri="{BB962C8B-B14F-4D97-AF65-F5344CB8AC3E}">
        <p14:creationId xmlns:p14="http://schemas.microsoft.com/office/powerpoint/2010/main" val="1589992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F29035A-8270-624E-8F83-1AA6256BF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6503" y="619156"/>
            <a:ext cx="89154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Vector clocks on the baseball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5CA5BC-C73D-AA43-9F50-2FFE765FB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56302"/>
              </p:ext>
            </p:extLst>
          </p:nvPr>
        </p:nvGraphicFramePr>
        <p:xfrm>
          <a:off x="4427838" y="1940587"/>
          <a:ext cx="6324600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Event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Vector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Action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[1,0,0,0]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pitcher throws ball to home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2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[1,0,1,0]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ball arrives at home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3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[1,0,2,0]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batter hits ball to pitcher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4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[1,0,3,0]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batter runs to first base)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5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[0,0,0,1]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runner runs to home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6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[2,0,2,0]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ball arrives at pitcher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7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[3,0,2,0]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pitcher throws ball to </a:t>
                      </a:r>
                      <a:r>
                        <a:rPr lang="en-US" sz="1800" baseline="0" dirty="0"/>
                        <a:t>1</a:t>
                      </a:r>
                      <a:r>
                        <a:rPr lang="en-US" sz="1800" baseline="30000" dirty="0"/>
                        <a:t>st</a:t>
                      </a:r>
                      <a:r>
                        <a:rPr lang="en-US" sz="1800" baseline="0" dirty="0"/>
                        <a:t> base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8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[1,0,4,1]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runner arrives at home</a:t>
                      </a:r>
                      <a:endParaRPr lang="en-US" sz="1800" baseline="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9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[3,1,2,0]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ball arrives at first base</a:t>
                      </a:r>
                      <a:endParaRPr lang="en-US" sz="1800" baseline="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  <a:r>
                        <a:rPr lang="en-US" sz="1800" baseline="-25000" dirty="0"/>
                        <a:t>10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[3,2,3,0]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batter arrives at first base</a:t>
                      </a:r>
                      <a:endParaRPr lang="en-US" sz="1800" baseline="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8725" name="Content Placeholder 4">
            <a:extLst>
              <a:ext uri="{FF2B5EF4-FFF2-40B4-BE49-F238E27FC236}">
                <a16:creationId xmlns:a16="http://schemas.microsoft.com/office/drawing/2014/main" id="{32EA1BD7-D263-AA45-90E0-23B507AD9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367" y="2825579"/>
            <a:ext cx="8229600" cy="3349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1400" dirty="0"/>
              <a:t>Vector: [</a:t>
            </a:r>
            <a:r>
              <a:rPr lang="en-US" altLang="en-US" sz="1400" dirty="0" err="1"/>
              <a:t>p,f,h,t</a:t>
            </a:r>
            <a:r>
              <a:rPr lang="en-US" altLang="en-US" sz="1400" dirty="0"/>
              <a:t>]</a:t>
            </a:r>
          </a:p>
          <a:p>
            <a:pPr eaLnBrk="1" hangingPunct="1"/>
            <a:r>
              <a:rPr lang="en-US" altLang="en-US" sz="1400" dirty="0"/>
              <a:t>Did the run score? </a:t>
            </a:r>
          </a:p>
          <a:p>
            <a:pPr eaLnBrk="1" hangingPunct="1"/>
            <a:r>
              <a:rPr lang="en-US" altLang="en-US" sz="1400" dirty="0"/>
              <a:t>[1,0,4,1] &lt; [3,2,3,0] &lt; [3,1,2,0] ??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76E8141-489D-E44F-81C3-ECDDD2D9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Important Points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48BA6DAA-D4BD-4A44-A879-063CD5F9A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Physical Clocks</a:t>
            </a:r>
          </a:p>
          <a:p>
            <a:pPr lvl="1" eaLnBrk="1" hangingPunct="1"/>
            <a:r>
              <a:rPr lang="en-US" altLang="en-US" dirty="0"/>
              <a:t>Can keep closely synchronized, but never perfect</a:t>
            </a:r>
          </a:p>
          <a:p>
            <a:pPr eaLnBrk="1" hangingPunct="1"/>
            <a:r>
              <a:rPr lang="en-US" altLang="en-US" dirty="0"/>
              <a:t>Logical Clocks</a:t>
            </a:r>
          </a:p>
          <a:p>
            <a:pPr lvl="1" eaLnBrk="1" hangingPunct="1"/>
            <a:r>
              <a:rPr lang="en-US" altLang="en-US" dirty="0"/>
              <a:t>Encode causality relationship</a:t>
            </a:r>
          </a:p>
          <a:p>
            <a:pPr lvl="1" eaLnBrk="1" hangingPunct="1"/>
            <a:r>
              <a:rPr lang="en-US" altLang="en-US" dirty="0" err="1"/>
              <a:t>Lamport</a:t>
            </a:r>
            <a:r>
              <a:rPr lang="en-US" altLang="en-US" dirty="0"/>
              <a:t> clocks provide only one-way encoding</a:t>
            </a:r>
          </a:p>
          <a:p>
            <a:pPr lvl="1" eaLnBrk="1" hangingPunct="1"/>
            <a:r>
              <a:rPr lang="en-US" altLang="en-US" dirty="0"/>
              <a:t>Vector clocks provide better causality information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FAB681E-E58B-B84E-8CFA-E873F399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952" y="904833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TrueTime</a:t>
            </a:r>
            <a:endParaRPr lang="en-US" altLang="en-US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6EA4762-5258-C94B-82A0-1D63C95E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952" y="2000250"/>
            <a:ext cx="8364538" cy="485775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Novel API behind Google Spanner’s core innovation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Leverages hardware features like GPS and Atomic Clocks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Implemented via </a:t>
            </a:r>
            <a:r>
              <a:rPr lang="en-US" sz="2000" b="1" dirty="0" err="1">
                <a:solidFill>
                  <a:srgbClr val="333C8D"/>
                </a:solidFill>
              </a:rPr>
              <a:t>TrueTime</a:t>
            </a:r>
            <a:r>
              <a:rPr lang="en-US" sz="2000" b="1" dirty="0">
                <a:solidFill>
                  <a:srgbClr val="333C8D"/>
                </a:solidFill>
              </a:rPr>
              <a:t> API.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1800" b="1" dirty="0">
                <a:solidFill>
                  <a:srgbClr val="333C8D"/>
                </a:solidFill>
              </a:rPr>
              <a:t>Key method  being now() which not only returns current system time but also another value (</a:t>
            </a:r>
            <a:r>
              <a:rPr lang="el-GR" sz="1800" b="1" dirty="0"/>
              <a:t>ε</a:t>
            </a:r>
            <a:r>
              <a:rPr lang="en-US" sz="1800" b="1" dirty="0">
                <a:solidFill>
                  <a:srgbClr val="333C8D"/>
                </a:solidFill>
              </a:rPr>
              <a:t>) which tells the maximum uncertainty in the time returned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Set of </a:t>
            </a:r>
            <a:r>
              <a:rPr lang="en-US" sz="2000" b="1" i="1" dirty="0">
                <a:solidFill>
                  <a:srgbClr val="333C8D"/>
                </a:solidFill>
              </a:rPr>
              <a:t>time master </a:t>
            </a:r>
            <a:r>
              <a:rPr lang="en-US" sz="2000" b="1" dirty="0">
                <a:solidFill>
                  <a:srgbClr val="333C8D"/>
                </a:solidFill>
              </a:rPr>
              <a:t>server per datacenters and </a:t>
            </a:r>
            <a:r>
              <a:rPr lang="en-US" sz="2000" b="1" i="1" dirty="0">
                <a:solidFill>
                  <a:srgbClr val="333C8D"/>
                </a:solidFill>
              </a:rPr>
              <a:t>time slave daemon</a:t>
            </a:r>
            <a:r>
              <a:rPr lang="en-US" sz="2000" b="1" dirty="0">
                <a:solidFill>
                  <a:srgbClr val="333C8D"/>
                </a:solidFill>
              </a:rPr>
              <a:t> per machines.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Majority of time masters are GPS fitted and a few others are atomic clock fitted (Armageddon masters).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Daemon polls variety of masters and reaches a consensus about correct timestamp.</a:t>
            </a:r>
          </a:p>
          <a:p>
            <a:pPr marL="457200" lvl="1" indent="0">
              <a:buNone/>
              <a:defRPr/>
            </a:pPr>
            <a:endParaRPr lang="en-US" sz="1800" b="1" dirty="0">
              <a:solidFill>
                <a:srgbClr val="333C8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7DA4E0F-36B6-2F4B-9F61-86381789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84238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TrueTime</a:t>
            </a:r>
            <a:endParaRPr lang="en-US" altLang="en-US" dirty="0"/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44B14238-9782-0447-9163-1429CD698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238" y="2002392"/>
            <a:ext cx="4418530" cy="4036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A54907E-3404-B149-BED2-5A0569A1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27" y="880119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TrueTime</a:t>
            </a:r>
            <a:endParaRPr lang="en-US" altLang="en-US" dirty="0"/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CAD749FE-B5B3-F946-932D-0C9ACAA60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243" y="1857895"/>
            <a:ext cx="4735514" cy="434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9F31C80-D7EF-4D45-B728-E62B0C6E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463" y="917189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TrueTime</a:t>
            </a:r>
            <a:r>
              <a:rPr lang="en-US" altLang="en-US" dirty="0"/>
              <a:t> Cont.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57A6486-A909-E140-BA8E-AAAC565AA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63" y="1894060"/>
            <a:ext cx="8364538" cy="4857750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400" b="1" dirty="0" err="1">
                <a:solidFill>
                  <a:srgbClr val="333C8D"/>
                </a:solidFill>
              </a:rPr>
              <a:t>TrueTime</a:t>
            </a:r>
            <a:r>
              <a:rPr lang="en-US" sz="2400" b="1" dirty="0">
                <a:solidFill>
                  <a:srgbClr val="333C8D"/>
                </a:solidFill>
              </a:rPr>
              <a:t> uses both GPS and Atomic clocks since they are different failure rates and scenarios.</a:t>
            </a:r>
          </a:p>
          <a:p>
            <a:pPr marL="0" indent="0">
              <a:buNone/>
              <a:defRPr/>
            </a:pPr>
            <a:endParaRPr lang="en-US" sz="2400" b="1" dirty="0">
              <a:solidFill>
                <a:srgbClr val="333C8D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400" b="1" dirty="0">
                <a:solidFill>
                  <a:srgbClr val="333C8D"/>
                </a:solidFill>
              </a:rPr>
              <a:t>Two other </a:t>
            </a:r>
            <a:r>
              <a:rPr lang="en-US" sz="2400" b="1" dirty="0" err="1">
                <a:solidFill>
                  <a:srgbClr val="333C8D"/>
                </a:solidFill>
              </a:rPr>
              <a:t>boolean</a:t>
            </a:r>
            <a:r>
              <a:rPr lang="en-US" sz="2400" b="1" dirty="0">
                <a:solidFill>
                  <a:srgbClr val="333C8D"/>
                </a:solidFill>
              </a:rPr>
              <a:t> methods in API are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000" b="1" dirty="0">
                <a:solidFill>
                  <a:srgbClr val="333C8D"/>
                </a:solidFill>
              </a:rPr>
              <a:t>After(</a:t>
            </a:r>
            <a:r>
              <a:rPr lang="en-US" sz="2000" b="1" dirty="0" err="1">
                <a:solidFill>
                  <a:srgbClr val="333C8D"/>
                </a:solidFill>
              </a:rPr>
              <a:t>ts</a:t>
            </a:r>
            <a:r>
              <a:rPr lang="en-US" sz="2000" b="1" dirty="0">
                <a:solidFill>
                  <a:srgbClr val="333C8D"/>
                </a:solidFill>
              </a:rPr>
              <a:t>) – returns TRUE if </a:t>
            </a:r>
            <a:r>
              <a:rPr lang="en-US" sz="2000" b="1" dirty="0" err="1">
                <a:solidFill>
                  <a:srgbClr val="333C8D"/>
                </a:solidFill>
              </a:rPr>
              <a:t>ts</a:t>
            </a:r>
            <a:r>
              <a:rPr lang="en-US" sz="2000" b="1" dirty="0">
                <a:solidFill>
                  <a:srgbClr val="333C8D"/>
                </a:solidFill>
              </a:rPr>
              <a:t> is definitely passed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000" b="1" dirty="0">
                <a:solidFill>
                  <a:srgbClr val="333C8D"/>
                </a:solidFill>
              </a:rPr>
              <a:t>Before(</a:t>
            </a:r>
            <a:r>
              <a:rPr lang="en-US" sz="2000" b="1" dirty="0" err="1">
                <a:solidFill>
                  <a:srgbClr val="333C8D"/>
                </a:solidFill>
              </a:rPr>
              <a:t>ts</a:t>
            </a:r>
            <a:r>
              <a:rPr lang="en-US" sz="2000" b="1" dirty="0">
                <a:solidFill>
                  <a:srgbClr val="333C8D"/>
                </a:solidFill>
              </a:rPr>
              <a:t>) – returns TRUE if </a:t>
            </a:r>
            <a:r>
              <a:rPr lang="en-US" sz="2000" b="1" dirty="0" err="1">
                <a:solidFill>
                  <a:srgbClr val="333C8D"/>
                </a:solidFill>
              </a:rPr>
              <a:t>ts</a:t>
            </a:r>
            <a:r>
              <a:rPr lang="en-US" sz="2000" b="1" dirty="0">
                <a:solidFill>
                  <a:srgbClr val="333C8D"/>
                </a:solidFill>
              </a:rPr>
              <a:t> is definitely not arrived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400" b="1" dirty="0" err="1">
                <a:solidFill>
                  <a:srgbClr val="333C8D"/>
                </a:solidFill>
              </a:rPr>
              <a:t>TrueTime</a:t>
            </a:r>
            <a:r>
              <a:rPr lang="en-US" sz="2400" b="1" dirty="0">
                <a:solidFill>
                  <a:srgbClr val="333C8D"/>
                </a:solidFill>
              </a:rPr>
              <a:t> uses these methods in concurrency control and to serialize transactions.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400" b="1" dirty="0" err="1">
                <a:solidFill>
                  <a:srgbClr val="333C8D"/>
                </a:solidFill>
              </a:rPr>
              <a:t>TrueTime</a:t>
            </a:r>
            <a:r>
              <a:rPr lang="en-US" sz="2400" b="1" dirty="0">
                <a:solidFill>
                  <a:srgbClr val="333C8D"/>
                </a:solidFill>
              </a:rPr>
              <a:t> </a:t>
            </a:r>
            <a:r>
              <a:rPr lang="en-US" sz="2400" b="1" dirty="0" err="1">
                <a:solidFill>
                  <a:srgbClr val="333C8D"/>
                </a:solidFill>
              </a:rPr>
              <a:t>ts</a:t>
            </a:r>
            <a:r>
              <a:rPr lang="en-US" sz="2400" b="1" dirty="0">
                <a:solidFill>
                  <a:srgbClr val="333C8D"/>
                </a:solidFill>
              </a:rPr>
              <a:t> is an interval [t, t + </a:t>
            </a:r>
            <a:r>
              <a:rPr lang="el-GR" sz="2400" b="1" dirty="0">
                <a:solidFill>
                  <a:srgbClr val="333C8D"/>
                </a:solidFill>
              </a:rPr>
              <a:t>ε</a:t>
            </a:r>
            <a:r>
              <a:rPr lang="en-US" sz="2400" b="1" dirty="0">
                <a:solidFill>
                  <a:srgbClr val="333C8D"/>
                </a:solidFill>
              </a:rPr>
              <a:t>]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000" b="1" dirty="0">
                <a:solidFill>
                  <a:srgbClr val="333C8D"/>
                </a:solidFill>
              </a:rPr>
              <a:t>Use interval semantics for comparing timestamps</a:t>
            </a:r>
          </a:p>
          <a:p>
            <a:pPr marL="457200" lvl="1" indent="0">
              <a:buNone/>
              <a:defRPr/>
            </a:pPr>
            <a:endParaRPr lang="en-US" sz="2000" b="1" dirty="0">
              <a:solidFill>
                <a:srgbClr val="333C8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529CA3F-715F-B44E-85AD-49F94C81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890" y="929546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TrueTime</a:t>
            </a:r>
            <a:r>
              <a:rPr lang="en-US" altLang="en-US" dirty="0"/>
              <a:t> Cont.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2AEA5AF-CF19-9348-B657-968003138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890" y="2000250"/>
            <a:ext cx="8364538" cy="485775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After() is used for consistency algorithm Leader Leases 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100" b="1" dirty="0">
                <a:solidFill>
                  <a:srgbClr val="333C8D"/>
                </a:solidFill>
              </a:rPr>
              <a:t>Uses after(</a:t>
            </a:r>
            <a:r>
              <a:rPr lang="en-US" b="1" dirty="0">
                <a:solidFill>
                  <a:srgbClr val="333C8D"/>
                </a:solidFill>
              </a:rPr>
              <a:t>S</a:t>
            </a:r>
            <a:r>
              <a:rPr lang="en-US" b="1" baseline="-25000" dirty="0">
                <a:solidFill>
                  <a:srgbClr val="333C8D"/>
                </a:solidFill>
              </a:rPr>
              <a:t>max</a:t>
            </a:r>
            <a:r>
              <a:rPr lang="en-US" sz="2100" b="1" dirty="0">
                <a:solidFill>
                  <a:srgbClr val="333C8D"/>
                </a:solidFill>
              </a:rPr>
              <a:t>) to check if </a:t>
            </a:r>
            <a:r>
              <a:rPr lang="en-US" b="1" dirty="0">
                <a:solidFill>
                  <a:srgbClr val="333C8D"/>
                </a:solidFill>
              </a:rPr>
              <a:t>S</a:t>
            </a:r>
            <a:r>
              <a:rPr lang="en-US" b="1" baseline="-25000" dirty="0">
                <a:solidFill>
                  <a:srgbClr val="333C8D"/>
                </a:solidFill>
              </a:rPr>
              <a:t>max  </a:t>
            </a:r>
            <a:r>
              <a:rPr lang="en-US" sz="2100" b="1" dirty="0">
                <a:solidFill>
                  <a:srgbClr val="333C8D"/>
                </a:solidFill>
              </a:rPr>
              <a:t>is passed so that it knows data is consistent</a:t>
            </a:r>
            <a:endParaRPr lang="en-US" sz="2500" b="1" dirty="0">
              <a:solidFill>
                <a:srgbClr val="333C8D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Leaders can not assign timestamps(S</a:t>
            </a:r>
            <a:r>
              <a:rPr lang="en-US" sz="2500" b="1" baseline="-25000" dirty="0">
                <a:solidFill>
                  <a:srgbClr val="333C8D"/>
                </a:solidFill>
              </a:rPr>
              <a:t>i</a:t>
            </a:r>
            <a:r>
              <a:rPr lang="en-US" sz="2500" b="1" dirty="0">
                <a:solidFill>
                  <a:srgbClr val="333C8D"/>
                </a:solidFill>
              </a:rPr>
              <a:t>) greater than S</a:t>
            </a:r>
            <a:r>
              <a:rPr lang="en-US" sz="2500" b="1" baseline="-25000" dirty="0">
                <a:solidFill>
                  <a:srgbClr val="333C8D"/>
                </a:solidFill>
              </a:rPr>
              <a:t>max </a:t>
            </a:r>
            <a:r>
              <a:rPr lang="en-US" sz="2500" b="1" dirty="0">
                <a:solidFill>
                  <a:srgbClr val="333C8D"/>
                </a:solidFill>
              </a:rPr>
              <a:t>for transactions(T</a:t>
            </a:r>
            <a:r>
              <a:rPr lang="en-US" sz="2500" b="1" baseline="-25000" dirty="0">
                <a:solidFill>
                  <a:srgbClr val="333C8D"/>
                </a:solidFill>
              </a:rPr>
              <a:t>i</a:t>
            </a:r>
            <a:r>
              <a:rPr lang="en-US" sz="2500" b="1" dirty="0">
                <a:solidFill>
                  <a:srgbClr val="333C8D"/>
                </a:solidFill>
              </a:rPr>
              <a:t>) and clients can not see the data </a:t>
            </a:r>
            <a:r>
              <a:rPr lang="en-US" sz="2500" b="1" dirty="0" err="1">
                <a:solidFill>
                  <a:srgbClr val="333C8D"/>
                </a:solidFill>
              </a:rPr>
              <a:t>commited</a:t>
            </a:r>
            <a:r>
              <a:rPr lang="en-US" sz="2500" b="1" dirty="0">
                <a:solidFill>
                  <a:srgbClr val="333C8D"/>
                </a:solidFill>
              </a:rPr>
              <a:t> by transaction T</a:t>
            </a:r>
            <a:r>
              <a:rPr lang="en-US" sz="2500" b="1" baseline="-25000" dirty="0">
                <a:solidFill>
                  <a:srgbClr val="333C8D"/>
                </a:solidFill>
              </a:rPr>
              <a:t>i </a:t>
            </a:r>
            <a:r>
              <a:rPr lang="en-US" sz="2500" b="1" dirty="0">
                <a:solidFill>
                  <a:srgbClr val="333C8D"/>
                </a:solidFill>
              </a:rPr>
              <a:t>till after(S</a:t>
            </a:r>
            <a:r>
              <a:rPr lang="en-US" sz="2500" b="1" baseline="-25000" dirty="0">
                <a:solidFill>
                  <a:srgbClr val="333C8D"/>
                </a:solidFill>
              </a:rPr>
              <a:t>i</a:t>
            </a:r>
            <a:r>
              <a:rPr lang="en-US" sz="2500" b="1" dirty="0">
                <a:solidFill>
                  <a:srgbClr val="333C8D"/>
                </a:solidFill>
              </a:rPr>
              <a:t>) is true.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100" b="1" dirty="0">
                <a:solidFill>
                  <a:srgbClr val="333C8D"/>
                </a:solidFill>
              </a:rPr>
              <a:t>After(t) – returns TRUE if t is definitely passed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sz="2100" b="1" dirty="0">
                <a:solidFill>
                  <a:srgbClr val="333C8D"/>
                </a:solidFill>
              </a:rPr>
              <a:t>Before(t) – returns TRUE if t is definitely not arrived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Replicas maintain a timestamp </a:t>
            </a:r>
            <a:r>
              <a:rPr lang="en-US" sz="2500" b="1" dirty="0" err="1">
                <a:solidFill>
                  <a:srgbClr val="333C8D"/>
                </a:solidFill>
              </a:rPr>
              <a:t>t</a:t>
            </a:r>
            <a:r>
              <a:rPr lang="en-US" sz="2500" b="1" baseline="-25000" dirty="0" err="1">
                <a:solidFill>
                  <a:srgbClr val="333C8D"/>
                </a:solidFill>
              </a:rPr>
              <a:t>safe</a:t>
            </a:r>
            <a:r>
              <a:rPr lang="en-US" sz="2500" b="1" dirty="0">
                <a:solidFill>
                  <a:srgbClr val="333C8D"/>
                </a:solidFill>
              </a:rPr>
              <a:t> which is the maximum timestamp at which that replica is up to date. </a:t>
            </a:r>
          </a:p>
          <a:p>
            <a:pPr marL="457200" lvl="1" indent="0">
              <a:buNone/>
              <a:defRPr/>
            </a:pPr>
            <a:endParaRPr lang="en-US" sz="2100" b="1" dirty="0">
              <a:solidFill>
                <a:srgbClr val="333C8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119A8C9-4B89-0844-AC7B-73644C7E2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654" y="884753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Spanner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6F36BE-4D2D-0947-B3D1-C3FBA142C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654" y="1924565"/>
            <a:ext cx="8364538" cy="485775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Spanner is currently in production used by Google’s advertising backend F1.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F1 previously used MySQL since it requires strong transactional semantics 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100" b="1" dirty="0">
                <a:solidFill>
                  <a:srgbClr val="333C8D"/>
                </a:solidFill>
              </a:rPr>
              <a:t>Impractical for most NoSQL database solutions.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500" b="1" dirty="0">
                <a:solidFill>
                  <a:srgbClr val="333C8D"/>
                </a:solidFill>
              </a:rPr>
              <a:t>Spanner provides 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100" b="1" dirty="0">
                <a:solidFill>
                  <a:srgbClr val="333C8D"/>
                </a:solidFill>
              </a:rPr>
              <a:t>Strong transactional semantics ordered by </a:t>
            </a:r>
            <a:r>
              <a:rPr lang="en-US" sz="2100" b="1" dirty="0" err="1">
                <a:solidFill>
                  <a:srgbClr val="333C8D"/>
                </a:solidFill>
              </a:rPr>
              <a:t>TrueTime</a:t>
            </a:r>
            <a:endParaRPr lang="en-US" sz="2100" b="1" dirty="0">
              <a:solidFill>
                <a:srgbClr val="333C8D"/>
              </a:solidFill>
            </a:endParaRP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100" b="1" dirty="0">
                <a:solidFill>
                  <a:srgbClr val="333C8D"/>
                </a:solidFill>
              </a:rPr>
              <a:t>synchronous replication and 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US" sz="2100" b="1" dirty="0">
                <a:solidFill>
                  <a:srgbClr val="333C8D"/>
                </a:solidFill>
              </a:rPr>
              <a:t>automatic failover for F1.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sz="2100" b="1" dirty="0">
              <a:solidFill>
                <a:srgbClr val="333C8D"/>
              </a:solidFill>
            </a:endParaRPr>
          </a:p>
          <a:p>
            <a:pPr marL="457200" lvl="1" indent="0">
              <a:buNone/>
              <a:defRPr/>
            </a:pPr>
            <a:endParaRPr lang="en-US" sz="2100" b="1" dirty="0">
              <a:solidFill>
                <a:srgbClr val="333C8D"/>
              </a:solidFill>
            </a:endParaRPr>
          </a:p>
          <a:p>
            <a:pPr lvl="1" eaLnBrk="1" hangingPunct="1">
              <a:buFont typeface="Arial" charset="0"/>
              <a:buChar char="–"/>
              <a:defRPr/>
            </a:pPr>
            <a:endParaRPr lang="en-US" sz="2100" b="1" dirty="0">
              <a:solidFill>
                <a:srgbClr val="333C8D"/>
              </a:solidFill>
            </a:endParaRPr>
          </a:p>
          <a:p>
            <a:pPr marL="457200" lvl="1" indent="0">
              <a:buNone/>
              <a:defRPr/>
            </a:pPr>
            <a:endParaRPr lang="en-US" sz="2100" b="1" dirty="0">
              <a:solidFill>
                <a:srgbClr val="333C8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arkIntro" id="{C66675DA-AAB7-D54F-AE73-E4A2ECC6547B}" vid="{84A03F49-EC34-7243-982F-AE6F4EECC6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2807</Words>
  <Application>Microsoft Macintosh PowerPoint</Application>
  <PresentationFormat>Widescreen</PresentationFormat>
  <Paragraphs>531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Book Antiqua</vt:lpstr>
      <vt:lpstr>Calibri</vt:lpstr>
      <vt:lpstr>Calibri Light</vt:lpstr>
      <vt:lpstr>cmmi9</vt:lpstr>
      <vt:lpstr>Courier New</vt:lpstr>
      <vt:lpstr>Helvetica</vt:lpstr>
      <vt:lpstr>Monotype Sorts</vt:lpstr>
      <vt:lpstr>Wingdings</vt:lpstr>
      <vt:lpstr>Retrospect</vt:lpstr>
      <vt:lpstr>NoSQL - Background</vt:lpstr>
      <vt:lpstr>NoSQL Background Topics</vt:lpstr>
      <vt:lpstr>System Architecture</vt:lpstr>
      <vt:lpstr>Data Distribution</vt:lpstr>
      <vt:lpstr>Data Replication</vt:lpstr>
      <vt:lpstr>Time and Consistency Management</vt:lpstr>
      <vt:lpstr>PowerPoint Presentation</vt:lpstr>
      <vt:lpstr>Consistent Hashing</vt:lpstr>
      <vt:lpstr>Hash Table</vt:lpstr>
      <vt:lpstr>Hash Function</vt:lpstr>
      <vt:lpstr>Hash Functions</vt:lpstr>
      <vt:lpstr>Distributed Hashing</vt:lpstr>
      <vt:lpstr>Distributed Hashing</vt:lpstr>
      <vt:lpstr>Consistent Hashing</vt:lpstr>
      <vt:lpstr>Consistent Hashing</vt:lpstr>
      <vt:lpstr>Consistent Hashing – Node failure</vt:lpstr>
      <vt:lpstr>Consistent Hashing – Node Addition</vt:lpstr>
      <vt:lpstr>Time and synchronization</vt:lpstr>
      <vt:lpstr>Problem!</vt:lpstr>
      <vt:lpstr>Problem!</vt:lpstr>
      <vt:lpstr>Problem!</vt:lpstr>
      <vt:lpstr>Problem!</vt:lpstr>
      <vt:lpstr>A baseball example</vt:lpstr>
      <vt:lpstr>A baseball example</vt:lpstr>
      <vt:lpstr>Ways to synchronize</vt:lpstr>
      <vt:lpstr>Real synchronization is imperfect</vt:lpstr>
      <vt:lpstr>Logical time</vt:lpstr>
      <vt:lpstr>Global logical time</vt:lpstr>
      <vt:lpstr>The baseball example revisited</vt:lpstr>
      <vt:lpstr>Lamport logical clocks</vt:lpstr>
      <vt:lpstr>Lamport’s algorithm</vt:lpstr>
      <vt:lpstr>Lamport on the baseball example</vt:lpstr>
      <vt:lpstr>Lamport clock</vt:lpstr>
      <vt:lpstr>Lamport clock</vt:lpstr>
      <vt:lpstr>Vector Clocks</vt:lpstr>
      <vt:lpstr>Vector Clock</vt:lpstr>
      <vt:lpstr>Vector Timestamps</vt:lpstr>
      <vt:lpstr>Vector Timestamp Example</vt:lpstr>
      <vt:lpstr>Comparing Vector Timestamps</vt:lpstr>
      <vt:lpstr>Vector Timestamp Example</vt:lpstr>
      <vt:lpstr>Vector clocks on the baseball example</vt:lpstr>
      <vt:lpstr>Important Points</vt:lpstr>
      <vt:lpstr>TrueTime</vt:lpstr>
      <vt:lpstr>TrueTime</vt:lpstr>
      <vt:lpstr>TrueTime</vt:lpstr>
      <vt:lpstr>TrueTime Cont.</vt:lpstr>
      <vt:lpstr>TrueTime Cont.</vt:lpstr>
      <vt:lpstr>Spanner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creator>Quinn Snell</dc:creator>
  <cp:lastModifiedBy>Quinn Snell</cp:lastModifiedBy>
  <cp:revision>12</cp:revision>
  <dcterms:created xsi:type="dcterms:W3CDTF">2021-10-14T17:11:12Z</dcterms:created>
  <dcterms:modified xsi:type="dcterms:W3CDTF">2021-10-28T01:50:35Z</dcterms:modified>
</cp:coreProperties>
</file>