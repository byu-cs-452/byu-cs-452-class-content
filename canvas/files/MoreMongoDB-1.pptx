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53"/>
  </p:notesMasterIdLst>
  <p:sldIdLst>
    <p:sldId id="256" r:id="rId2"/>
    <p:sldId id="265" r:id="rId3"/>
    <p:sldId id="279" r:id="rId4"/>
    <p:sldId id="268" r:id="rId5"/>
    <p:sldId id="287" r:id="rId6"/>
    <p:sldId id="293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73" r:id="rId16"/>
    <p:sldId id="274" r:id="rId17"/>
    <p:sldId id="275" r:id="rId18"/>
    <p:sldId id="276" r:id="rId19"/>
    <p:sldId id="277" r:id="rId20"/>
    <p:sldId id="278" r:id="rId21"/>
    <p:sldId id="295" r:id="rId22"/>
    <p:sldId id="280" r:id="rId23"/>
    <p:sldId id="296" r:id="rId24"/>
    <p:sldId id="266" r:id="rId25"/>
    <p:sldId id="267" r:id="rId26"/>
    <p:sldId id="297" r:id="rId27"/>
    <p:sldId id="269" r:id="rId28"/>
    <p:sldId id="270" r:id="rId29"/>
    <p:sldId id="271" r:id="rId30"/>
    <p:sldId id="313" r:id="rId31"/>
    <p:sldId id="299" r:id="rId32"/>
    <p:sldId id="300" r:id="rId33"/>
    <p:sldId id="301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281" r:id="rId42"/>
    <p:sldId id="304" r:id="rId43"/>
    <p:sldId id="305" r:id="rId44"/>
    <p:sldId id="298" r:id="rId45"/>
    <p:sldId id="290" r:id="rId46"/>
    <p:sldId id="291" r:id="rId47"/>
    <p:sldId id="292" r:id="rId48"/>
    <p:sldId id="288" r:id="rId49"/>
    <p:sldId id="289" r:id="rId50"/>
    <p:sldId id="303" r:id="rId51"/>
    <p:sldId id="272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/>
    <p:restoredTop sz="96327"/>
  </p:normalViewPr>
  <p:slideViewPr>
    <p:cSldViewPr snapToGrid="0" snapToObjects="1">
      <p:cViewPr varScale="1">
        <p:scale>
          <a:sx n="122" d="100"/>
          <a:sy n="122" d="100"/>
        </p:scale>
        <p:origin x="216" y="3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E686BE-5348-9E4C-B5DF-C6F17847F68D}" type="datetimeFigureOut">
              <a:rPr lang="en-US" smtClean="0"/>
              <a:t>3/21/23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5BE598-9299-8B4B-91ED-F9A52B2F87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26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3/21/23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3/21/23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3/21/23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3/21/23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3/21/23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3/21/23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3/21/23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2E35366-9ADD-EB4E-BBBA-F0C9011757AA}" type="datetimeFigureOut">
              <a:rPr lang="en-US" smtClean="0"/>
              <a:t>3/21/23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3/21/23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3/21/23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35366-9ADD-EB4E-BBBA-F0C9011757AA}" type="datetimeFigureOut">
              <a:rPr lang="en-US" smtClean="0"/>
              <a:t>3/21/23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2E35366-9ADD-EB4E-BBBA-F0C9011757AA}" type="datetimeFigureOut">
              <a:rPr lang="en-US" smtClean="0"/>
              <a:t>3/21/23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F9A8611-9EEC-9C40-B54D-4A508AF5313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87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mongodb.org/manual/reference/database-references/" TargetMode="External"/><Relationship Id="rId2" Type="http://schemas.openxmlformats.org/officeDocument/2006/relationships/hyperlink" Target="http://stackoverflow.com/questions/6334048/foreign-keys-in-mongo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mongodb.org/manual/tutorial/store-javascript-function-on-server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ongodb.com/manual/aggregation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mongodb.com/manual/reference/operator/aggregation-pipeline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media.mongodb.org/zips.json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mongodb.com/manual/reference/operator/aggregation/push/" TargetMode="External"/><Relationship Id="rId3" Type="http://schemas.openxmlformats.org/officeDocument/2006/relationships/hyperlink" Target="https://docs.mongodb.com/manual/reference/operator/aggregation/avg/" TargetMode="External"/><Relationship Id="rId7" Type="http://schemas.openxmlformats.org/officeDocument/2006/relationships/hyperlink" Target="https://docs.mongodb.com/manual/reference/operator/aggregation/min/%3cPaste%3e" TargetMode="External"/><Relationship Id="rId2" Type="http://schemas.openxmlformats.org/officeDocument/2006/relationships/hyperlink" Target="https://docs.mongodb.com/manual/reference/operator/aggregation/su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mongodb.com/manual/reference/operator/aggregation/max/" TargetMode="External"/><Relationship Id="rId11" Type="http://schemas.openxmlformats.org/officeDocument/2006/relationships/hyperlink" Target="https://docs.mongodb.com/manual/reference/operator/aggregation/stdDevSamp/" TargetMode="External"/><Relationship Id="rId5" Type="http://schemas.openxmlformats.org/officeDocument/2006/relationships/hyperlink" Target="https://docs.mongodb.com/manual/reference/operator/aggregation/last/" TargetMode="External"/><Relationship Id="rId10" Type="http://schemas.openxmlformats.org/officeDocument/2006/relationships/hyperlink" Target="https://docs.mongodb.com/manual/reference/operator/aggregation/stdDevPop/" TargetMode="External"/><Relationship Id="rId4" Type="http://schemas.openxmlformats.org/officeDocument/2006/relationships/hyperlink" Target="https://docs.mongodb.com/manual/reference/operator/aggregation/first/" TargetMode="External"/><Relationship Id="rId9" Type="http://schemas.openxmlformats.org/officeDocument/2006/relationships/hyperlink" Target="https://docs.mongodb.com/manual/reference/operator/aggregation/addToSet/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ongodb.com/docs/manual/reference/operator/aggregation/lookup/#mongodb-pipeline-pipe.-lookup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mongodb.org/manual/core/map-reduce/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ongodb.com/manual/reference/operator/aggregation/" TargetMode="External"/><Relationship Id="rId2" Type="http://schemas.openxmlformats.org/officeDocument/2006/relationships/hyperlink" Target="https://docs.mongodb.com/manual/reference/sql-aggregation-comparison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FF4F0-BBAA-CF4B-9A9A-8D30F08E07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More MongoDB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3EF9F-E34F-DE4A-A7E8-9D64CB59D9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019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References</a:t>
            </a:r>
            <a:endParaRPr lang="en-US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Relational DBMS</a:t>
            </a:r>
          </a:p>
          <a:p>
            <a:pPr lvl="1"/>
            <a:r>
              <a:rPr lang="en-US" dirty="0"/>
              <a:t>Foreign keys refer to primary keys (or unique attributes)</a:t>
            </a:r>
          </a:p>
          <a:p>
            <a:pPr lvl="1"/>
            <a:r>
              <a:rPr lang="en-US" dirty="0"/>
              <a:t>Referential Integrity: The referenced primary key must exist</a:t>
            </a:r>
          </a:p>
          <a:p>
            <a:pPr lvl="1"/>
            <a:r>
              <a:rPr lang="en-US" dirty="0"/>
              <a:t>Join: Very often done on foreign key – primary key</a:t>
            </a:r>
          </a:p>
          <a:p>
            <a:r>
              <a:rPr lang="en-US" dirty="0"/>
              <a:t>MongoDB: No join</a:t>
            </a:r>
          </a:p>
          <a:p>
            <a:pPr lvl="1"/>
            <a:r>
              <a:rPr lang="en-US" dirty="0"/>
              <a:t>De-normalized documents: Related data is stored inside the document</a:t>
            </a:r>
          </a:p>
          <a:p>
            <a:pPr lvl="1"/>
            <a:r>
              <a:rPr lang="en-US" dirty="0"/>
              <a:t>Sometimes the related data is stored in another document</a:t>
            </a:r>
          </a:p>
          <a:p>
            <a:pPr lvl="2"/>
            <a:r>
              <a:rPr lang="en-US" dirty="0"/>
              <a:t>The document refers to the </a:t>
            </a:r>
            <a:r>
              <a:rPr lang="en-US" i="1" dirty="0"/>
              <a:t>_id </a:t>
            </a:r>
            <a:r>
              <a:rPr lang="en-US" dirty="0"/>
              <a:t>of the other document</a:t>
            </a:r>
          </a:p>
          <a:p>
            <a:r>
              <a:rPr lang="en-US" dirty="0"/>
              <a:t>Source</a:t>
            </a:r>
          </a:p>
          <a:p>
            <a:pPr lvl="1"/>
            <a:r>
              <a:rPr lang="en-US" dirty="0">
                <a:hlinkClick r:id="rId2"/>
              </a:rPr>
              <a:t>http://stackoverflow.com/questions/6334048/foreign-keys-in-mongo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http://docs.mongodb.org/manual/reference/database-references/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MongoDB, an introduction</a:t>
            </a: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FFA4F-9984-4F5F-820D-2E497FFB00D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21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Insert, using reference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979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original_id = ObjectId() // make an id</a:t>
            </a:r>
          </a:p>
          <a:p>
            <a:pPr marL="0" indent="0">
              <a:buNone/>
            </a:pPr>
            <a:r>
              <a:rPr lang="en-US" sz="1400" dirty="0"/>
              <a:t>db.books.insert( {</a:t>
            </a:r>
          </a:p>
          <a:p>
            <a:pPr marL="0" indent="0">
              <a:buNone/>
            </a:pPr>
            <a:r>
              <a:rPr lang="en-US" sz="1400" dirty="0"/>
              <a:t>    _id : original_id,</a:t>
            </a:r>
          </a:p>
          <a:p>
            <a:pPr marL="0" indent="0">
              <a:buNone/>
            </a:pPr>
            <a:r>
              <a:rPr lang="en-US" sz="1400" dirty="0"/>
              <a:t>    title: "My very own book, 1st edition"</a:t>
            </a:r>
          </a:p>
          <a:p>
            <a:pPr marL="0" indent="0">
              <a:buNone/>
            </a:pPr>
            <a:r>
              <a:rPr lang="en-US" sz="1400" dirty="0"/>
              <a:t>})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/>
              <a:t>db.books.insert( {</a:t>
            </a:r>
          </a:p>
          <a:p>
            <a:pPr marL="0" indent="0">
              <a:buNone/>
            </a:pPr>
            <a:r>
              <a:rPr lang="en-US" sz="1400" dirty="0"/>
              <a:t>    title: "My very own book, 2nd edition",</a:t>
            </a:r>
          </a:p>
          <a:p>
            <a:pPr marL="0" indent="0">
              <a:buNone/>
            </a:pPr>
            <a:r>
              <a:rPr lang="en-US" sz="1400" dirty="0"/>
              <a:t>    prev_edition_id : original_id // refer to the other id</a:t>
            </a:r>
          </a:p>
          <a:p>
            <a:pPr marL="0" indent="0">
              <a:buNone/>
            </a:pPr>
            <a:r>
              <a:rPr lang="en-US" sz="1400" dirty="0"/>
              <a:t>})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err="1"/>
              <a:t>ObjectID</a:t>
            </a:r>
            <a:r>
              <a:rPr lang="en-US" sz="1400" dirty="0"/>
              <a:t> _id is an </a:t>
            </a:r>
            <a:r>
              <a:rPr lang="en-US" sz="1400" dirty="0" err="1"/>
              <a:t>autoindexed</a:t>
            </a:r>
            <a:r>
              <a:rPr lang="en-US" sz="1400" dirty="0"/>
              <a:t> field. MongoDB uses B-Tree indexes so lookup is on the order of O(log n)</a:t>
            </a:r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MongoDB, an introduction</a:t>
            </a: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FFA4F-9984-4F5F-820D-2E497FFB00D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496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MongoDB can store functions</a:t>
            </a:r>
          </a:p>
          <a:p>
            <a:pPr lvl="1"/>
            <a:r>
              <a:rPr lang="en-US" dirty="0" err="1"/>
              <a:t>db.system.js.save</a:t>
            </a:r>
            <a:r>
              <a:rPr lang="en-US" dirty="0"/>
              <a:t>({ _id: functionName, value: theFunction });</a:t>
            </a:r>
          </a:p>
          <a:p>
            <a:pPr lvl="1"/>
            <a:r>
              <a:rPr lang="en-US" dirty="0" err="1"/>
              <a:t>system.js</a:t>
            </a:r>
            <a:r>
              <a:rPr lang="en-US" dirty="0"/>
              <a:t> is a special collection</a:t>
            </a:r>
          </a:p>
          <a:p>
            <a:r>
              <a:rPr lang="en-US" dirty="0"/>
              <a:t>Programming language: JavaScript</a:t>
            </a:r>
          </a:p>
          <a:p>
            <a:r>
              <a:rPr lang="en-US" dirty="0"/>
              <a:t>db.loadServerScripts();</a:t>
            </a:r>
          </a:p>
          <a:p>
            <a:pPr lvl="1"/>
            <a:r>
              <a:rPr lang="en-US" dirty="0"/>
              <a:t>Loads the scripts / functions</a:t>
            </a:r>
          </a:p>
          <a:p>
            <a:pPr lvl="1"/>
            <a:r>
              <a:rPr lang="en-US" dirty="0"/>
              <a:t>Necessary before calling a function</a:t>
            </a:r>
          </a:p>
          <a:p>
            <a:r>
              <a:rPr lang="da-DK" dirty="0"/>
              <a:t>Source</a:t>
            </a:r>
          </a:p>
          <a:p>
            <a:pPr lvl="1"/>
            <a:r>
              <a:rPr lang="en-US" dirty="0">
                <a:hlinkClick r:id="rId2"/>
              </a:rPr>
              <a:t>http://docs.mongodb.org/manual/tutorial/store-javascript-function-on-server/</a:t>
            </a:r>
            <a:endParaRPr lang="en-US" dirty="0"/>
          </a:p>
          <a:p>
            <a:pPr lvl="1"/>
            <a:endParaRPr lang="da-DK" dirty="0"/>
          </a:p>
          <a:p>
            <a:endParaRPr lang="en-US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MongoDB, an introduction</a:t>
            </a: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FFA4F-9984-4F5F-820D-2E497FFB00D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957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Cursors and iteration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find(…) method returns a cursor.</a:t>
            </a:r>
          </a:p>
          <a:p>
            <a:r>
              <a:rPr lang="en-US" dirty="0"/>
              <a:t>This cursor can be iterated using the forEach(…) method</a:t>
            </a:r>
          </a:p>
          <a:p>
            <a:pPr lvl="1"/>
            <a:r>
              <a:rPr lang="en-US" dirty="0"/>
              <a:t>db.books.find().forEach(function(book) {print("Book: " + </a:t>
            </a:r>
            <a:r>
              <a:rPr lang="en-US" dirty="0" err="1"/>
              <a:t>book.title</a:t>
            </a:r>
            <a:r>
              <a:rPr lang="en-US" dirty="0"/>
              <a:t>);});</a:t>
            </a:r>
          </a:p>
          <a:p>
            <a:pPr lvl="1"/>
            <a:r>
              <a:rPr lang="en-US" dirty="0"/>
              <a:t>Function defined inside </a:t>
            </a:r>
            <a:r>
              <a:rPr lang="en-US" dirty="0" err="1"/>
              <a:t>forEach</a:t>
            </a:r>
            <a:endParaRPr lang="en-US" dirty="0"/>
          </a:p>
          <a:p>
            <a:r>
              <a:rPr lang="en-US" dirty="0"/>
              <a:t>Another example</a:t>
            </a:r>
          </a:p>
          <a:p>
            <a:pPr marL="457200" lvl="1" indent="0">
              <a:buNone/>
            </a:pPr>
            <a:r>
              <a:rPr lang="en-US" dirty="0" err="1"/>
              <a:t>db.system.js.save</a:t>
            </a:r>
            <a:r>
              <a:rPr lang="en-US" dirty="0"/>
              <a:t>({ _id: </a:t>
            </a:r>
            <a:r>
              <a:rPr lang="en-US" dirty="0" err="1"/>
              <a:t>printTitle</a:t>
            </a:r>
            <a:r>
              <a:rPr lang="en-US" dirty="0"/>
              <a:t>, value: function(element) {</a:t>
            </a:r>
          </a:p>
          <a:p>
            <a:pPr marL="457200" lvl="1" indent="0">
              <a:buNone/>
            </a:pPr>
            <a:r>
              <a:rPr lang="en-US" dirty="0"/>
              <a:t>    					print(</a:t>
            </a:r>
            <a:r>
              <a:rPr lang="en-US" dirty="0" err="1"/>
              <a:t>element.title</a:t>
            </a:r>
            <a:r>
              <a:rPr lang="en-US" dirty="0"/>
              <a:t>);</a:t>
            </a:r>
          </a:p>
          <a:p>
            <a:pPr marL="457200" lvl="1" indent="0">
              <a:buNone/>
            </a:pPr>
            <a:r>
              <a:rPr lang="en-US" dirty="0"/>
              <a:t>				}</a:t>
            </a:r>
          </a:p>
          <a:p>
            <a:pPr marL="457200" lvl="1" indent="0">
              <a:buNone/>
            </a:pPr>
            <a:r>
              <a:rPr lang="en-US" dirty="0"/>
              <a:t>		);</a:t>
            </a:r>
          </a:p>
          <a:p>
            <a:pPr lvl="1"/>
            <a:r>
              <a:rPr lang="en-US" dirty="0" err="1"/>
              <a:t>db.books.find</a:t>
            </a:r>
            <a:r>
              <a:rPr lang="en-US" dirty="0"/>
              <a:t>().</a:t>
            </a:r>
            <a:r>
              <a:rPr lang="en-US" dirty="0" err="1"/>
              <a:t>forEach</a:t>
            </a:r>
            <a:r>
              <a:rPr lang="en-US" dirty="0"/>
              <a:t>(</a:t>
            </a:r>
            <a:r>
              <a:rPr lang="en-US" dirty="0" err="1"/>
              <a:t>printTitle</a:t>
            </a:r>
            <a:r>
              <a:rPr lang="en-US" dirty="0"/>
              <a:t>);</a:t>
            </a:r>
          </a:p>
          <a:p>
            <a:pPr lvl="1"/>
            <a:r>
              <a:rPr lang="en-US" dirty="0"/>
              <a:t>Function defined and stored in the database</a:t>
            </a:r>
          </a:p>
          <a:p>
            <a:r>
              <a:rPr lang="en-US" dirty="0"/>
              <a:t>Source</a:t>
            </a:r>
          </a:p>
          <a:p>
            <a:pPr lvl="1"/>
            <a:r>
              <a:rPr lang="en-US" dirty="0"/>
              <a:t>http://docs.mongodb.org/manual/reference/method/cursor.forEach/</a:t>
            </a:r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MongoDB, an introduction</a:t>
            </a: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FFA4F-9984-4F5F-820D-2E497FFB00D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802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510CB-443A-BF4E-B662-DD7AC54D5A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Aggregations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275BD-7E14-3849-99E9-02BCB1BBE8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786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D2CE5-1AB7-404B-AA98-86C6ACD62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660B5-8043-41EE-9706-0DA18319A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Beyond CRUD(Create, Read, Update, Delete)</a:t>
            </a:r>
          </a:p>
          <a:p>
            <a:r>
              <a:rPr lang="en-US" dirty="0"/>
              <a:t>Aggregations very powerful</a:t>
            </a:r>
          </a:p>
          <a:p>
            <a:pPr lvl="1"/>
            <a:r>
              <a:rPr lang="en-US" dirty="0"/>
              <a:t>Able to get statistics about large amounts of data</a:t>
            </a:r>
          </a:p>
          <a:p>
            <a:pPr lvl="1"/>
            <a:r>
              <a:rPr lang="en-US" dirty="0"/>
              <a:t>Create graphs to visualize data</a:t>
            </a:r>
          </a:p>
        </p:txBody>
      </p:sp>
    </p:spTree>
    <p:extLst>
      <p:ext uri="{BB962C8B-B14F-4D97-AF65-F5344CB8AC3E}">
        <p14:creationId xmlns:p14="http://schemas.microsoft.com/office/powerpoint/2010/main" val="2951282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712E2-934C-45AE-9059-719F37D64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aggregations?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D7310-1EF4-4F2F-BB70-FE0F6F8FE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MongoDB documentation:</a:t>
            </a:r>
          </a:p>
          <a:p>
            <a:pPr lvl="1"/>
            <a:r>
              <a:rPr lang="en-US" dirty="0"/>
              <a:t>Aggregation operations process data records and return computed results. Aggregation operations group values from multiple documents together, and can perform variety of operations on the grouped data to return a single result.</a:t>
            </a:r>
            <a:br>
              <a:rPr lang="en-US" dirty="0"/>
            </a:br>
            <a:r>
              <a:rPr lang="en-US" dirty="0"/>
              <a:t>Reference: </a:t>
            </a:r>
            <a:r>
              <a:rPr lang="en-US" dirty="0">
                <a:hlinkClick r:id="rId2"/>
              </a:rPr>
              <a:t>https://docs.mongodb.com/manual/aggregation/</a:t>
            </a:r>
            <a:endParaRPr lang="en-US" dirty="0"/>
          </a:p>
          <a:p>
            <a:pPr lvl="1"/>
            <a:r>
              <a:rPr lang="en-US" dirty="0"/>
              <a:t>Able to look at massive amounts of data in a simplified way</a:t>
            </a:r>
          </a:p>
          <a:p>
            <a:pPr lvl="1"/>
            <a:r>
              <a:rPr lang="en-US" dirty="0"/>
              <a:t>Ex. Counting how many students are in a Students table.</a:t>
            </a:r>
          </a:p>
        </p:txBody>
      </p:sp>
    </p:spTree>
    <p:extLst>
      <p:ext uri="{BB962C8B-B14F-4D97-AF65-F5344CB8AC3E}">
        <p14:creationId xmlns:p14="http://schemas.microsoft.com/office/powerpoint/2010/main" val="3234187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C50E-3451-4A6F-863B-B035DFE52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MySQL recap of aggregations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C7C34-D56E-4BDD-94A8-9A6F8487D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 by was a way to aggregate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Count the number of titles published by an artist.</a:t>
            </a:r>
          </a:p>
          <a:p>
            <a:pPr lvl="1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7FDFAB-1543-4E45-AC72-678CCD914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8406" y="2518703"/>
            <a:ext cx="6243237" cy="1231106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SELECT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ArtistID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COUNT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*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FROM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Artists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INNER JOIN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Titles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Artists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ArtistID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Titles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ArtistID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GROUP BY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ArtistID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022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BFA6A-E460-4507-B1C2-6FC8418C4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58C89-CEA3-4553-9C39-9B3BADE6A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that you can do READ operations like below:</a:t>
            </a:r>
          </a:p>
          <a:p>
            <a:pPr lvl="1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11E4D9-600E-4484-A577-C92932D81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1630" y="2403156"/>
            <a:ext cx="4952831" cy="338554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db.collection.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find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4292E"/>
              </a:solidFill>
              <a:effectLst/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737D"/>
                </a:solidFill>
                <a:effectLst/>
                <a:latin typeface="SFMono-Regular"/>
              </a:rPr>
              <a:t>// use pretty to print pretty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24292E"/>
              </a:solidFill>
              <a:effectLst/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db.colleciton.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find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().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6F42C1"/>
                </a:solidFill>
                <a:effectLst/>
                <a:latin typeface="SFMono-Regular"/>
              </a:rPr>
              <a:t>pretty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4292E"/>
              </a:solidFill>
              <a:effectLst/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737D"/>
                </a:solidFill>
                <a:effectLst/>
                <a:latin typeface="SFMono-Regular"/>
              </a:rPr>
              <a:t>// simplest format of aggregation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737D"/>
                </a:solidFill>
                <a:effectLst/>
                <a:latin typeface="SFMono-Regular"/>
              </a:rPr>
              <a:t>// use count to count number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db.collection.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find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().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F42C1"/>
                </a:solidFill>
                <a:effectLst/>
                <a:latin typeface="SFMono-Regular"/>
              </a:rPr>
              <a:t>count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rgbClr val="24292E"/>
              </a:solidFill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737D"/>
                </a:solidFill>
                <a:effectLst/>
                <a:latin typeface="SFMono-Regular"/>
              </a:rPr>
              <a:t>// or use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A737D"/>
                </a:solidFill>
                <a:effectLst/>
                <a:latin typeface="SFMono-Regular"/>
              </a:rPr>
              <a:t>dinstinct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A737D"/>
                </a:solidFill>
                <a:effectLst/>
                <a:latin typeface="SFMono-Regular"/>
              </a:rPr>
              <a:t> to get unique set of results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db.collection.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find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().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F42C1"/>
                </a:solidFill>
                <a:effectLst/>
                <a:latin typeface="SFMono-Regular"/>
              </a:rPr>
              <a:t>distinct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fieldName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);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828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47717-57F7-4581-95C8-5CFBAD9E0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6F121-FAD7-423F-BD70-19B9B297F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Projections:</a:t>
            </a:r>
          </a:p>
          <a:p>
            <a:pPr lvl="1"/>
            <a:r>
              <a:rPr lang="en-US" dirty="0"/>
              <a:t>Limit the amount of fields to be returned by a find() query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3B0F9E-02A1-4E10-9D33-982E78C21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350" y="2805329"/>
            <a:ext cx="5385732" cy="307777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db.collection.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find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(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&lt;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query filter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&lt;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projection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&gt;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181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932C7-ADEF-454F-9D41-CE9446A0E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Aggregations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C9119-FA97-4A0A-84B0-2FB2B68AB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types:</a:t>
            </a:r>
          </a:p>
          <a:p>
            <a:pPr lvl="1"/>
            <a:r>
              <a:rPr lang="en-US" dirty="0"/>
              <a:t>Aggregation pipeline</a:t>
            </a:r>
          </a:p>
          <a:p>
            <a:pPr lvl="1"/>
            <a:r>
              <a:rPr lang="en-US" dirty="0"/>
              <a:t>Map-reduce</a:t>
            </a:r>
          </a:p>
          <a:p>
            <a:pPr lvl="1"/>
            <a:r>
              <a:rPr lang="en-US" dirty="0"/>
              <a:t>Single purpose aggregation operations</a:t>
            </a:r>
          </a:p>
          <a:p>
            <a:r>
              <a:rPr lang="en-US" dirty="0"/>
              <a:t>We will only be going over Aggregation pipeline &amp; introduce Map-Reduce operations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301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3" name="Picture 2" descr="aggregation-pipeline.png">
            <a:extLst>
              <a:ext uri="{FF2B5EF4-FFF2-40B4-BE49-F238E27FC236}">
                <a16:creationId xmlns:a16="http://schemas.microsoft.com/office/drawing/2014/main" id="{1A8A04F4-DD27-43EB-821C-261678C092F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203" y="643466"/>
            <a:ext cx="7737593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9172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6E57C-D3EA-4437-B5DE-0689727E1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C0AE5-FC04-4085-BCDB-35BD00A2A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Separates data aggregation into a pipeline with stages you define</a:t>
            </a:r>
          </a:p>
          <a:p>
            <a:pPr lvl="1"/>
            <a:r>
              <a:rPr lang="en-US" dirty="0"/>
              <a:t>The previous slide separates the data into </a:t>
            </a:r>
            <a:r>
              <a:rPr lang="en-US" b="1" dirty="0"/>
              <a:t>$match</a:t>
            </a:r>
            <a:r>
              <a:rPr lang="en-US" dirty="0"/>
              <a:t> and </a:t>
            </a:r>
            <a:r>
              <a:rPr lang="en-US" b="1" dirty="0"/>
              <a:t>$group</a:t>
            </a:r>
            <a:r>
              <a:rPr lang="en-US" dirty="0"/>
              <a:t> stages</a:t>
            </a:r>
          </a:p>
          <a:p>
            <a:pPr lvl="1"/>
            <a:r>
              <a:rPr lang="en-US" dirty="0"/>
              <a:t>Aggregation pipelines are not limited to just </a:t>
            </a:r>
            <a:r>
              <a:rPr lang="en-US" b="1" dirty="0"/>
              <a:t>$match</a:t>
            </a:r>
            <a:r>
              <a:rPr lang="en-US" dirty="0"/>
              <a:t> and </a:t>
            </a:r>
            <a:r>
              <a:rPr lang="en-US" b="1" dirty="0"/>
              <a:t>$group</a:t>
            </a:r>
            <a:r>
              <a:rPr lang="en-US" dirty="0"/>
              <a:t> stages</a:t>
            </a:r>
          </a:p>
          <a:p>
            <a:pPr lvl="2"/>
            <a:r>
              <a:rPr lang="en-US" dirty="0"/>
              <a:t>$group</a:t>
            </a:r>
          </a:p>
          <a:p>
            <a:pPr lvl="2"/>
            <a:r>
              <a:rPr lang="en-US" dirty="0"/>
              <a:t>$match</a:t>
            </a:r>
          </a:p>
          <a:p>
            <a:pPr lvl="2"/>
            <a:r>
              <a:rPr lang="en-US" dirty="0"/>
              <a:t>$lookup</a:t>
            </a:r>
          </a:p>
          <a:p>
            <a:pPr lvl="2"/>
            <a:r>
              <a:rPr lang="en-US" dirty="0"/>
              <a:t>$count</a:t>
            </a:r>
          </a:p>
          <a:p>
            <a:pPr lvl="2"/>
            <a:r>
              <a:rPr lang="en-US" dirty="0"/>
              <a:t>$limit</a:t>
            </a:r>
          </a:p>
          <a:p>
            <a:pPr lvl="2"/>
            <a:r>
              <a:rPr lang="en-US" dirty="0"/>
              <a:t>$merge</a:t>
            </a:r>
          </a:p>
          <a:p>
            <a:pPr lvl="2"/>
            <a:r>
              <a:rPr lang="en-US" dirty="0"/>
              <a:t>$out</a:t>
            </a:r>
          </a:p>
          <a:p>
            <a:pPr lvl="2"/>
            <a:r>
              <a:rPr lang="en-US" dirty="0"/>
              <a:t>$sort</a:t>
            </a:r>
          </a:p>
          <a:p>
            <a:pPr lvl="2"/>
            <a:r>
              <a:rPr lang="en-US" dirty="0"/>
              <a:t>$</a:t>
            </a:r>
            <a:r>
              <a:rPr lang="en-US" dirty="0" err="1"/>
              <a:t>geoNear</a:t>
            </a:r>
            <a:endParaRPr lang="en-US" dirty="0"/>
          </a:p>
          <a:p>
            <a:pPr lvl="2"/>
            <a:r>
              <a:rPr lang="en-US" dirty="0"/>
              <a:t>$unwind</a:t>
            </a:r>
          </a:p>
          <a:p>
            <a:pPr lvl="1"/>
            <a:r>
              <a:rPr lang="en-US" dirty="0">
                <a:hlinkClick r:id="rId2"/>
              </a:rPr>
              <a:t>https://docs.mongodb.com/manual/reference/operator/aggregation-pipeline/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5BA6A9-7818-DF41-8858-DEBF3FCF52BA}"/>
              </a:ext>
            </a:extLst>
          </p:cNvPr>
          <p:cNvSpPr txBox="1"/>
          <p:nvPr/>
        </p:nvSpPr>
        <p:spPr>
          <a:xfrm>
            <a:off x="4343400" y="3886200"/>
            <a:ext cx="1843518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And many others.</a:t>
            </a:r>
          </a:p>
        </p:txBody>
      </p:sp>
    </p:spTree>
    <p:extLst>
      <p:ext uri="{BB962C8B-B14F-4D97-AF65-F5344CB8AC3E}">
        <p14:creationId xmlns:p14="http://schemas.microsoft.com/office/powerpoint/2010/main" val="772699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0A96E-CF98-422E-8048-C4BF01237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stage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FDCAF-48FE-4CFE-87C1-D044346ED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Groups documents by some specified expression and outputs to the next stage a document for each distinct grouping.</a:t>
            </a:r>
          </a:p>
          <a:p>
            <a:pPr lvl="1"/>
            <a:r>
              <a:rPr lang="en-US" dirty="0"/>
              <a:t>The output documents contain an _id field which contains the distinct group by key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{ $group: { _id: &lt;expression&gt;, &lt;field1&gt;: { &lt;accumulator1&gt; : &lt;expression1&gt; }, ... } }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_id field is mandatory; however, you can specify an _id value of null to </a:t>
            </a:r>
            <a:r>
              <a:rPr lang="en-US" b="1" dirty="0"/>
              <a:t>calculate accumulated values for all the input documents as a whole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514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6F715-5160-49F7-B83C-F539A0898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2FA3A-AC99-4DE1-960A-ABE5FE585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the below </a:t>
            </a:r>
            <a:r>
              <a:rPr lang="en-US" i="1" dirty="0"/>
              <a:t>sales</a:t>
            </a:r>
            <a:r>
              <a:rPr lang="en-US" dirty="0"/>
              <a:t> collection, we can group by month, day, and year: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1800" dirty="0" err="1"/>
              <a:t>db.sales.insertMany</a:t>
            </a:r>
            <a:r>
              <a:rPr lang="en-US" sz="1800" dirty="0"/>
              <a:t>([</a:t>
            </a:r>
          </a:p>
          <a:p>
            <a:pPr marL="0" indent="0">
              <a:buNone/>
            </a:pPr>
            <a:r>
              <a:rPr lang="en-US" sz="1800" dirty="0"/>
              <a:t>{ "_id" : 1, "item" : "</a:t>
            </a:r>
            <a:r>
              <a:rPr lang="en-US" sz="1800" dirty="0" err="1"/>
              <a:t>abc</a:t>
            </a:r>
            <a:r>
              <a:rPr lang="en-US" sz="1800" dirty="0"/>
              <a:t>", "price" : 10, "quantity" : 2, "date" : </a:t>
            </a:r>
            <a:r>
              <a:rPr lang="en-US" sz="1800" dirty="0" err="1"/>
              <a:t>ISODate</a:t>
            </a:r>
            <a:r>
              <a:rPr lang="en-US" sz="1800" dirty="0"/>
              <a:t>("2014-03-01T08:00:00Z") },</a:t>
            </a:r>
          </a:p>
          <a:p>
            <a:pPr marL="0" indent="0">
              <a:buNone/>
            </a:pPr>
            <a:r>
              <a:rPr lang="en-US" sz="1800" dirty="0"/>
              <a:t>{ "_id" : 2, "item" : "</a:t>
            </a:r>
            <a:r>
              <a:rPr lang="en-US" sz="1800" dirty="0" err="1"/>
              <a:t>jkl</a:t>
            </a:r>
            <a:r>
              <a:rPr lang="en-US" sz="1800" dirty="0"/>
              <a:t>", "price" : 20, "quantity" : 1, "date" : </a:t>
            </a:r>
            <a:r>
              <a:rPr lang="en-US" sz="1800" dirty="0" err="1"/>
              <a:t>ISODate</a:t>
            </a:r>
            <a:r>
              <a:rPr lang="en-US" sz="1800" dirty="0"/>
              <a:t>("2014-03-01T09:00:00Z") },</a:t>
            </a:r>
          </a:p>
          <a:p>
            <a:pPr marL="0" indent="0">
              <a:buNone/>
            </a:pPr>
            <a:r>
              <a:rPr lang="en-US" sz="1800" dirty="0"/>
              <a:t>{ "_id" : 3, "item" : "</a:t>
            </a:r>
            <a:r>
              <a:rPr lang="en-US" sz="1800" dirty="0" err="1"/>
              <a:t>xyz</a:t>
            </a:r>
            <a:r>
              <a:rPr lang="en-US" sz="1800" dirty="0"/>
              <a:t>", "price" : 5, "quantity" : 10, "date" : </a:t>
            </a:r>
            <a:r>
              <a:rPr lang="en-US" sz="1800" dirty="0" err="1"/>
              <a:t>ISODate</a:t>
            </a:r>
            <a:r>
              <a:rPr lang="en-US" sz="1800" dirty="0"/>
              <a:t>("2014-03-15T09:00:00Z") },</a:t>
            </a:r>
          </a:p>
          <a:p>
            <a:pPr marL="0" indent="0">
              <a:buNone/>
            </a:pPr>
            <a:r>
              <a:rPr lang="en-US" sz="1800" dirty="0"/>
              <a:t>{ "_id" : 4, "item" : "</a:t>
            </a:r>
            <a:r>
              <a:rPr lang="en-US" sz="1800" dirty="0" err="1"/>
              <a:t>xyz</a:t>
            </a:r>
            <a:r>
              <a:rPr lang="en-US" sz="1800" dirty="0"/>
              <a:t>", "price" : 5, "quantity" : 20, "date" : </a:t>
            </a:r>
            <a:r>
              <a:rPr lang="en-US" sz="1800" dirty="0" err="1"/>
              <a:t>ISODate</a:t>
            </a:r>
            <a:r>
              <a:rPr lang="en-US" sz="1800" dirty="0"/>
              <a:t>("2014-04-04T11:21:39.736Z") },</a:t>
            </a:r>
          </a:p>
          <a:p>
            <a:pPr marL="0" indent="0">
              <a:buNone/>
            </a:pPr>
            <a:r>
              <a:rPr lang="en-US" sz="1800" dirty="0"/>
              <a:t>{ "_id" : 5, "item" : "</a:t>
            </a:r>
            <a:r>
              <a:rPr lang="en-US" sz="1800" dirty="0" err="1"/>
              <a:t>abc</a:t>
            </a:r>
            <a:r>
              <a:rPr lang="en-US" sz="1800" dirty="0"/>
              <a:t>", "price" : 10, "quantity" : 10, "date" : </a:t>
            </a:r>
            <a:r>
              <a:rPr lang="en-US" sz="1800" dirty="0" err="1"/>
              <a:t>ISODate</a:t>
            </a:r>
            <a:r>
              <a:rPr lang="en-US" sz="1800" dirty="0"/>
              <a:t>("2014-04-04T21:23:13.331Z") }])</a:t>
            </a:r>
          </a:p>
        </p:txBody>
      </p:sp>
    </p:spTree>
    <p:extLst>
      <p:ext uri="{BB962C8B-B14F-4D97-AF65-F5344CB8AC3E}">
        <p14:creationId xmlns:p14="http://schemas.microsoft.com/office/powerpoint/2010/main" val="368009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5CBA-F53B-4A35-B9E1-C78959B33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Example 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14254-8DD5-469A-A7C6-D4E2F4AFC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853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err="1"/>
              <a:t>db.sales.aggregate</a:t>
            </a:r>
            <a:r>
              <a:rPr lang="en-US" sz="1600" dirty="0"/>
              <a:t>(</a:t>
            </a:r>
          </a:p>
          <a:p>
            <a:pPr marL="0" indent="0">
              <a:buNone/>
            </a:pPr>
            <a:r>
              <a:rPr lang="en-US" sz="1600" dirty="0"/>
              <a:t>   [</a:t>
            </a:r>
          </a:p>
          <a:p>
            <a:pPr marL="0" indent="0">
              <a:buNone/>
            </a:pPr>
            <a:r>
              <a:rPr lang="en-US" sz="1600" dirty="0"/>
              <a:t>      {</a:t>
            </a:r>
          </a:p>
          <a:p>
            <a:pPr marL="0" indent="0">
              <a:buNone/>
            </a:pPr>
            <a:r>
              <a:rPr lang="en-US" sz="1600" dirty="0"/>
              <a:t>        $group : {</a:t>
            </a:r>
          </a:p>
          <a:p>
            <a:pPr marL="0" indent="0">
              <a:buNone/>
            </a:pPr>
            <a:r>
              <a:rPr lang="en-US" sz="1600" dirty="0"/>
              <a:t>           _id : { month: { $month: "$date" }, day: { $</a:t>
            </a:r>
            <a:r>
              <a:rPr lang="en-US" sz="1600" dirty="0" err="1"/>
              <a:t>dayOfMonth</a:t>
            </a:r>
            <a:r>
              <a:rPr lang="en-US" sz="1600" dirty="0"/>
              <a:t>: "$date" }, year: { $year: "$date" } },</a:t>
            </a:r>
          </a:p>
          <a:p>
            <a:pPr marL="0" indent="0">
              <a:buNone/>
            </a:pPr>
            <a:r>
              <a:rPr lang="en-US" sz="1600" dirty="0"/>
              <a:t>           </a:t>
            </a:r>
            <a:r>
              <a:rPr lang="en-US" sz="1600" dirty="0" err="1"/>
              <a:t>totalPrice</a:t>
            </a:r>
            <a:r>
              <a:rPr lang="en-US" sz="1600" dirty="0"/>
              <a:t>: { $sum: { $multiply: [ "$price", "$quantity" ] } },</a:t>
            </a:r>
          </a:p>
          <a:p>
            <a:pPr marL="0" indent="0">
              <a:buNone/>
            </a:pPr>
            <a:r>
              <a:rPr lang="en-US" sz="1600" dirty="0"/>
              <a:t>           </a:t>
            </a:r>
            <a:r>
              <a:rPr lang="en-US" sz="1600" dirty="0" err="1"/>
              <a:t>averageQuantity</a:t>
            </a:r>
            <a:r>
              <a:rPr lang="en-US" sz="1600" dirty="0"/>
              <a:t>: { $</a:t>
            </a:r>
            <a:r>
              <a:rPr lang="en-US" sz="1600" dirty="0" err="1"/>
              <a:t>avg</a:t>
            </a:r>
            <a:r>
              <a:rPr lang="en-US" sz="1600" dirty="0"/>
              <a:t>: "$quantity" },</a:t>
            </a:r>
          </a:p>
          <a:p>
            <a:pPr marL="0" indent="0">
              <a:buNone/>
            </a:pPr>
            <a:r>
              <a:rPr lang="en-US" sz="1600" dirty="0"/>
              <a:t>           count: { $sum: 1 }</a:t>
            </a:r>
          </a:p>
          <a:p>
            <a:pPr marL="0" indent="0">
              <a:buNone/>
            </a:pPr>
            <a:r>
              <a:rPr lang="en-US" sz="1600" dirty="0"/>
              <a:t>        }</a:t>
            </a:r>
          </a:p>
          <a:p>
            <a:pPr marL="0" indent="0">
              <a:buNone/>
            </a:pPr>
            <a:r>
              <a:rPr lang="en-US" sz="1600" dirty="0"/>
              <a:t>      }</a:t>
            </a:r>
          </a:p>
          <a:p>
            <a:pPr marL="0" indent="0">
              <a:buNone/>
            </a:pPr>
            <a:r>
              <a:rPr lang="en-US" sz="1600" dirty="0"/>
              <a:t>   ]</a:t>
            </a:r>
          </a:p>
          <a:p>
            <a:pPr marL="0" indent="0">
              <a:buNone/>
            </a:pPr>
            <a:r>
              <a:rPr lang="en-US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22250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F9E43-2411-415D-BC19-2D1525517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by null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627DC-CE27-4196-B091-A5F77BA71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/>
              <a:t>db.sales.aggregate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[</a:t>
            </a:r>
          </a:p>
          <a:p>
            <a:pPr marL="0" indent="0">
              <a:buNone/>
            </a:pPr>
            <a:r>
              <a:rPr lang="en-US" dirty="0"/>
              <a:t>      {</a:t>
            </a:r>
          </a:p>
          <a:p>
            <a:pPr marL="0" indent="0">
              <a:buNone/>
            </a:pPr>
            <a:r>
              <a:rPr lang="en-US" dirty="0"/>
              <a:t>        $group : {</a:t>
            </a:r>
          </a:p>
          <a:p>
            <a:pPr marL="0" indent="0">
              <a:buNone/>
            </a:pPr>
            <a:r>
              <a:rPr lang="en-US" dirty="0"/>
              <a:t>           _id : null,</a:t>
            </a:r>
          </a:p>
          <a:p>
            <a:pPr marL="0" indent="0">
              <a:buNone/>
            </a:pPr>
            <a:r>
              <a:rPr lang="en-US" dirty="0"/>
              <a:t>           </a:t>
            </a:r>
            <a:r>
              <a:rPr lang="en-US" dirty="0" err="1"/>
              <a:t>totalPrice</a:t>
            </a:r>
            <a:r>
              <a:rPr lang="en-US" dirty="0"/>
              <a:t>: { $sum: { $multiply: [ "$price", "$quantity" ] } },</a:t>
            </a:r>
          </a:p>
          <a:p>
            <a:pPr marL="0" indent="0">
              <a:buNone/>
            </a:pPr>
            <a:r>
              <a:rPr lang="en-US" dirty="0"/>
              <a:t>           </a:t>
            </a:r>
            <a:r>
              <a:rPr lang="en-US" dirty="0" err="1"/>
              <a:t>averageQuantity</a:t>
            </a:r>
            <a:r>
              <a:rPr lang="en-US" dirty="0"/>
              <a:t>: { $</a:t>
            </a:r>
            <a:r>
              <a:rPr lang="en-US" dirty="0" err="1"/>
              <a:t>avg</a:t>
            </a:r>
            <a:r>
              <a:rPr lang="en-US" dirty="0"/>
              <a:t>: "$quantity" },</a:t>
            </a:r>
          </a:p>
          <a:p>
            <a:pPr marL="0" indent="0">
              <a:buNone/>
            </a:pPr>
            <a:r>
              <a:rPr lang="en-US" dirty="0"/>
              <a:t>           count: { $sum: 1 }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  }</a:t>
            </a:r>
          </a:p>
          <a:p>
            <a:pPr marL="0" indent="0">
              <a:buNone/>
            </a:pPr>
            <a:r>
              <a:rPr lang="en-US" dirty="0"/>
              <a:t>   ]</a:t>
            </a:r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047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03E1C-661E-4BB8-AFCB-868DBE8B4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 Stage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82761-8ED8-4312-9AE0-200415565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Filters the documents to pass only the documents that match the specified condition(s) to the next pipeline stage.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{ $match: { &lt;query&gt; } }</a:t>
            </a:r>
          </a:p>
        </p:txBody>
      </p:sp>
    </p:spTree>
    <p:extLst>
      <p:ext uri="{BB962C8B-B14F-4D97-AF65-F5344CB8AC3E}">
        <p14:creationId xmlns:p14="http://schemas.microsoft.com/office/powerpoint/2010/main" val="1813157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8C7C7-2AF4-47B3-9E87-671E2FC15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 Articles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83DBD-7066-4755-A4AA-13AD69AFD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db.articles.insertMany</a:t>
            </a:r>
            <a:r>
              <a:rPr lang="en-US" dirty="0"/>
              <a:t>([</a:t>
            </a:r>
          </a:p>
          <a:p>
            <a:pPr marL="0" indent="0">
              <a:buNone/>
            </a:pPr>
            <a:r>
              <a:rPr lang="en-US" dirty="0"/>
              <a:t>{ "_id" : </a:t>
            </a:r>
            <a:r>
              <a:rPr lang="en-US" dirty="0" err="1"/>
              <a:t>ObjectId</a:t>
            </a:r>
            <a:r>
              <a:rPr lang="en-US" dirty="0"/>
              <a:t>("512bc95fe835e68f199c8686"), "author" : "</a:t>
            </a:r>
            <a:r>
              <a:rPr lang="en-US" dirty="0" err="1"/>
              <a:t>dave</a:t>
            </a:r>
            <a:r>
              <a:rPr lang="en-US" dirty="0"/>
              <a:t>", "score" : 80, "views" : 100 },</a:t>
            </a:r>
          </a:p>
          <a:p>
            <a:pPr marL="0" indent="0">
              <a:buNone/>
            </a:pPr>
            <a:r>
              <a:rPr lang="en-US" dirty="0"/>
              <a:t>{ "_id" : </a:t>
            </a:r>
            <a:r>
              <a:rPr lang="en-US" dirty="0" err="1"/>
              <a:t>ObjectId</a:t>
            </a:r>
            <a:r>
              <a:rPr lang="en-US" dirty="0"/>
              <a:t>("512bc962e835e68f199c8687"), "author" : "</a:t>
            </a:r>
            <a:r>
              <a:rPr lang="en-US" dirty="0" err="1"/>
              <a:t>dave</a:t>
            </a:r>
            <a:r>
              <a:rPr lang="en-US" dirty="0"/>
              <a:t>", "score" : 85, "views" : 521 },</a:t>
            </a:r>
          </a:p>
          <a:p>
            <a:pPr marL="0" indent="0">
              <a:buNone/>
            </a:pPr>
            <a:r>
              <a:rPr lang="en-US" dirty="0"/>
              <a:t>{ "_id" : </a:t>
            </a:r>
            <a:r>
              <a:rPr lang="en-US" dirty="0" err="1"/>
              <a:t>ObjectId</a:t>
            </a:r>
            <a:r>
              <a:rPr lang="en-US" dirty="0"/>
              <a:t>("55f5a192d4bede9ac365b257"), "author" : "</a:t>
            </a:r>
            <a:r>
              <a:rPr lang="en-US" dirty="0" err="1"/>
              <a:t>ahn</a:t>
            </a:r>
            <a:r>
              <a:rPr lang="en-US" dirty="0"/>
              <a:t>", "score" : 60, "views" : 1000 },</a:t>
            </a:r>
          </a:p>
          <a:p>
            <a:pPr marL="0" indent="0">
              <a:buNone/>
            </a:pPr>
            <a:r>
              <a:rPr lang="en-US" dirty="0"/>
              <a:t>{ "_id" : </a:t>
            </a:r>
            <a:r>
              <a:rPr lang="en-US" dirty="0" err="1"/>
              <a:t>ObjectId</a:t>
            </a:r>
            <a:r>
              <a:rPr lang="en-US" dirty="0"/>
              <a:t>("55f5a192d4bede9ac365b258"), "author" : "li", "score" : 55, "views" : 5000 },</a:t>
            </a:r>
          </a:p>
          <a:p>
            <a:pPr marL="0" indent="0">
              <a:buNone/>
            </a:pPr>
            <a:r>
              <a:rPr lang="en-US" dirty="0"/>
              <a:t>{ "_id" : </a:t>
            </a:r>
            <a:r>
              <a:rPr lang="en-US" dirty="0" err="1"/>
              <a:t>ObjectId</a:t>
            </a:r>
            <a:r>
              <a:rPr lang="en-US" dirty="0"/>
              <a:t>("55f5a1d3d4bede9ac365b259"), "author" : "</a:t>
            </a:r>
            <a:r>
              <a:rPr lang="en-US" dirty="0" err="1"/>
              <a:t>annT</a:t>
            </a:r>
            <a:r>
              <a:rPr lang="en-US" dirty="0"/>
              <a:t>", "score" : 60, "views" : 50 },</a:t>
            </a:r>
          </a:p>
          <a:p>
            <a:pPr marL="0" indent="0">
              <a:buNone/>
            </a:pPr>
            <a:r>
              <a:rPr lang="en-US" dirty="0"/>
              <a:t>{ "_id" : </a:t>
            </a:r>
            <a:r>
              <a:rPr lang="en-US" dirty="0" err="1"/>
              <a:t>ObjectId</a:t>
            </a:r>
            <a:r>
              <a:rPr lang="en-US" dirty="0"/>
              <a:t>("55f5a1d3d4bede9ac365b25a"), "author" : "li", "score" : 94, "views" : 999 },</a:t>
            </a:r>
          </a:p>
          <a:p>
            <a:pPr marL="0" indent="0">
              <a:buNone/>
            </a:pPr>
            <a:r>
              <a:rPr lang="en-US" dirty="0"/>
              <a:t>{ "_id" : </a:t>
            </a:r>
            <a:r>
              <a:rPr lang="en-US" dirty="0" err="1"/>
              <a:t>ObjectId</a:t>
            </a:r>
            <a:r>
              <a:rPr lang="en-US" dirty="0"/>
              <a:t>("55f5a1d3d4bede9ac365b25b"), "author" : "ty", "score" : 95, "views" : 1000 }])</a:t>
            </a:r>
          </a:p>
        </p:txBody>
      </p:sp>
    </p:spTree>
    <p:extLst>
      <p:ext uri="{BB962C8B-B14F-4D97-AF65-F5344CB8AC3E}">
        <p14:creationId xmlns:p14="http://schemas.microsoft.com/office/powerpoint/2010/main" val="3847252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BE90A-E876-4CC6-AC78-6D5F4B120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 Articles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1C8B5-A174-4311-BFEF-C3C6BAC79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all articles that have an author of “</a:t>
            </a:r>
            <a:r>
              <a:rPr lang="en-US" dirty="0" err="1"/>
              <a:t>dave</a:t>
            </a:r>
            <a:r>
              <a:rPr lang="en-US" dirty="0"/>
              <a:t>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db.articles.aggregate</a:t>
            </a:r>
            <a:r>
              <a:rPr lang="en-US" dirty="0"/>
              <a:t>(</a:t>
            </a:r>
          </a:p>
          <a:p>
            <a:pPr marL="0" indent="0">
              <a:buNone/>
            </a:pPr>
            <a:r>
              <a:rPr lang="en-US" dirty="0"/>
              <a:t>    [ { $match : { author : "</a:t>
            </a:r>
            <a:r>
              <a:rPr lang="en-US" dirty="0" err="1"/>
              <a:t>dave</a:t>
            </a:r>
            <a:r>
              <a:rPr lang="en-US" dirty="0"/>
              <a:t>" } } ]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296055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8C672-424C-4077-9CA5-AB79A3F05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 Group and Match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4EA58-1AC1-421A-AE43-94F5FD74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number of articles that either have a score between 70 and 90, or have views greater than or equal to 1000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db.articles.aggregate</a:t>
            </a:r>
            <a:r>
              <a:rPr lang="en-US" dirty="0"/>
              <a:t>( [</a:t>
            </a:r>
          </a:p>
          <a:p>
            <a:pPr marL="0" indent="0">
              <a:buNone/>
            </a:pPr>
            <a:r>
              <a:rPr lang="en-US" dirty="0"/>
              <a:t>  { $match: { $or: [ { score: { $</a:t>
            </a:r>
            <a:r>
              <a:rPr lang="en-US" dirty="0" err="1"/>
              <a:t>gt</a:t>
            </a:r>
            <a:r>
              <a:rPr lang="en-US" dirty="0"/>
              <a:t>: 70, $</a:t>
            </a:r>
            <a:r>
              <a:rPr lang="en-US" dirty="0" err="1"/>
              <a:t>lt</a:t>
            </a:r>
            <a:r>
              <a:rPr lang="en-US" dirty="0"/>
              <a:t>: 90 } }, { views: { $</a:t>
            </a:r>
            <a:r>
              <a:rPr lang="en-US" dirty="0" err="1"/>
              <a:t>gte</a:t>
            </a:r>
            <a:r>
              <a:rPr lang="en-US" dirty="0"/>
              <a:t>: 1000 } } ] } },</a:t>
            </a:r>
          </a:p>
          <a:p>
            <a:pPr marL="0" indent="0">
              <a:buNone/>
            </a:pPr>
            <a:r>
              <a:rPr lang="en-US" dirty="0"/>
              <a:t>  { $group: { _id: null, count: { $sum: 1 } } }</a:t>
            </a:r>
          </a:p>
          <a:p>
            <a:pPr marL="0" indent="0">
              <a:buNone/>
            </a:pPr>
            <a:r>
              <a:rPr lang="en-US" dirty="0"/>
              <a:t>] );</a:t>
            </a:r>
          </a:p>
        </p:txBody>
      </p:sp>
    </p:spTree>
    <p:extLst>
      <p:ext uri="{BB962C8B-B14F-4D97-AF65-F5344CB8AC3E}">
        <p14:creationId xmlns:p14="http://schemas.microsoft.com/office/powerpoint/2010/main" val="811494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B6CE-AA5D-4A54-AD56-A8F464326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Zips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FDFE4-B1A7-4D61-AD69-8AF11063B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and </a:t>
            </a:r>
            <a:r>
              <a:rPr lang="en-US" dirty="0" err="1"/>
              <a:t>mongoimport</a:t>
            </a:r>
            <a:r>
              <a:rPr lang="en-US" dirty="0"/>
              <a:t> the </a:t>
            </a:r>
            <a:r>
              <a:rPr lang="en-US" dirty="0">
                <a:hlinkClick r:id="rId2"/>
              </a:rPr>
              <a:t>zips.json</a:t>
            </a:r>
            <a:r>
              <a:rPr lang="en-US" dirty="0"/>
              <a:t> file to follow along</a:t>
            </a:r>
          </a:p>
          <a:p>
            <a:pPr lvl="1"/>
            <a:r>
              <a:rPr lang="en-US" dirty="0" err="1"/>
              <a:t>mongoimport</a:t>
            </a:r>
            <a:r>
              <a:rPr lang="en-US" dirty="0"/>
              <a:t> --</a:t>
            </a:r>
            <a:r>
              <a:rPr lang="en-US" dirty="0" err="1"/>
              <a:t>db</a:t>
            </a:r>
            <a:r>
              <a:rPr lang="en-US" dirty="0"/>
              <a:t> examples --collection </a:t>
            </a:r>
            <a:r>
              <a:rPr lang="en-US" dirty="0" err="1"/>
              <a:t>zipcodes</a:t>
            </a:r>
            <a:r>
              <a:rPr lang="en-US" dirty="0"/>
              <a:t> --file </a:t>
            </a:r>
            <a:r>
              <a:rPr lang="en-US" dirty="0" err="1"/>
              <a:t>fileName.</a:t>
            </a:r>
            <a:r>
              <a:rPr lang="en-US" dirty="0" err="1">
                <a:effectLst/>
                <a:latin typeface="inherit"/>
              </a:rPr>
              <a:t>json</a:t>
            </a:r>
            <a:endParaRPr lang="en-US" dirty="0"/>
          </a:p>
          <a:p>
            <a:pPr lvl="1"/>
            <a:r>
              <a:rPr lang="en-US" dirty="0" err="1"/>
              <a:t>mongoimport</a:t>
            </a:r>
            <a:r>
              <a:rPr lang="en-US" dirty="0"/>
              <a:t> --type csv -d examples -c </a:t>
            </a:r>
            <a:r>
              <a:rPr lang="en-US" dirty="0" err="1"/>
              <a:t>zipcodes</a:t>
            </a:r>
            <a:r>
              <a:rPr lang="en-US" dirty="0"/>
              <a:t> --</a:t>
            </a:r>
            <a:r>
              <a:rPr lang="en-US" dirty="0" err="1"/>
              <a:t>headerline</a:t>
            </a:r>
            <a:r>
              <a:rPr lang="en-US" dirty="0"/>
              <a:t> --drop </a:t>
            </a:r>
            <a:r>
              <a:rPr lang="en-US" dirty="0" err="1"/>
              <a:t>uszips.csv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Each document in the </a:t>
            </a:r>
            <a:r>
              <a:rPr lang="en-US" dirty="0" err="1"/>
              <a:t>zipcodes</a:t>
            </a:r>
            <a:r>
              <a:rPr lang="en-US" dirty="0"/>
              <a:t> collection has the following form: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8AA31F-31A0-45A4-BF4B-E2A6CC08F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1902" y="3722373"/>
            <a:ext cx="3786614" cy="2462213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"_id"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"10280"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24292E"/>
                </a:solidFill>
                <a:latin typeface="SFMono-Regular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"city"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"NEW YORK"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24292E"/>
                </a:solidFill>
                <a:latin typeface="SFMono-Regular"/>
              </a:rPr>
              <a:t>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"state"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"NY"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24292E"/>
                </a:solidFill>
                <a:latin typeface="SFMono-Regular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"pop"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5574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24292E"/>
                </a:solidFill>
                <a:latin typeface="SFMono-Regular"/>
              </a:rPr>
              <a:t>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"loc"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: [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-74.016323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40.710537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24292E"/>
                </a:solidFill>
                <a:latin typeface="SFMono-Regular"/>
              </a:rPr>
              <a:t>      …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24292E"/>
              </a:solidFill>
              <a:effectLst/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2088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E5C52-5F07-4B1C-87CB-8047753B4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By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22D17-16D5-4102-83D3-97C3561A7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above aggregation returns states with a population above 10 million:</a:t>
            </a:r>
          </a:p>
          <a:p>
            <a:r>
              <a:rPr lang="en-US" dirty="0"/>
              <a:t>Two stages, group and match</a:t>
            </a:r>
          </a:p>
          <a:p>
            <a:pPr lvl="1"/>
            <a:r>
              <a:rPr lang="en-US" dirty="0"/>
              <a:t>Group stage groups the documents by the state field, then adds up the sum of the population and assigns it to the “</a:t>
            </a:r>
            <a:r>
              <a:rPr lang="en-US" dirty="0" err="1"/>
              <a:t>totalPop</a:t>
            </a:r>
            <a:r>
              <a:rPr lang="en-US" dirty="0"/>
              <a:t>”.</a:t>
            </a:r>
          </a:p>
          <a:p>
            <a:pPr lvl="1"/>
            <a:r>
              <a:rPr lang="en-US" dirty="0"/>
              <a:t>Match stage filters the above grouped docs to output only those docs whose </a:t>
            </a:r>
            <a:r>
              <a:rPr lang="en-US" dirty="0" err="1"/>
              <a:t>totalPop</a:t>
            </a:r>
            <a:r>
              <a:rPr lang="en-US" dirty="0"/>
              <a:t> is greater than 10 million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E9E92B-D7AA-4B12-BF61-7F37500E4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0902" y="1915825"/>
            <a:ext cx="6730945" cy="1231106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db.zipcodes.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F42C1"/>
                </a:solidFill>
                <a:effectLst/>
                <a:latin typeface="SFMono-Regular"/>
              </a:rPr>
              <a:t>aggregate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( [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24292E"/>
                </a:solidFill>
                <a:latin typeface="SFMono-Regular"/>
              </a:rPr>
              <a:t>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{ $group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"$state"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totalPop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$sum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"$pop"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 } },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24292E"/>
                </a:solidFill>
                <a:latin typeface="SFMono-Regular"/>
              </a:rPr>
              <a:t>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{ $match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totalPop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$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gte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10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*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1000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*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1000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 }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] 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013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5FF2C-4FA4-4AEC-96EC-A83E6AB7A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MySQL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CBE68-3A87-4275-909B-61593F196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2EA524A-3E79-4D9D-9B8F-5B2BFE37D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292" y="1903241"/>
            <a:ext cx="4401077" cy="1231106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SELECT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state,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SUM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(pop)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totalPop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FROM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zipcodes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GROUP BY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state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HAVING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totalPop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&gt;=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10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*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1000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*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1000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);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0060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1CBB8-F016-443F-A274-AA6C1A6C6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accumulator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D1556F-385C-465E-8062-6631120846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40504"/>
              </p:ext>
            </p:extLst>
          </p:nvPr>
        </p:nvGraphicFramePr>
        <p:xfrm>
          <a:off x="1828798" y="1885542"/>
          <a:ext cx="8507897" cy="4210194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565111">
                  <a:extLst>
                    <a:ext uri="{9D8B030D-6E8A-4147-A177-3AD203B41FA5}">
                      <a16:colId xmlns:a16="http://schemas.microsoft.com/office/drawing/2014/main" val="871177922"/>
                    </a:ext>
                  </a:extLst>
                </a:gridCol>
                <a:gridCol w="6942786">
                  <a:extLst>
                    <a:ext uri="{9D8B030D-6E8A-4147-A177-3AD203B41FA5}">
                      <a16:colId xmlns:a16="http://schemas.microsoft.com/office/drawing/2014/main" val="243239054"/>
                    </a:ext>
                  </a:extLst>
                </a:gridCol>
              </a:tblGrid>
              <a:tr h="287405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effectLst/>
                        </a:rPr>
                        <a:t>Name</a:t>
                      </a:r>
                    </a:p>
                  </a:txBody>
                  <a:tcPr marL="107978" marR="107978" marT="49836" marB="4983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effectLst/>
                        </a:rPr>
                        <a:t>Description</a:t>
                      </a:r>
                    </a:p>
                  </a:txBody>
                  <a:tcPr marL="107978" marR="107978" marT="49836" marB="49836" anchor="ctr"/>
                </a:tc>
                <a:extLst>
                  <a:ext uri="{0D108BD9-81ED-4DB2-BD59-A6C34878D82A}">
                    <a16:rowId xmlns:a16="http://schemas.microsoft.com/office/drawing/2014/main" val="409718569"/>
                  </a:ext>
                </a:extLst>
              </a:tr>
              <a:tr h="3321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strike="noStrike">
                          <a:solidFill>
                            <a:srgbClr val="0366D6"/>
                          </a:solidFill>
                          <a:effectLst/>
                          <a:hlinkClick r:id="rId2"/>
                        </a:rPr>
                        <a:t>$sum</a:t>
                      </a:r>
                      <a:endParaRPr lang="en-US" sz="1600">
                        <a:effectLst/>
                      </a:endParaRPr>
                    </a:p>
                  </a:txBody>
                  <a:tcPr marL="107978" marR="107978" marT="49836" marB="4983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return a sum of numerical values. Ignore non-numeric values.</a:t>
                      </a:r>
                    </a:p>
                  </a:txBody>
                  <a:tcPr marL="107978" marR="107978" marT="49836" marB="49836" anchor="ctr"/>
                </a:tc>
                <a:extLst>
                  <a:ext uri="{0D108BD9-81ED-4DB2-BD59-A6C34878D82A}">
                    <a16:rowId xmlns:a16="http://schemas.microsoft.com/office/drawing/2014/main" val="2440333643"/>
                  </a:ext>
                </a:extLst>
              </a:tr>
              <a:tr h="437373">
                <a:tc>
                  <a:txBody>
                    <a:bodyPr/>
                    <a:lstStyle/>
                    <a:p>
                      <a:pPr algn="l"/>
                      <a:r>
                        <a:rPr lang="en-US" sz="1600" u="none" strike="noStrike">
                          <a:solidFill>
                            <a:srgbClr val="0366D6"/>
                          </a:solidFill>
                          <a:effectLst/>
                          <a:hlinkClick r:id="rId3"/>
                        </a:rPr>
                        <a:t>$avg</a:t>
                      </a:r>
                      <a:endParaRPr lang="en-US" sz="1600">
                        <a:effectLst/>
                      </a:endParaRPr>
                    </a:p>
                  </a:txBody>
                  <a:tcPr marL="107978" marR="107978" marT="49836" marB="4983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returns an average of numerical values. Ignore non-numeric values.</a:t>
                      </a:r>
                    </a:p>
                  </a:txBody>
                  <a:tcPr marL="107978" marR="107978" marT="49836" marB="49836" anchor="ctr"/>
                </a:tc>
                <a:extLst>
                  <a:ext uri="{0D108BD9-81ED-4DB2-BD59-A6C34878D82A}">
                    <a16:rowId xmlns:a16="http://schemas.microsoft.com/office/drawing/2014/main" val="2264500420"/>
                  </a:ext>
                </a:extLst>
              </a:tr>
              <a:tr h="491418">
                <a:tc>
                  <a:txBody>
                    <a:bodyPr/>
                    <a:lstStyle/>
                    <a:p>
                      <a:pPr algn="l"/>
                      <a:r>
                        <a:rPr lang="en-US" sz="1600" u="none" strike="noStrike">
                          <a:solidFill>
                            <a:srgbClr val="0366D6"/>
                          </a:solidFill>
                          <a:effectLst/>
                          <a:hlinkClick r:id="rId4"/>
                        </a:rPr>
                        <a:t>$first</a:t>
                      </a:r>
                      <a:endParaRPr lang="en-US" sz="1600">
                        <a:effectLst/>
                      </a:endParaRPr>
                    </a:p>
                  </a:txBody>
                  <a:tcPr marL="107978" marR="107978" marT="49836" marB="4983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returns a value from the first document for each group. Order is only defined if the documents are in a defined order.</a:t>
                      </a:r>
                    </a:p>
                  </a:txBody>
                  <a:tcPr marL="107978" marR="107978" marT="49836" marB="49836" anchor="ctr"/>
                </a:tc>
                <a:extLst>
                  <a:ext uri="{0D108BD9-81ED-4DB2-BD59-A6C34878D82A}">
                    <a16:rowId xmlns:a16="http://schemas.microsoft.com/office/drawing/2014/main" val="4167229826"/>
                  </a:ext>
                </a:extLst>
              </a:tr>
              <a:tr h="287405">
                <a:tc>
                  <a:txBody>
                    <a:bodyPr/>
                    <a:lstStyle/>
                    <a:p>
                      <a:pPr algn="l"/>
                      <a:r>
                        <a:rPr lang="en-US" sz="1600" u="none" strike="noStrike">
                          <a:solidFill>
                            <a:srgbClr val="0366D6"/>
                          </a:solidFill>
                          <a:effectLst/>
                          <a:hlinkClick r:id="rId5"/>
                        </a:rPr>
                        <a:t>$last</a:t>
                      </a:r>
                      <a:endParaRPr lang="en-US" sz="1600">
                        <a:effectLst/>
                      </a:endParaRPr>
                    </a:p>
                  </a:txBody>
                  <a:tcPr marL="107978" marR="107978" marT="49836" marB="4983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similar to above but returns last document.</a:t>
                      </a:r>
                    </a:p>
                  </a:txBody>
                  <a:tcPr marL="107978" marR="107978" marT="49836" marB="49836" anchor="ctr"/>
                </a:tc>
                <a:extLst>
                  <a:ext uri="{0D108BD9-81ED-4DB2-BD59-A6C34878D82A}">
                    <a16:rowId xmlns:a16="http://schemas.microsoft.com/office/drawing/2014/main" val="3158300333"/>
                  </a:ext>
                </a:extLst>
              </a:tr>
              <a:tr h="287405">
                <a:tc>
                  <a:txBody>
                    <a:bodyPr/>
                    <a:lstStyle/>
                    <a:p>
                      <a:pPr algn="l"/>
                      <a:r>
                        <a:rPr lang="en-US" sz="1600" u="none" strike="noStrike">
                          <a:solidFill>
                            <a:srgbClr val="0366D6"/>
                          </a:solidFill>
                          <a:effectLst/>
                          <a:hlinkClick r:id="rId6"/>
                        </a:rPr>
                        <a:t>$max</a:t>
                      </a:r>
                      <a:endParaRPr lang="en-US" sz="1600">
                        <a:effectLst/>
                      </a:endParaRPr>
                    </a:p>
                  </a:txBody>
                  <a:tcPr marL="107978" marR="107978" marT="49836" marB="4983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returns the highest expression value for each group.</a:t>
                      </a:r>
                    </a:p>
                  </a:txBody>
                  <a:tcPr marL="107978" marR="107978" marT="49836" marB="49836" anchor="ctr"/>
                </a:tc>
                <a:extLst>
                  <a:ext uri="{0D108BD9-81ED-4DB2-BD59-A6C34878D82A}">
                    <a16:rowId xmlns:a16="http://schemas.microsoft.com/office/drawing/2014/main" val="2755613910"/>
                  </a:ext>
                </a:extLst>
              </a:tr>
              <a:tr h="287405">
                <a:tc>
                  <a:txBody>
                    <a:bodyPr/>
                    <a:lstStyle/>
                    <a:p>
                      <a:pPr algn="l"/>
                      <a:r>
                        <a:rPr lang="en-US" sz="1600" u="none" strike="noStrike">
                          <a:solidFill>
                            <a:srgbClr val="0366D6"/>
                          </a:solidFill>
                          <a:effectLst/>
                          <a:hlinkClick r:id="rId7" invalidUrl="https://docs.mongodb.com/manual/reference/operator/aggregation/min/&lt;Paste&gt;"/>
                        </a:rPr>
                        <a:t>$min</a:t>
                      </a:r>
                      <a:endParaRPr lang="en-US" sz="1600">
                        <a:effectLst/>
                      </a:endParaRPr>
                    </a:p>
                  </a:txBody>
                  <a:tcPr marL="107978" marR="107978" marT="49836" marB="4983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similar to above but returns the lowest</a:t>
                      </a:r>
                    </a:p>
                  </a:txBody>
                  <a:tcPr marL="107978" marR="107978" marT="49836" marB="49836" anchor="ctr"/>
                </a:tc>
                <a:extLst>
                  <a:ext uri="{0D108BD9-81ED-4DB2-BD59-A6C34878D82A}">
                    <a16:rowId xmlns:a16="http://schemas.microsoft.com/office/drawing/2014/main" val="3554325153"/>
                  </a:ext>
                </a:extLst>
              </a:tr>
              <a:tr h="287405">
                <a:tc>
                  <a:txBody>
                    <a:bodyPr/>
                    <a:lstStyle/>
                    <a:p>
                      <a:pPr algn="l"/>
                      <a:r>
                        <a:rPr lang="en-US" sz="1600" u="none" strike="noStrike">
                          <a:solidFill>
                            <a:srgbClr val="0366D6"/>
                          </a:solidFill>
                          <a:effectLst/>
                          <a:hlinkClick r:id="rId8"/>
                        </a:rPr>
                        <a:t>$push</a:t>
                      </a:r>
                      <a:endParaRPr lang="en-US" sz="1600">
                        <a:effectLst/>
                      </a:endParaRPr>
                    </a:p>
                  </a:txBody>
                  <a:tcPr marL="107978" marR="107978" marT="49836" marB="4983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return an array of expression values for each group.</a:t>
                      </a:r>
                    </a:p>
                  </a:txBody>
                  <a:tcPr marL="107978" marR="107978" marT="49836" marB="49836" anchor="ctr"/>
                </a:tc>
                <a:extLst>
                  <a:ext uri="{0D108BD9-81ED-4DB2-BD59-A6C34878D82A}">
                    <a16:rowId xmlns:a16="http://schemas.microsoft.com/office/drawing/2014/main" val="3772778507"/>
                  </a:ext>
                </a:extLst>
              </a:tr>
              <a:tr h="3321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strike="noStrike">
                          <a:solidFill>
                            <a:srgbClr val="0366D6"/>
                          </a:solidFill>
                          <a:effectLst/>
                          <a:hlinkClick r:id="rId9"/>
                        </a:rPr>
                        <a:t>$addToSet</a:t>
                      </a:r>
                      <a:endParaRPr lang="en-US" sz="1600">
                        <a:effectLst/>
                      </a:endParaRPr>
                    </a:p>
                  </a:txBody>
                  <a:tcPr marL="107978" marR="107978" marT="49836" marB="4983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returns an array of unique expression values for each group</a:t>
                      </a:r>
                    </a:p>
                  </a:txBody>
                  <a:tcPr marL="107978" marR="107978" marT="49836" marB="49836" anchor="ctr"/>
                </a:tc>
                <a:extLst>
                  <a:ext uri="{0D108BD9-81ED-4DB2-BD59-A6C34878D82A}">
                    <a16:rowId xmlns:a16="http://schemas.microsoft.com/office/drawing/2014/main" val="3242649388"/>
                  </a:ext>
                </a:extLst>
              </a:tr>
              <a:tr h="3321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strike="noStrike">
                          <a:solidFill>
                            <a:srgbClr val="0366D6"/>
                          </a:solidFill>
                          <a:effectLst/>
                          <a:hlinkClick r:id="rId10"/>
                        </a:rPr>
                        <a:t>$stdDevPop</a:t>
                      </a:r>
                      <a:endParaRPr lang="en-US" sz="1600">
                        <a:effectLst/>
                      </a:endParaRPr>
                    </a:p>
                  </a:txBody>
                  <a:tcPr marL="107978" marR="107978" marT="49836" marB="4983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returns the population standard deviation of the input values.</a:t>
                      </a:r>
                    </a:p>
                  </a:txBody>
                  <a:tcPr marL="107978" marR="107978" marT="49836" marB="49836" anchor="ctr"/>
                </a:tc>
                <a:extLst>
                  <a:ext uri="{0D108BD9-81ED-4DB2-BD59-A6C34878D82A}">
                    <a16:rowId xmlns:a16="http://schemas.microsoft.com/office/drawing/2014/main" val="2181575873"/>
                  </a:ext>
                </a:extLst>
              </a:tr>
              <a:tr h="437373">
                <a:tc>
                  <a:txBody>
                    <a:bodyPr/>
                    <a:lstStyle/>
                    <a:p>
                      <a:pPr algn="l"/>
                      <a:r>
                        <a:rPr lang="en-US" sz="1600" u="none" strike="noStrike" dirty="0">
                          <a:solidFill>
                            <a:srgbClr val="0366D6"/>
                          </a:solidFill>
                          <a:effectLst/>
                          <a:hlinkClick r:id="rId11"/>
                        </a:rPr>
                        <a:t>$stdDevSamp</a:t>
                      </a:r>
                      <a:endParaRPr lang="en-US" sz="1600" dirty="0">
                        <a:effectLst/>
                      </a:endParaRPr>
                    </a:p>
                  </a:txBody>
                  <a:tcPr marL="107978" marR="107978" marT="49836" marB="49836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returns the sample standard deviation of the input values.</a:t>
                      </a:r>
                    </a:p>
                  </a:txBody>
                  <a:tcPr marL="107978" marR="107978" marT="49836" marB="49836" anchor="ctr"/>
                </a:tc>
                <a:extLst>
                  <a:ext uri="{0D108BD9-81ED-4DB2-BD59-A6C34878D82A}">
                    <a16:rowId xmlns:a16="http://schemas.microsoft.com/office/drawing/2014/main" val="4187944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74696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BCFB-D678-4B6C-8BAC-509E3EF67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 (Return average city population by state)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661BD-34F4-4D31-9413-58C5966D4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Two group stages:</a:t>
            </a:r>
          </a:p>
          <a:p>
            <a:pPr lvl="1"/>
            <a:r>
              <a:rPr lang="en-US" dirty="0"/>
              <a:t>The first groups the documents by the combination of city and state. It then uses the $sum aggregation to get  the total population for each combination of city and state</a:t>
            </a:r>
          </a:p>
          <a:p>
            <a:pPr lvl="1"/>
            <a:r>
              <a:rPr lang="en-US" dirty="0"/>
              <a:t>The second $group stage groups the above results by state. It then averages that grouping and assigns that value to the </a:t>
            </a:r>
            <a:r>
              <a:rPr lang="en-US" dirty="0" err="1"/>
              <a:t>avgCityPop</a:t>
            </a:r>
            <a:r>
              <a:rPr lang="en-US" dirty="0"/>
              <a:t> field.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2744732-7697-49F4-95A1-7EF9EC71E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7347" y="2001794"/>
            <a:ext cx="8873776" cy="1231106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db.zipcodes.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6F42C1"/>
                </a:solidFill>
                <a:effectLst/>
                <a:latin typeface="SFMono-Regular"/>
              </a:rPr>
              <a:t>aggregate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( [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	{ $group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state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"$state"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city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"$city"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}, pop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$sum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"$pop"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 } 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24292E"/>
                </a:solidFill>
                <a:latin typeface="SFMono-Regular"/>
              </a:rPr>
              <a:t>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{ $group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_id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"$_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id.state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avgCityPop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$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avg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"$pop"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 }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] 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154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97B23-8B0A-4DB6-8270-F0888C460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 (Return largest and smallest cities by state)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1DE5EA-617F-43D4-B2DC-296A44FF25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60321" y="1598355"/>
            <a:ext cx="5831789" cy="5170646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db.zipcodes.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6F42C1"/>
                </a:solidFill>
                <a:effectLst/>
                <a:latin typeface="SFMono-Regular"/>
              </a:rPr>
              <a:t>aggregate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( [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{ $group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_id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state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"$state"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"$city"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pop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$sum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"$pop"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{ $sort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pop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 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{ $group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_id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"$_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id.state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biggestCity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$last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"$_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id.city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biggestPop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$last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"$pop"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smallestCity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$first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"$_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id.city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smallestPop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$first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"$pop"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737D"/>
                </a:solidFill>
                <a:effectLst/>
                <a:latin typeface="SFMono-Regular"/>
              </a:rPr>
              <a:t>// the following $project is optional, and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737D"/>
                </a:solidFill>
                <a:effectLst/>
                <a:latin typeface="SFMono-Regular"/>
              </a:rPr>
              <a:t>// modifies the output format.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{ $project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{ _id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state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"$_id"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biggestCity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biggestCity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pop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biggestPop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smallestCity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smallestCity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pop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smallestPop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},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{$sort: {state: 1}}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24292E"/>
              </a:solidFill>
              <a:effectLst/>
              <a:latin typeface="SFMono-Regula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] 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379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D71DC-CDF0-4737-BEB1-1CDB0A5D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largest and smallest cities by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8FF68-65DB-4962-B79F-2DDA90DD6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aggregation pipeline has a $group stage, a $sort stage, another $group, and then a $project stage and a final $sort stage</a:t>
            </a:r>
          </a:p>
          <a:p>
            <a:pPr lvl="1"/>
            <a:r>
              <a:rPr lang="en-US" dirty="0"/>
              <a:t>The first $group stage groups documents by combination of the city and state and calculate the sum of the population.</a:t>
            </a:r>
          </a:p>
          <a:p>
            <a:pPr lvl="1"/>
            <a:r>
              <a:rPr lang="en-US" dirty="0"/>
              <a:t>The $sort stage orders the documents by the pop field value from smallest to largest.</a:t>
            </a:r>
          </a:p>
          <a:p>
            <a:pPr lvl="1"/>
            <a:r>
              <a:rPr lang="en-US" dirty="0"/>
              <a:t>The second $group stage groups the new sorted documents by the _</a:t>
            </a:r>
            <a:r>
              <a:rPr lang="en-US" dirty="0" err="1"/>
              <a:t>id.state</a:t>
            </a:r>
            <a:r>
              <a:rPr lang="en-US" dirty="0"/>
              <a:t> field and outputs a document for each state.</a:t>
            </a:r>
          </a:p>
          <a:p>
            <a:pPr lvl="1"/>
            <a:r>
              <a:rPr lang="en-US" dirty="0"/>
              <a:t>Last $project stage rename _id field to state and moves the </a:t>
            </a:r>
            <a:r>
              <a:rPr lang="en-US" dirty="0" err="1"/>
              <a:t>biggestCity</a:t>
            </a:r>
            <a:r>
              <a:rPr lang="en-US" dirty="0"/>
              <a:t>, </a:t>
            </a:r>
            <a:r>
              <a:rPr lang="en-US" dirty="0" err="1"/>
              <a:t>biggestPop</a:t>
            </a:r>
            <a:r>
              <a:rPr lang="en-US" dirty="0"/>
              <a:t>, </a:t>
            </a:r>
            <a:r>
              <a:rPr lang="en-US" dirty="0" err="1"/>
              <a:t>smallestCity</a:t>
            </a:r>
            <a:r>
              <a:rPr lang="en-US" dirty="0"/>
              <a:t> and </a:t>
            </a:r>
            <a:r>
              <a:rPr lang="en-US" dirty="0" err="1"/>
              <a:t>smallestPop</a:t>
            </a:r>
            <a:r>
              <a:rPr lang="en-US" dirty="0"/>
              <a:t> into </a:t>
            </a:r>
            <a:r>
              <a:rPr lang="en-US" dirty="0" err="1"/>
              <a:t>biggestCity</a:t>
            </a:r>
            <a:r>
              <a:rPr lang="en-US" dirty="0"/>
              <a:t> and </a:t>
            </a:r>
            <a:r>
              <a:rPr lang="en-US" dirty="0" err="1"/>
              <a:t>smallestCity</a:t>
            </a:r>
            <a:r>
              <a:rPr lang="en-US" dirty="0"/>
              <a:t> embedded documents.</a:t>
            </a:r>
          </a:p>
          <a:p>
            <a:pPr lvl="1"/>
            <a:r>
              <a:rPr lang="en-US" dirty="0"/>
              <a:t>Last $sort stage sorts the list by state</a:t>
            </a:r>
          </a:p>
        </p:txBody>
      </p:sp>
    </p:spTree>
    <p:extLst>
      <p:ext uri="{BB962C8B-B14F-4D97-AF65-F5344CB8AC3E}">
        <p14:creationId xmlns:p14="http://schemas.microsoft.com/office/powerpoint/2010/main" val="10045937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826F-A443-E5B3-4E81-754916946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$lookup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A3A54-3AD6-18C6-B76D-20CAD88CC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1E2B"/>
                </a:solidFill>
                <a:effectLst/>
                <a:latin typeface="Euclid Circular A"/>
              </a:rPr>
              <a:t>Performs a left outer join to a collection in the </a:t>
            </a:r>
            <a:r>
              <a:rPr lang="en-US" b="0" i="1" dirty="0">
                <a:solidFill>
                  <a:srgbClr val="001E2B"/>
                </a:solidFill>
                <a:effectLst/>
                <a:latin typeface="Euclid Circular A"/>
              </a:rPr>
              <a:t>same</a:t>
            </a:r>
            <a:r>
              <a:rPr lang="en-US" b="0" i="0" dirty="0">
                <a:solidFill>
                  <a:srgbClr val="001E2B"/>
                </a:solidFill>
                <a:effectLst/>
                <a:latin typeface="Euclid Circular A"/>
              </a:rPr>
              <a:t> database to filter in documents from the "joined" collection for processing. The </a:t>
            </a:r>
            <a:r>
              <a:rPr lang="en-US" b="0" i="0" u="none" strike="noStrike" dirty="0">
                <a:solidFill>
                  <a:srgbClr val="016BF8"/>
                </a:solidFill>
                <a:effectLst/>
                <a:latin typeface="Euclid Circular A"/>
                <a:hlinkClick r:id="rId2"/>
              </a:rPr>
              <a:t>$lookup</a:t>
            </a:r>
            <a:r>
              <a:rPr lang="en-US" b="0" i="0" dirty="0">
                <a:solidFill>
                  <a:srgbClr val="001E2B"/>
                </a:solidFill>
                <a:effectLst/>
                <a:latin typeface="Euclid Circular A"/>
              </a:rPr>
              <a:t> stage adds a new array field to each input document. The new array field contains the matching documents from the "joined" collection. The </a:t>
            </a:r>
            <a:r>
              <a:rPr lang="en-US" b="0" i="0" u="none" strike="noStrike" dirty="0">
                <a:solidFill>
                  <a:srgbClr val="016BF8"/>
                </a:solidFill>
                <a:effectLst/>
                <a:latin typeface="Euclid Circular A"/>
                <a:hlinkClick r:id="rId2"/>
              </a:rPr>
              <a:t>$lookup</a:t>
            </a:r>
            <a:r>
              <a:rPr lang="en-US" b="0" i="0" dirty="0">
                <a:solidFill>
                  <a:srgbClr val="001E2B"/>
                </a:solidFill>
                <a:effectLst/>
                <a:latin typeface="Euclid Circular A"/>
              </a:rPr>
              <a:t> stage passes these reshaped documents to the next stage.</a:t>
            </a:r>
          </a:p>
          <a:p>
            <a:pPr algn="l"/>
            <a:r>
              <a:rPr lang="en-US" b="0" i="0" dirty="0">
                <a:solidFill>
                  <a:srgbClr val="001E2B"/>
                </a:solidFill>
                <a:effectLst/>
                <a:latin typeface="Euclid Circular A"/>
              </a:rPr>
              <a:t>Starting in MongoDB 5.1, </a:t>
            </a:r>
            <a:r>
              <a:rPr lang="en-US" b="0" i="0" u="none" strike="noStrike" dirty="0">
                <a:solidFill>
                  <a:srgbClr val="016BF8"/>
                </a:solidFill>
                <a:effectLst/>
                <a:latin typeface="Euclid Circular A"/>
                <a:hlinkClick r:id="rId2"/>
              </a:rPr>
              <a:t>$lookup</a:t>
            </a:r>
            <a:r>
              <a:rPr lang="en-US" b="0" i="0" dirty="0">
                <a:solidFill>
                  <a:srgbClr val="001E2B"/>
                </a:solidFill>
                <a:effectLst/>
                <a:latin typeface="Euclid Circular A"/>
              </a:rPr>
              <a:t> works across sharded collections.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0369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45064-3D65-EB44-8D6F-96DF08C51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$lookup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7A419-4B66-4A4D-9D18-31EF0E4CB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644518"/>
          </a:xfrm>
        </p:spPr>
        <p:txBody>
          <a:bodyPr>
            <a:normAutofit lnSpcReduction="10000"/>
          </a:bodyPr>
          <a:lstStyle/>
          <a:p>
            <a:r>
              <a:rPr lang="en-US" sz="1600" dirty="0"/>
              <a:t>Can also be thought of as a </a:t>
            </a:r>
            <a:r>
              <a:rPr lang="en-US" sz="1600" dirty="0" err="1"/>
              <a:t>subselect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 $lookup:</a:t>
            </a:r>
          </a:p>
          <a:p>
            <a:r>
              <a:rPr lang="en-US" sz="1600" dirty="0"/>
              <a:t>     {</a:t>
            </a:r>
          </a:p>
          <a:p>
            <a:r>
              <a:rPr lang="en-US" sz="1600" dirty="0"/>
              <a:t>       from: &lt;collection to join&gt;,</a:t>
            </a:r>
          </a:p>
          <a:p>
            <a:r>
              <a:rPr lang="en-US" sz="1600" dirty="0"/>
              <a:t>       </a:t>
            </a:r>
            <a:r>
              <a:rPr lang="en-US" sz="1600" dirty="0" err="1"/>
              <a:t>localField</a:t>
            </a:r>
            <a:r>
              <a:rPr lang="en-US" sz="1600" dirty="0"/>
              <a:t>: &lt;field from the input documents&gt;,</a:t>
            </a:r>
          </a:p>
          <a:p>
            <a:r>
              <a:rPr lang="en-US" sz="1600" dirty="0"/>
              <a:t>       </a:t>
            </a:r>
            <a:r>
              <a:rPr lang="en-US" sz="1600" dirty="0" err="1"/>
              <a:t>foreignField</a:t>
            </a:r>
            <a:r>
              <a:rPr lang="en-US" sz="1600" dirty="0"/>
              <a:t>: &lt;field from the documents of the "from" collection&gt;,</a:t>
            </a:r>
          </a:p>
          <a:p>
            <a:r>
              <a:rPr lang="en-US" sz="1600" dirty="0"/>
              <a:t>       as: &lt;output array field&gt;</a:t>
            </a:r>
          </a:p>
          <a:p>
            <a:r>
              <a:rPr lang="en-US" sz="1600" dirty="0"/>
              <a:t>     }</a:t>
            </a:r>
          </a:p>
          <a:p>
            <a:r>
              <a:rPr lang="en-US" sz="1600" dirty="0"/>
              <a:t>}</a:t>
            </a:r>
          </a:p>
          <a:p>
            <a:pPr marL="0" indent="0">
              <a:buNone/>
            </a:pPr>
            <a:r>
              <a:rPr lang="en-US" sz="1600" dirty="0"/>
              <a:t>https://</a:t>
            </a:r>
            <a:r>
              <a:rPr lang="en-US" sz="1600" dirty="0" err="1"/>
              <a:t>docs.mongodb.com</a:t>
            </a:r>
            <a:r>
              <a:rPr lang="en-US" sz="1600" dirty="0"/>
              <a:t>/manual/reference/operator/aggregation/lookup/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586B84-9D9A-9A4D-BC6F-D0A8EDA12491}"/>
              </a:ext>
            </a:extLst>
          </p:cNvPr>
          <p:cNvSpPr txBox="1"/>
          <p:nvPr/>
        </p:nvSpPr>
        <p:spPr>
          <a:xfrm>
            <a:off x="7096539" y="2136668"/>
            <a:ext cx="4939749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SELECT *, &lt;output array field&gt;</a:t>
            </a:r>
          </a:p>
          <a:p>
            <a:r>
              <a:rPr lang="en-US" dirty="0"/>
              <a:t>FROM collection</a:t>
            </a:r>
          </a:p>
          <a:p>
            <a:r>
              <a:rPr lang="en-US" dirty="0"/>
              <a:t>WHERE &lt;output array field&gt; IN (</a:t>
            </a:r>
          </a:p>
          <a:p>
            <a:r>
              <a:rPr lang="en-US" dirty="0"/>
              <a:t>   SELECT *</a:t>
            </a:r>
          </a:p>
          <a:p>
            <a:r>
              <a:rPr lang="en-US" dirty="0"/>
              <a:t>   FROM &lt;collection to join&gt;</a:t>
            </a:r>
          </a:p>
          <a:p>
            <a:r>
              <a:rPr lang="en-US" dirty="0"/>
              <a:t>   WHERE &lt;</a:t>
            </a:r>
            <a:r>
              <a:rPr lang="en-US" dirty="0" err="1"/>
              <a:t>foreignField</a:t>
            </a:r>
            <a:r>
              <a:rPr lang="en-US" dirty="0"/>
              <a:t>&gt; = &lt;</a:t>
            </a:r>
            <a:r>
              <a:rPr lang="en-US" dirty="0" err="1"/>
              <a:t>collection.localField</a:t>
            </a:r>
            <a:r>
              <a:rPr lang="en-US" dirty="0"/>
              <a:t>&gt;</a:t>
            </a:r>
          </a:p>
          <a:p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3515590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087EC-54C3-6F4F-9EDF-B6BB4641F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$lookup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4861F-E251-9345-93A6-5975F7778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200" dirty="0" err="1"/>
              <a:t>db.orders.insert</a:t>
            </a:r>
            <a:r>
              <a:rPr lang="en-US" sz="1200" dirty="0"/>
              <a:t>([</a:t>
            </a:r>
          </a:p>
          <a:p>
            <a:r>
              <a:rPr lang="en-US" sz="1200" dirty="0"/>
              <a:t>   { "_id" : 1, "item" : "almonds", "price" : 12, "quantity" : 2 },</a:t>
            </a:r>
          </a:p>
          <a:p>
            <a:r>
              <a:rPr lang="en-US" sz="1200" dirty="0"/>
              <a:t>   { "_id" : 2, "item" : "pecans", "price" : 20, "quantity" : 1 },</a:t>
            </a:r>
          </a:p>
          <a:p>
            <a:r>
              <a:rPr lang="en-US" sz="1200" dirty="0"/>
              <a:t>   { "_id" : 3  }</a:t>
            </a:r>
          </a:p>
          <a:p>
            <a:r>
              <a:rPr lang="en-US" sz="1200" dirty="0"/>
              <a:t>])</a:t>
            </a:r>
          </a:p>
          <a:p>
            <a:r>
              <a:rPr lang="en-US" sz="1200" dirty="0" err="1"/>
              <a:t>db.inventory.insert</a:t>
            </a:r>
            <a:r>
              <a:rPr lang="en-US" sz="1200" dirty="0"/>
              <a:t>([</a:t>
            </a:r>
          </a:p>
          <a:p>
            <a:r>
              <a:rPr lang="en-US" sz="1200" dirty="0"/>
              <a:t>   { "_id" : 1, "</a:t>
            </a:r>
            <a:r>
              <a:rPr lang="en-US" sz="1200" dirty="0" err="1"/>
              <a:t>sku</a:t>
            </a:r>
            <a:r>
              <a:rPr lang="en-US" sz="1200" dirty="0"/>
              <a:t>" : "almonds", "description": "product 1", "</a:t>
            </a:r>
            <a:r>
              <a:rPr lang="en-US" sz="1200" dirty="0" err="1"/>
              <a:t>instock</a:t>
            </a:r>
            <a:r>
              <a:rPr lang="en-US" sz="1200" dirty="0"/>
              <a:t>" : 120 },</a:t>
            </a:r>
          </a:p>
          <a:p>
            <a:r>
              <a:rPr lang="en-US" sz="1200" dirty="0"/>
              <a:t>   { "_id" : 2, "</a:t>
            </a:r>
            <a:r>
              <a:rPr lang="en-US" sz="1200" dirty="0" err="1"/>
              <a:t>sku</a:t>
            </a:r>
            <a:r>
              <a:rPr lang="en-US" sz="1200" dirty="0"/>
              <a:t>" : "bread", "description": "product 2", "</a:t>
            </a:r>
            <a:r>
              <a:rPr lang="en-US" sz="1200" dirty="0" err="1"/>
              <a:t>instock</a:t>
            </a:r>
            <a:r>
              <a:rPr lang="en-US" sz="1200" dirty="0"/>
              <a:t>" : 80 },</a:t>
            </a:r>
          </a:p>
          <a:p>
            <a:r>
              <a:rPr lang="en-US" sz="1200" dirty="0"/>
              <a:t>   { "_id" : 3, "</a:t>
            </a:r>
            <a:r>
              <a:rPr lang="en-US" sz="1200" dirty="0" err="1"/>
              <a:t>sku</a:t>
            </a:r>
            <a:r>
              <a:rPr lang="en-US" sz="1200" dirty="0"/>
              <a:t>" : "cashews", "description": "product 3", "</a:t>
            </a:r>
            <a:r>
              <a:rPr lang="en-US" sz="1200" dirty="0" err="1"/>
              <a:t>instock</a:t>
            </a:r>
            <a:r>
              <a:rPr lang="en-US" sz="1200" dirty="0"/>
              <a:t>" : 60 },</a:t>
            </a:r>
          </a:p>
          <a:p>
            <a:r>
              <a:rPr lang="en-US" sz="1200" dirty="0"/>
              <a:t>   { "_id" : 4, "</a:t>
            </a:r>
            <a:r>
              <a:rPr lang="en-US" sz="1200" dirty="0" err="1"/>
              <a:t>sku</a:t>
            </a:r>
            <a:r>
              <a:rPr lang="en-US" sz="1200" dirty="0"/>
              <a:t>" : "pecans", "description": "product 4", "</a:t>
            </a:r>
            <a:r>
              <a:rPr lang="en-US" sz="1200" dirty="0" err="1"/>
              <a:t>instock</a:t>
            </a:r>
            <a:r>
              <a:rPr lang="en-US" sz="1200" dirty="0"/>
              <a:t>" : 70 },</a:t>
            </a:r>
          </a:p>
          <a:p>
            <a:r>
              <a:rPr lang="en-US" sz="1200" dirty="0"/>
              <a:t>   { "_id" : 5, "</a:t>
            </a:r>
            <a:r>
              <a:rPr lang="en-US" sz="1200" dirty="0" err="1"/>
              <a:t>sku</a:t>
            </a:r>
            <a:r>
              <a:rPr lang="en-US" sz="1200" dirty="0"/>
              <a:t>": null, "description": "Incomplete" },</a:t>
            </a:r>
          </a:p>
          <a:p>
            <a:r>
              <a:rPr lang="en-US" sz="1200" dirty="0"/>
              <a:t>   { "_id" : 6 }</a:t>
            </a:r>
          </a:p>
          <a:p>
            <a:r>
              <a:rPr lang="en-US" sz="1200" dirty="0"/>
              <a:t>])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C5D1EF8-CC8F-23E5-C365-4F6A94B3F1BD}"/>
              </a:ext>
            </a:extLst>
          </p:cNvPr>
          <p:cNvSpPr txBox="1">
            <a:spLocks/>
          </p:cNvSpPr>
          <p:nvPr/>
        </p:nvSpPr>
        <p:spPr>
          <a:xfrm>
            <a:off x="7865828" y="1954108"/>
            <a:ext cx="3047337" cy="4023360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db.orders.aggregate([</a:t>
            </a:r>
          </a:p>
          <a:p>
            <a:r>
              <a:rPr lang="en-US"/>
              <a:t>   {</a:t>
            </a:r>
          </a:p>
          <a:p>
            <a:r>
              <a:rPr lang="en-US"/>
              <a:t>     $lookup:</a:t>
            </a:r>
          </a:p>
          <a:p>
            <a:r>
              <a:rPr lang="en-US"/>
              <a:t>       {</a:t>
            </a:r>
          </a:p>
          <a:p>
            <a:r>
              <a:rPr lang="en-US"/>
              <a:t>         from: "inventory",</a:t>
            </a:r>
          </a:p>
          <a:p>
            <a:r>
              <a:rPr lang="en-US"/>
              <a:t>         localField: "item",</a:t>
            </a:r>
          </a:p>
          <a:p>
            <a:r>
              <a:rPr lang="en-US"/>
              <a:t>         foreignField: "sku",</a:t>
            </a:r>
          </a:p>
          <a:p>
            <a:r>
              <a:rPr lang="en-US"/>
              <a:t>         as: "inventory_docs"</a:t>
            </a:r>
          </a:p>
          <a:p>
            <a:r>
              <a:rPr lang="en-US"/>
              <a:t>       }</a:t>
            </a:r>
          </a:p>
          <a:p>
            <a:r>
              <a:rPr lang="en-US"/>
              <a:t>  }</a:t>
            </a:r>
          </a:p>
          <a:p>
            <a:r>
              <a:rPr lang="en-US"/>
              <a:t>])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4547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F231-DCA0-9047-B111-2C8403F02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$lookup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BF1D3-E383-5444-AFAC-7B78C05CF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047337" cy="4023360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db.orders.aggregate</a:t>
            </a:r>
            <a:r>
              <a:rPr lang="en-US" dirty="0"/>
              <a:t>([</a:t>
            </a:r>
          </a:p>
          <a:p>
            <a:r>
              <a:rPr lang="en-US" dirty="0"/>
              <a:t>   {</a:t>
            </a:r>
          </a:p>
          <a:p>
            <a:r>
              <a:rPr lang="en-US" dirty="0"/>
              <a:t>     $lookup:</a:t>
            </a:r>
          </a:p>
          <a:p>
            <a:r>
              <a:rPr lang="en-US" dirty="0"/>
              <a:t>       {</a:t>
            </a:r>
          </a:p>
          <a:p>
            <a:r>
              <a:rPr lang="en-US" dirty="0"/>
              <a:t>         from: "inventory",</a:t>
            </a:r>
          </a:p>
          <a:p>
            <a:r>
              <a:rPr lang="en-US" dirty="0"/>
              <a:t>         </a:t>
            </a:r>
            <a:r>
              <a:rPr lang="en-US" dirty="0" err="1"/>
              <a:t>localField</a:t>
            </a:r>
            <a:r>
              <a:rPr lang="en-US" dirty="0"/>
              <a:t>: "item",</a:t>
            </a:r>
          </a:p>
          <a:p>
            <a:r>
              <a:rPr lang="en-US" dirty="0"/>
              <a:t>         </a:t>
            </a:r>
            <a:r>
              <a:rPr lang="en-US" dirty="0" err="1"/>
              <a:t>foreignField</a:t>
            </a:r>
            <a:r>
              <a:rPr lang="en-US" dirty="0"/>
              <a:t>: "</a:t>
            </a:r>
            <a:r>
              <a:rPr lang="en-US" dirty="0" err="1"/>
              <a:t>sku</a:t>
            </a:r>
            <a:r>
              <a:rPr lang="en-US" dirty="0"/>
              <a:t>",</a:t>
            </a:r>
          </a:p>
          <a:p>
            <a:r>
              <a:rPr lang="en-US" dirty="0"/>
              <a:t>         as: "</a:t>
            </a:r>
            <a:r>
              <a:rPr lang="en-US" dirty="0" err="1"/>
              <a:t>inventory_docs</a:t>
            </a:r>
            <a:r>
              <a:rPr lang="en-US" dirty="0"/>
              <a:t>"</a:t>
            </a:r>
          </a:p>
          <a:p>
            <a:r>
              <a:rPr lang="en-US" dirty="0"/>
              <a:t>       }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])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A608FBD1-FBE2-A00D-1719-C5FEA9F78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304" y="227887"/>
            <a:ext cx="7031790" cy="59000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D0D8CC-B64E-E2B0-6727-F1EC6311C8B1}"/>
              </a:ext>
            </a:extLst>
          </p:cNvPr>
          <p:cNvSpPr txBox="1"/>
          <p:nvPr/>
        </p:nvSpPr>
        <p:spPr>
          <a:xfrm>
            <a:off x="1097280" y="6386731"/>
            <a:ext cx="9916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Select *, </a:t>
            </a:r>
            <a:r>
              <a:rPr lang="en-US" dirty="0" err="1"/>
              <a:t>inventory_docs</a:t>
            </a:r>
            <a:r>
              <a:rPr lang="en-US" dirty="0"/>
              <a:t> from orders left join inventory on </a:t>
            </a:r>
            <a:r>
              <a:rPr lang="en-US" dirty="0" err="1"/>
              <a:t>orders.item</a:t>
            </a:r>
            <a:r>
              <a:rPr lang="en-US" dirty="0"/>
              <a:t> = </a:t>
            </a:r>
            <a:r>
              <a:rPr lang="en-US" dirty="0" err="1"/>
              <a:t>inventory.sku</a:t>
            </a:r>
            <a:r>
              <a:rPr lang="en-US" dirty="0"/>
              <a:t>                 --- </a:t>
            </a:r>
            <a:r>
              <a:rPr lang="en-US" dirty="0" err="1"/>
              <a:t>kinda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43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7BC4F-9DF2-EC17-B006-647923067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$lookup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D541A-3D9A-467E-60A7-3AF849AC2758}"/>
              </a:ext>
            </a:extLst>
          </p:cNvPr>
          <p:cNvSpPr txBox="1"/>
          <p:nvPr/>
        </p:nvSpPr>
        <p:spPr>
          <a:xfrm>
            <a:off x="570022" y="2728962"/>
            <a:ext cx="87464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posts</a:t>
            </a:r>
          </a:p>
          <a:p>
            <a:r>
              <a:rPr lang="en-US" dirty="0"/>
              <a:t>{     "title" : "my first post",     		"author" : "Jim",     "likes" : 5 }, {     "title" : "my second post",     	"author" : "Jim",     "likes" : 2 }, {     "title" : "hello world",     		"author" : "Joe",     "likes" : 3 } 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comments</a:t>
            </a:r>
          </a:p>
          <a:p>
            <a:r>
              <a:rPr lang="en-US" dirty="0"/>
              <a:t>{     "</a:t>
            </a:r>
            <a:r>
              <a:rPr lang="en-US" dirty="0" err="1"/>
              <a:t>postTitle</a:t>
            </a:r>
            <a:r>
              <a:rPr lang="en-US" dirty="0"/>
              <a:t>" : "my first post",     		"comment" : "great read",     		"likes" : 3 }, {     "</a:t>
            </a:r>
            <a:r>
              <a:rPr lang="en-US" dirty="0" err="1"/>
              <a:t>postTitle</a:t>
            </a:r>
            <a:r>
              <a:rPr lang="en-US" dirty="0"/>
              <a:t>" : "my second post",     	"comment" : "good info",     		"likes" : 0 }, {     "</a:t>
            </a:r>
            <a:r>
              <a:rPr lang="en-US" dirty="0" err="1"/>
              <a:t>postTitle</a:t>
            </a:r>
            <a:r>
              <a:rPr lang="en-US" dirty="0"/>
              <a:t>" : "my second post",    	"comment" : "</a:t>
            </a:r>
            <a:r>
              <a:rPr lang="en-US" dirty="0" err="1"/>
              <a:t>i</a:t>
            </a:r>
            <a:r>
              <a:rPr lang="en-US" dirty="0"/>
              <a:t> liked this post",     	"likes" : 12 }, {     "</a:t>
            </a:r>
            <a:r>
              <a:rPr lang="en-US" dirty="0" err="1"/>
              <a:t>postTitle</a:t>
            </a:r>
            <a:r>
              <a:rPr lang="en-US" dirty="0"/>
              <a:t>" : "hello world",     		"comment" : "not my favorite",     	"likes" : 8 }, {     "</a:t>
            </a:r>
            <a:r>
              <a:rPr lang="en-US" dirty="0" err="1"/>
              <a:t>postTitle</a:t>
            </a:r>
            <a:r>
              <a:rPr lang="en-US" dirty="0"/>
              <a:t>" : "my last post",     		"comment" : null,     			"likes" : 0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8D1757-0EBC-FDD9-5064-91D19C51E4FE}"/>
              </a:ext>
            </a:extLst>
          </p:cNvPr>
          <p:cNvSpPr txBox="1"/>
          <p:nvPr/>
        </p:nvSpPr>
        <p:spPr>
          <a:xfrm>
            <a:off x="7143100" y="648407"/>
            <a:ext cx="4863548" cy="31695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db.posts.aggregate</a:t>
            </a:r>
            <a:r>
              <a:rPr lang="en-US" dirty="0"/>
              <a:t>([     </a:t>
            </a:r>
          </a:p>
          <a:p>
            <a:r>
              <a:rPr lang="en-US" dirty="0"/>
              <a:t>	{ </a:t>
            </a:r>
          </a:p>
          <a:p>
            <a:r>
              <a:rPr lang="en-US" dirty="0"/>
              <a:t>		$lookup:         </a:t>
            </a:r>
          </a:p>
          <a:p>
            <a:r>
              <a:rPr lang="en-US" dirty="0"/>
              <a:t>		{            </a:t>
            </a:r>
          </a:p>
          <a:p>
            <a:r>
              <a:rPr lang="en-US" dirty="0"/>
              <a:t>			from: "comments",            </a:t>
            </a:r>
          </a:p>
          <a:p>
            <a:r>
              <a:rPr lang="en-US" dirty="0"/>
              <a:t>			</a:t>
            </a:r>
            <a:r>
              <a:rPr lang="en-US" dirty="0" err="1"/>
              <a:t>localField</a:t>
            </a:r>
            <a:r>
              <a:rPr lang="en-US" dirty="0"/>
              <a:t>: "title",            </a:t>
            </a:r>
          </a:p>
          <a:p>
            <a:r>
              <a:rPr lang="en-US" dirty="0"/>
              <a:t>			</a:t>
            </a:r>
            <a:r>
              <a:rPr lang="en-US" dirty="0" err="1"/>
              <a:t>foreignField</a:t>
            </a:r>
            <a:r>
              <a:rPr lang="en-US" dirty="0"/>
              <a:t>: "</a:t>
            </a:r>
            <a:r>
              <a:rPr lang="en-US" dirty="0" err="1"/>
              <a:t>postTitle</a:t>
            </a:r>
            <a:r>
              <a:rPr lang="en-US" dirty="0"/>
              <a:t>",            </a:t>
            </a:r>
          </a:p>
          <a:p>
            <a:r>
              <a:rPr lang="en-US" dirty="0"/>
              <a:t>			as: "comments"         </a:t>
            </a:r>
          </a:p>
          <a:p>
            <a:r>
              <a:rPr lang="en-US" dirty="0"/>
              <a:t>		}     </a:t>
            </a:r>
          </a:p>
          <a:p>
            <a:r>
              <a:rPr lang="en-US" dirty="0"/>
              <a:t>	} </a:t>
            </a:r>
          </a:p>
          <a:p>
            <a:r>
              <a:rPr lang="en-US" dirty="0"/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8572748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045F-6F46-CCF7-95C2-997D43868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$lookup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89E309-0989-27A6-D4B4-B28FDF3CA54D}"/>
              </a:ext>
            </a:extLst>
          </p:cNvPr>
          <p:cNvSpPr txBox="1"/>
          <p:nvPr/>
        </p:nvSpPr>
        <p:spPr>
          <a:xfrm>
            <a:off x="1232452" y="2057400"/>
            <a:ext cx="4863548" cy="3169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db.posts.aggregate</a:t>
            </a:r>
            <a:r>
              <a:rPr lang="en-US" dirty="0"/>
              <a:t>([     </a:t>
            </a:r>
          </a:p>
          <a:p>
            <a:r>
              <a:rPr lang="en-US" dirty="0"/>
              <a:t>	{ </a:t>
            </a:r>
          </a:p>
          <a:p>
            <a:r>
              <a:rPr lang="en-US" dirty="0"/>
              <a:t>		$lookup:         </a:t>
            </a:r>
          </a:p>
          <a:p>
            <a:r>
              <a:rPr lang="en-US" dirty="0"/>
              <a:t>		{            </a:t>
            </a:r>
          </a:p>
          <a:p>
            <a:r>
              <a:rPr lang="en-US" dirty="0"/>
              <a:t>			from: "comments",            </a:t>
            </a:r>
          </a:p>
          <a:p>
            <a:r>
              <a:rPr lang="en-US" dirty="0"/>
              <a:t>			</a:t>
            </a:r>
            <a:r>
              <a:rPr lang="en-US" dirty="0" err="1"/>
              <a:t>localField</a:t>
            </a:r>
            <a:r>
              <a:rPr lang="en-US" dirty="0"/>
              <a:t>: "title",            </a:t>
            </a:r>
          </a:p>
          <a:p>
            <a:r>
              <a:rPr lang="en-US" dirty="0"/>
              <a:t>			</a:t>
            </a:r>
            <a:r>
              <a:rPr lang="en-US" dirty="0" err="1"/>
              <a:t>foreignField</a:t>
            </a:r>
            <a:r>
              <a:rPr lang="en-US" dirty="0"/>
              <a:t>: "</a:t>
            </a:r>
            <a:r>
              <a:rPr lang="en-US" dirty="0" err="1"/>
              <a:t>postTitle</a:t>
            </a:r>
            <a:r>
              <a:rPr lang="en-US" dirty="0"/>
              <a:t>",            </a:t>
            </a:r>
          </a:p>
          <a:p>
            <a:r>
              <a:rPr lang="en-US" dirty="0"/>
              <a:t>			as: "comments"         </a:t>
            </a:r>
          </a:p>
          <a:p>
            <a:r>
              <a:rPr lang="en-US" dirty="0"/>
              <a:t>		}     </a:t>
            </a:r>
          </a:p>
          <a:p>
            <a:r>
              <a:rPr lang="en-US" dirty="0"/>
              <a:t>	} </a:t>
            </a:r>
          </a:p>
          <a:p>
            <a:r>
              <a:rPr lang="en-US" dirty="0"/>
              <a:t>])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2B58B-2DD9-BCD2-076B-2F87F50B6882}"/>
              </a:ext>
            </a:extLst>
          </p:cNvPr>
          <p:cNvSpPr txBox="1"/>
          <p:nvPr/>
        </p:nvSpPr>
        <p:spPr>
          <a:xfrm>
            <a:off x="1361661" y="5645426"/>
            <a:ext cx="5854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posts left join comments on </a:t>
            </a:r>
            <a:r>
              <a:rPr lang="en-US" dirty="0" err="1"/>
              <a:t>posts.title</a:t>
            </a:r>
            <a:r>
              <a:rPr lang="en-US" dirty="0"/>
              <a:t> = </a:t>
            </a:r>
            <a:r>
              <a:rPr lang="en-US" dirty="0" err="1"/>
              <a:t>comments.postTitle</a:t>
            </a:r>
            <a:endParaRPr lang="en-US" dirty="0"/>
          </a:p>
          <a:p>
            <a:r>
              <a:rPr lang="en-US" dirty="0"/>
              <a:t>Place the joined objects in comments field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9171FC-FF7C-7ED5-4D35-BDD04143944D}"/>
              </a:ext>
            </a:extLst>
          </p:cNvPr>
          <p:cNvSpPr txBox="1"/>
          <p:nvPr/>
        </p:nvSpPr>
        <p:spPr>
          <a:xfrm>
            <a:off x="7474227" y="357809"/>
            <a:ext cx="4581938" cy="62478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{     	</a:t>
            </a:r>
          </a:p>
          <a:p>
            <a:r>
              <a:rPr lang="en-US" sz="1000" dirty="0"/>
              <a:t>	"title" : "my first post",    </a:t>
            </a:r>
          </a:p>
          <a:p>
            <a:r>
              <a:rPr lang="en-US" sz="1000" dirty="0"/>
              <a:t>	"author" : "Jim",     </a:t>
            </a:r>
          </a:p>
          <a:p>
            <a:r>
              <a:rPr lang="en-US" sz="1000" dirty="0"/>
              <a:t>	"likes" : 5,     </a:t>
            </a:r>
          </a:p>
          <a:p>
            <a:r>
              <a:rPr lang="en-US" sz="1000" dirty="0"/>
              <a:t>	"comments" : [         </a:t>
            </a:r>
          </a:p>
          <a:p>
            <a:r>
              <a:rPr lang="en-US" sz="1000" dirty="0"/>
              <a:t>		{             	"</a:t>
            </a:r>
            <a:r>
              <a:rPr lang="en-US" sz="1000" dirty="0" err="1"/>
              <a:t>postTitle</a:t>
            </a:r>
            <a:r>
              <a:rPr lang="en-US" sz="1000" dirty="0"/>
              <a:t>" : "my first post",            </a:t>
            </a:r>
          </a:p>
          <a:p>
            <a:r>
              <a:rPr lang="en-US" sz="1000" dirty="0"/>
              <a:t>			"comment" : "great read",             </a:t>
            </a:r>
          </a:p>
          <a:p>
            <a:r>
              <a:rPr lang="en-US" sz="1000" dirty="0"/>
              <a:t>			"likes" : 3        </a:t>
            </a:r>
          </a:p>
          <a:p>
            <a:r>
              <a:rPr lang="en-US" sz="1000" dirty="0"/>
              <a:t>		 }    </a:t>
            </a:r>
          </a:p>
          <a:p>
            <a:r>
              <a:rPr lang="en-US" sz="1000" dirty="0"/>
              <a:t>	 ] </a:t>
            </a:r>
          </a:p>
          <a:p>
            <a:r>
              <a:rPr lang="en-US" sz="1000" dirty="0"/>
              <a:t>}, </a:t>
            </a:r>
          </a:p>
          <a:p>
            <a:r>
              <a:rPr lang="en-US" sz="1000" dirty="0"/>
              <a:t>{    	 </a:t>
            </a:r>
          </a:p>
          <a:p>
            <a:r>
              <a:rPr lang="en-US" sz="1000" dirty="0"/>
              <a:t>	"title" : "my second post",     </a:t>
            </a:r>
          </a:p>
          <a:p>
            <a:r>
              <a:rPr lang="en-US" sz="1000" dirty="0"/>
              <a:t>	"author" : "Jim",     </a:t>
            </a:r>
          </a:p>
          <a:p>
            <a:r>
              <a:rPr lang="en-US" sz="1000" dirty="0"/>
              <a:t>	"likes" : 2,     </a:t>
            </a:r>
          </a:p>
          <a:p>
            <a:r>
              <a:rPr lang="en-US" sz="1000" dirty="0"/>
              <a:t>	"comments" : [         </a:t>
            </a:r>
          </a:p>
          <a:p>
            <a:r>
              <a:rPr lang="en-US" sz="1000" dirty="0"/>
              <a:t>		{            </a:t>
            </a:r>
          </a:p>
          <a:p>
            <a:r>
              <a:rPr lang="en-US" sz="1000" dirty="0"/>
              <a:t>		 	"</a:t>
            </a:r>
            <a:r>
              <a:rPr lang="en-US" sz="1000" dirty="0" err="1"/>
              <a:t>postTitle</a:t>
            </a:r>
            <a:r>
              <a:rPr lang="en-US" sz="1000" dirty="0"/>
              <a:t>" : "my second post",             </a:t>
            </a:r>
          </a:p>
          <a:p>
            <a:r>
              <a:rPr lang="en-US" sz="1000" dirty="0"/>
              <a:t>			"comment" : "good info",             </a:t>
            </a:r>
          </a:p>
          <a:p>
            <a:r>
              <a:rPr lang="en-US" sz="1000" dirty="0"/>
              <a:t>			"likes" : 0        </a:t>
            </a:r>
          </a:p>
          <a:p>
            <a:r>
              <a:rPr lang="en-US" sz="1000" dirty="0"/>
              <a:t>		 },        </a:t>
            </a:r>
          </a:p>
          <a:p>
            <a:r>
              <a:rPr lang="en-US" sz="1000" dirty="0"/>
              <a:t>		 {             </a:t>
            </a:r>
          </a:p>
          <a:p>
            <a:r>
              <a:rPr lang="en-US" sz="1000" dirty="0"/>
              <a:t>			"</a:t>
            </a:r>
            <a:r>
              <a:rPr lang="en-US" sz="1000" dirty="0" err="1"/>
              <a:t>postTitle</a:t>
            </a:r>
            <a:r>
              <a:rPr lang="en-US" sz="1000" dirty="0"/>
              <a:t>" : "my second post",            </a:t>
            </a:r>
          </a:p>
          <a:p>
            <a:r>
              <a:rPr lang="en-US" sz="1000" dirty="0"/>
              <a:t> 			"comment" : "</a:t>
            </a:r>
            <a:r>
              <a:rPr lang="en-US" sz="1000" dirty="0" err="1"/>
              <a:t>i</a:t>
            </a:r>
            <a:r>
              <a:rPr lang="en-US" sz="1000" dirty="0"/>
              <a:t> liked this post",             </a:t>
            </a:r>
          </a:p>
          <a:p>
            <a:r>
              <a:rPr lang="en-US" sz="1000" dirty="0"/>
              <a:t>			"likes" : 12         </a:t>
            </a:r>
          </a:p>
          <a:p>
            <a:r>
              <a:rPr lang="en-US" sz="1000" dirty="0"/>
              <a:t>		}    </a:t>
            </a:r>
          </a:p>
          <a:p>
            <a:r>
              <a:rPr lang="en-US" sz="1000" dirty="0"/>
              <a:t>	 ] </a:t>
            </a:r>
          </a:p>
          <a:p>
            <a:r>
              <a:rPr lang="en-US" sz="1000" dirty="0"/>
              <a:t>},</a:t>
            </a:r>
          </a:p>
          <a:p>
            <a:r>
              <a:rPr lang="en-US" sz="1000" dirty="0"/>
              <a:t>{    </a:t>
            </a:r>
          </a:p>
          <a:p>
            <a:r>
              <a:rPr lang="en-US" sz="1000" dirty="0"/>
              <a:t> 	"title" : "hello world",     </a:t>
            </a:r>
          </a:p>
          <a:p>
            <a:r>
              <a:rPr lang="en-US" sz="1000" dirty="0"/>
              <a:t>	"author" : "Joe",     </a:t>
            </a:r>
          </a:p>
          <a:p>
            <a:r>
              <a:rPr lang="en-US" sz="1000" dirty="0"/>
              <a:t>	"likes" : 3,     </a:t>
            </a:r>
          </a:p>
          <a:p>
            <a:r>
              <a:rPr lang="en-US" sz="1000" dirty="0"/>
              <a:t>	"comments" : [         </a:t>
            </a:r>
          </a:p>
          <a:p>
            <a:r>
              <a:rPr lang="en-US" sz="1000" dirty="0"/>
              <a:t>		{             </a:t>
            </a:r>
          </a:p>
          <a:p>
            <a:r>
              <a:rPr lang="en-US" sz="1000" dirty="0"/>
              <a:t>			"</a:t>
            </a:r>
            <a:r>
              <a:rPr lang="en-US" sz="1000" dirty="0" err="1"/>
              <a:t>postTitle</a:t>
            </a:r>
            <a:r>
              <a:rPr lang="en-US" sz="1000" dirty="0"/>
              <a:t>" : "hello world",             </a:t>
            </a:r>
          </a:p>
          <a:p>
            <a:r>
              <a:rPr lang="en-US" sz="1000" dirty="0"/>
              <a:t>			"comment" : "not my favorite",             </a:t>
            </a:r>
          </a:p>
          <a:p>
            <a:r>
              <a:rPr lang="en-US" sz="1000" dirty="0"/>
              <a:t>			"likes" : 8        </a:t>
            </a:r>
          </a:p>
          <a:p>
            <a:r>
              <a:rPr lang="en-US" sz="1000" dirty="0"/>
              <a:t> 		}     </a:t>
            </a:r>
          </a:p>
          <a:p>
            <a:r>
              <a:rPr lang="en-US" sz="1000" dirty="0"/>
              <a:t>	]</a:t>
            </a:r>
          </a:p>
          <a:p>
            <a:r>
              <a:rPr lang="en-US" sz="1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97574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58820-440A-EA87-A61A-18BBD57AB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$lookup – array membership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F2EFBC-AE18-B8DC-E0F4-2427EEC14CED}"/>
              </a:ext>
            </a:extLst>
          </p:cNvPr>
          <p:cNvSpPr txBox="1"/>
          <p:nvPr/>
        </p:nvSpPr>
        <p:spPr>
          <a:xfrm>
            <a:off x="268981" y="1833903"/>
            <a:ext cx="105056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 err="1">
                <a:solidFill>
                  <a:srgbClr val="212529"/>
                </a:solidFill>
                <a:effectLst/>
                <a:latin typeface="SFMono-Regular"/>
              </a:rPr>
              <a:t>db.classes.insertMany</a:t>
            </a:r>
            <a:r>
              <a:rPr lang="en-US" b="0" i="0" dirty="0">
                <a:solidFill>
                  <a:srgbClr val="212529"/>
                </a:solidFill>
                <a:effectLst/>
                <a:latin typeface="SFMono-Regular"/>
              </a:rPr>
              <a:t>( [ </a:t>
            </a:r>
          </a:p>
          <a:p>
            <a:r>
              <a:rPr lang="en-US" dirty="0">
                <a:solidFill>
                  <a:srgbClr val="212529"/>
                </a:solidFill>
                <a:latin typeface="SFMono-Regular"/>
              </a:rPr>
              <a:t>	</a:t>
            </a:r>
            <a:r>
              <a:rPr lang="en-US" b="0" i="0" dirty="0">
                <a:solidFill>
                  <a:srgbClr val="212529"/>
                </a:solidFill>
                <a:effectLst/>
                <a:latin typeface="SFMono-Regular"/>
              </a:rPr>
              <a:t>{ _id: 1, title: "Reading is ...", </a:t>
            </a:r>
            <a:r>
              <a:rPr lang="en-US" b="0" i="0" dirty="0" err="1">
                <a:solidFill>
                  <a:srgbClr val="212529"/>
                </a:solidFill>
                <a:effectLst/>
                <a:latin typeface="SFMono-Regular"/>
              </a:rPr>
              <a:t>enrollmentlist</a:t>
            </a:r>
            <a:r>
              <a:rPr lang="en-US" b="0" i="0" dirty="0">
                <a:solidFill>
                  <a:srgbClr val="212529"/>
                </a:solidFill>
                <a:effectLst/>
                <a:latin typeface="SFMono-Regular"/>
              </a:rPr>
              <a:t>: [ "giraffe2", "</a:t>
            </a:r>
            <a:r>
              <a:rPr lang="en-US" b="0" i="0" dirty="0" err="1">
                <a:solidFill>
                  <a:srgbClr val="212529"/>
                </a:solidFill>
                <a:effectLst/>
                <a:latin typeface="SFMono-Regular"/>
              </a:rPr>
              <a:t>pandabear</a:t>
            </a:r>
            <a:r>
              <a:rPr lang="en-US" b="0" i="0" dirty="0">
                <a:solidFill>
                  <a:srgbClr val="212529"/>
                </a:solidFill>
                <a:effectLst/>
                <a:latin typeface="SFMono-Regular"/>
              </a:rPr>
              <a:t>", "</a:t>
            </a:r>
            <a:r>
              <a:rPr lang="en-US" b="0" i="0" dirty="0" err="1">
                <a:solidFill>
                  <a:srgbClr val="212529"/>
                </a:solidFill>
                <a:effectLst/>
                <a:latin typeface="SFMono-Regular"/>
              </a:rPr>
              <a:t>artie</a:t>
            </a:r>
            <a:r>
              <a:rPr lang="en-US" b="0" i="0" dirty="0">
                <a:solidFill>
                  <a:srgbClr val="212529"/>
                </a:solidFill>
                <a:effectLst/>
                <a:latin typeface="SFMono-Regular"/>
              </a:rPr>
              <a:t>" ], days: ["M", "W", "F"] }, </a:t>
            </a:r>
          </a:p>
          <a:p>
            <a:r>
              <a:rPr lang="en-US" dirty="0">
                <a:solidFill>
                  <a:srgbClr val="212529"/>
                </a:solidFill>
                <a:latin typeface="SFMono-Regular"/>
              </a:rPr>
              <a:t>	</a:t>
            </a:r>
            <a:r>
              <a:rPr lang="en-US" b="0" i="0" dirty="0">
                <a:solidFill>
                  <a:srgbClr val="212529"/>
                </a:solidFill>
                <a:effectLst/>
                <a:latin typeface="SFMono-Regular"/>
              </a:rPr>
              <a:t>{ _id: 2, title: "But Writing ...", </a:t>
            </a:r>
            <a:r>
              <a:rPr lang="en-US" b="0" i="0" dirty="0" err="1">
                <a:solidFill>
                  <a:srgbClr val="212529"/>
                </a:solidFill>
                <a:effectLst/>
                <a:latin typeface="SFMono-Regular"/>
              </a:rPr>
              <a:t>enrollmentlist</a:t>
            </a:r>
            <a:r>
              <a:rPr lang="en-US" b="0" i="0" dirty="0">
                <a:solidFill>
                  <a:srgbClr val="212529"/>
                </a:solidFill>
                <a:effectLst/>
                <a:latin typeface="SFMono-Regular"/>
              </a:rPr>
              <a:t>: [ "giraffe1", "</a:t>
            </a:r>
            <a:r>
              <a:rPr lang="en-US" b="0" i="0" dirty="0" err="1">
                <a:solidFill>
                  <a:srgbClr val="212529"/>
                </a:solidFill>
                <a:effectLst/>
                <a:latin typeface="SFMono-Regular"/>
              </a:rPr>
              <a:t>artie</a:t>
            </a:r>
            <a:r>
              <a:rPr lang="en-US" b="0" i="0" dirty="0">
                <a:solidFill>
                  <a:srgbClr val="212529"/>
                </a:solidFill>
                <a:effectLst/>
                <a:latin typeface="SFMono-Regular"/>
              </a:rPr>
              <a:t>" ], days: ["T", "F"] } 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SFMono-Regular"/>
              </a:rPr>
              <a:t>] )</a:t>
            </a:r>
          </a:p>
          <a:p>
            <a:endParaRPr lang="en-US" dirty="0">
              <a:solidFill>
                <a:srgbClr val="212529"/>
              </a:solidFill>
              <a:latin typeface="SFMono-Regular"/>
            </a:endParaRPr>
          </a:p>
          <a:p>
            <a:r>
              <a:rPr lang="en-US" dirty="0" err="1"/>
              <a:t>db.members.insertMany</a:t>
            </a:r>
            <a:r>
              <a:rPr lang="en-US" dirty="0"/>
              <a:t>( [ </a:t>
            </a:r>
          </a:p>
          <a:p>
            <a:r>
              <a:rPr lang="en-US" dirty="0"/>
              <a:t>	{ _id: 1, name: "</a:t>
            </a:r>
            <a:r>
              <a:rPr lang="en-US" dirty="0" err="1"/>
              <a:t>artie</a:t>
            </a:r>
            <a:r>
              <a:rPr lang="en-US" dirty="0"/>
              <a:t>", joined: new Date("2016-05-01"), status: "A" }, </a:t>
            </a:r>
          </a:p>
          <a:p>
            <a:r>
              <a:rPr lang="en-US" dirty="0"/>
              <a:t>	{ _id: 2, name: "giraffe", joined: new Date("2017-05-01"), status: "D" }, </a:t>
            </a:r>
          </a:p>
          <a:p>
            <a:r>
              <a:rPr lang="en-US" dirty="0"/>
              <a:t>	{ _id: 3, name: "giraffe1", joined: new Date("2017-10-01"), status: "A" }, </a:t>
            </a:r>
          </a:p>
          <a:p>
            <a:r>
              <a:rPr lang="en-US" dirty="0"/>
              <a:t>	{ _id: 4, name: "panda", joined: new Date("2018-10-11"), status: "A" }, </a:t>
            </a:r>
          </a:p>
          <a:p>
            <a:r>
              <a:rPr lang="en-US" dirty="0"/>
              <a:t>	{ _id: 5, name: "</a:t>
            </a:r>
            <a:r>
              <a:rPr lang="en-US" dirty="0" err="1"/>
              <a:t>pandabear</a:t>
            </a:r>
            <a:r>
              <a:rPr lang="en-US" dirty="0"/>
              <a:t>", joined: new Date("2018-12-01"), status: "A" }, </a:t>
            </a:r>
          </a:p>
          <a:p>
            <a:r>
              <a:rPr lang="en-US" dirty="0"/>
              <a:t>	{ _id: 6, name: "giraffe2", joined: new Date("2018-12-01"), status: "D" } </a:t>
            </a:r>
          </a:p>
          <a:p>
            <a:r>
              <a:rPr lang="en-US" dirty="0"/>
              <a:t>] )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2994A963-8264-5686-9702-18FD92B6B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023" y="3473410"/>
            <a:ext cx="3864996" cy="271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347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56C6B-9C4E-EED4-D7D8-406D1EB6E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$lookup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25CC8605-3B2F-F4D8-DFCF-1993A66BF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55" y="2051266"/>
            <a:ext cx="5308600" cy="3733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B32D37-003F-4C7B-F9CD-8CB0410F55FC}"/>
              </a:ext>
            </a:extLst>
          </p:cNvPr>
          <p:cNvSpPr txBox="1"/>
          <p:nvPr/>
        </p:nvSpPr>
        <p:spPr>
          <a:xfrm>
            <a:off x="5665304" y="286603"/>
            <a:ext cx="6440557" cy="65248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/>
              <a:t>{ </a:t>
            </a:r>
          </a:p>
          <a:p>
            <a:r>
              <a:rPr lang="en-US" sz="1100" dirty="0"/>
              <a:t>	"_id" : 1, </a:t>
            </a:r>
          </a:p>
          <a:p>
            <a:r>
              <a:rPr lang="en-US" sz="1100" dirty="0"/>
              <a:t>	"title" : "Reading is ...", </a:t>
            </a:r>
          </a:p>
          <a:p>
            <a:r>
              <a:rPr lang="en-US" sz="1100" dirty="0"/>
              <a:t>	"</a:t>
            </a:r>
            <a:r>
              <a:rPr lang="en-US" sz="1100" dirty="0" err="1"/>
              <a:t>enrollmentlist</a:t>
            </a:r>
            <a:r>
              <a:rPr lang="en-US" sz="1100" dirty="0"/>
              <a:t>" : [ "giraffe2", "</a:t>
            </a:r>
            <a:r>
              <a:rPr lang="en-US" sz="1100" dirty="0" err="1"/>
              <a:t>pandabear</a:t>
            </a:r>
            <a:r>
              <a:rPr lang="en-US" sz="1100" dirty="0"/>
              <a:t>", "</a:t>
            </a:r>
            <a:r>
              <a:rPr lang="en-US" sz="1100" dirty="0" err="1"/>
              <a:t>artie</a:t>
            </a:r>
            <a:r>
              <a:rPr lang="en-US" sz="1100" dirty="0"/>
              <a:t>" ], </a:t>
            </a:r>
          </a:p>
          <a:p>
            <a:r>
              <a:rPr lang="en-US" sz="1100" dirty="0"/>
              <a:t>	"days" : [ "M", "W", "F" ], </a:t>
            </a:r>
          </a:p>
          <a:p>
            <a:r>
              <a:rPr lang="en-US" sz="1100" dirty="0"/>
              <a:t>	"</a:t>
            </a:r>
            <a:r>
              <a:rPr lang="en-US" sz="1100" dirty="0" err="1"/>
              <a:t>enrollee_info</a:t>
            </a:r>
            <a:r>
              <a:rPr lang="en-US" sz="1100" dirty="0"/>
              <a:t>" : [ </a:t>
            </a:r>
          </a:p>
          <a:p>
            <a:r>
              <a:rPr lang="en-US" sz="1100" dirty="0"/>
              <a:t>		{ </a:t>
            </a:r>
          </a:p>
          <a:p>
            <a:r>
              <a:rPr lang="en-US" sz="1100" dirty="0"/>
              <a:t>			"_id" : 1, </a:t>
            </a:r>
          </a:p>
          <a:p>
            <a:r>
              <a:rPr lang="en-US" sz="1100" dirty="0"/>
              <a:t>			"name" : </a:t>
            </a:r>
          </a:p>
          <a:p>
            <a:r>
              <a:rPr lang="en-US" sz="1100" dirty="0"/>
              <a:t>			"</a:t>
            </a:r>
            <a:r>
              <a:rPr lang="en-US" sz="1100" dirty="0" err="1"/>
              <a:t>artie</a:t>
            </a:r>
            <a:r>
              <a:rPr lang="en-US" sz="1100" dirty="0"/>
              <a:t>", </a:t>
            </a:r>
          </a:p>
          <a:p>
            <a:r>
              <a:rPr lang="en-US" sz="1100" dirty="0"/>
              <a:t>			"joined" : </a:t>
            </a:r>
            <a:r>
              <a:rPr lang="en-US" sz="1100" dirty="0" err="1"/>
              <a:t>ISODate</a:t>
            </a:r>
            <a:r>
              <a:rPr lang="en-US" sz="1100" dirty="0"/>
              <a:t>("2016-05-01T00:00:00Z"), </a:t>
            </a:r>
          </a:p>
          <a:p>
            <a:r>
              <a:rPr lang="en-US" sz="1100" dirty="0"/>
              <a:t>			"status" : "A" </a:t>
            </a:r>
          </a:p>
          <a:p>
            <a:r>
              <a:rPr lang="en-US" sz="1100" dirty="0"/>
              <a:t>		}, </a:t>
            </a:r>
          </a:p>
          <a:p>
            <a:r>
              <a:rPr lang="en-US" sz="1100" dirty="0"/>
              <a:t>		{ </a:t>
            </a:r>
          </a:p>
          <a:p>
            <a:r>
              <a:rPr lang="en-US" sz="1100" dirty="0"/>
              <a:t>			"_id" : 5, </a:t>
            </a:r>
          </a:p>
          <a:p>
            <a:r>
              <a:rPr lang="en-US" sz="1100" dirty="0"/>
              <a:t>			"name" : </a:t>
            </a:r>
          </a:p>
          <a:p>
            <a:r>
              <a:rPr lang="en-US" sz="1100" dirty="0"/>
              <a:t>			"</a:t>
            </a:r>
            <a:r>
              <a:rPr lang="en-US" sz="1100" dirty="0" err="1"/>
              <a:t>pandabear</a:t>
            </a:r>
            <a:r>
              <a:rPr lang="en-US" sz="1100" dirty="0"/>
              <a:t>", </a:t>
            </a:r>
          </a:p>
          <a:p>
            <a:r>
              <a:rPr lang="en-US" sz="1100" dirty="0"/>
              <a:t>			"joined" : </a:t>
            </a:r>
            <a:r>
              <a:rPr lang="en-US" sz="1100" dirty="0" err="1"/>
              <a:t>ISODate</a:t>
            </a:r>
            <a:r>
              <a:rPr lang="en-US" sz="1100" dirty="0"/>
              <a:t>("2018-12-01T00:00:00Z"), </a:t>
            </a:r>
          </a:p>
          <a:p>
            <a:r>
              <a:rPr lang="en-US" sz="1100" dirty="0"/>
              <a:t>			"status" : "A" }, </a:t>
            </a:r>
          </a:p>
          <a:p>
            <a:r>
              <a:rPr lang="en-US" sz="1100" dirty="0"/>
              <a:t>		{ </a:t>
            </a:r>
          </a:p>
          <a:p>
            <a:r>
              <a:rPr lang="en-US" sz="1100" dirty="0"/>
              <a:t>			"_id" : 6, </a:t>
            </a:r>
          </a:p>
          <a:p>
            <a:r>
              <a:rPr lang="en-US" sz="1100" dirty="0"/>
              <a:t>			"name" : </a:t>
            </a:r>
          </a:p>
          <a:p>
            <a:r>
              <a:rPr lang="en-US" sz="1100" dirty="0"/>
              <a:t>			"giraffe2", </a:t>
            </a:r>
          </a:p>
          <a:p>
            <a:r>
              <a:rPr lang="en-US" sz="1100" dirty="0"/>
              <a:t>			"joined" : </a:t>
            </a:r>
            <a:r>
              <a:rPr lang="en-US" sz="1100" dirty="0" err="1"/>
              <a:t>ISODate</a:t>
            </a:r>
            <a:r>
              <a:rPr lang="en-US" sz="1100" dirty="0"/>
              <a:t>("2018-12-01T00:00:00Z"), </a:t>
            </a:r>
          </a:p>
          <a:p>
            <a:r>
              <a:rPr lang="en-US" sz="1100" dirty="0"/>
              <a:t>			"status" : "D" } </a:t>
            </a:r>
          </a:p>
          <a:p>
            <a:r>
              <a:rPr lang="en-US" sz="1100" dirty="0"/>
              <a:t>	]</a:t>
            </a:r>
          </a:p>
          <a:p>
            <a:r>
              <a:rPr lang="en-US" sz="1100" dirty="0"/>
              <a:t>} </a:t>
            </a:r>
          </a:p>
          <a:p>
            <a:r>
              <a:rPr lang="en-US" sz="1100" dirty="0"/>
              <a:t>{ </a:t>
            </a:r>
          </a:p>
          <a:p>
            <a:r>
              <a:rPr lang="en-US" sz="1100" dirty="0"/>
              <a:t>	"_id" : 2, </a:t>
            </a:r>
          </a:p>
          <a:p>
            <a:r>
              <a:rPr lang="en-US" sz="1100" dirty="0"/>
              <a:t>	"title" : "But Writing ...", </a:t>
            </a:r>
          </a:p>
          <a:p>
            <a:r>
              <a:rPr lang="en-US" sz="1100" dirty="0"/>
              <a:t>	"</a:t>
            </a:r>
            <a:r>
              <a:rPr lang="en-US" sz="1100" dirty="0" err="1"/>
              <a:t>enrollmentlist</a:t>
            </a:r>
            <a:r>
              <a:rPr lang="en-US" sz="1100" dirty="0"/>
              <a:t>" : [ "giraffe1", "</a:t>
            </a:r>
            <a:r>
              <a:rPr lang="en-US" sz="1100" dirty="0" err="1"/>
              <a:t>artie</a:t>
            </a:r>
            <a:r>
              <a:rPr lang="en-US" sz="1100" dirty="0"/>
              <a:t>" ], </a:t>
            </a:r>
          </a:p>
          <a:p>
            <a:r>
              <a:rPr lang="en-US" sz="1100" dirty="0"/>
              <a:t>	"days" : [ "T", "F" ], </a:t>
            </a:r>
          </a:p>
          <a:p>
            <a:r>
              <a:rPr lang="en-US" sz="1100" dirty="0"/>
              <a:t>	"</a:t>
            </a:r>
            <a:r>
              <a:rPr lang="en-US" sz="1100" dirty="0" err="1"/>
              <a:t>enrollee_info</a:t>
            </a:r>
            <a:r>
              <a:rPr lang="en-US" sz="1100" dirty="0"/>
              <a:t>" : [ </a:t>
            </a:r>
          </a:p>
          <a:p>
            <a:r>
              <a:rPr lang="en-US" sz="1100" dirty="0"/>
              <a:t>		{ "_id" : 1, "name" : "</a:t>
            </a:r>
            <a:r>
              <a:rPr lang="en-US" sz="1100" dirty="0" err="1"/>
              <a:t>artie</a:t>
            </a:r>
            <a:r>
              <a:rPr lang="en-US" sz="1100" dirty="0"/>
              <a:t>", "joined" : </a:t>
            </a:r>
            <a:r>
              <a:rPr lang="en-US" sz="1100" dirty="0" err="1"/>
              <a:t>ISODate</a:t>
            </a:r>
            <a:r>
              <a:rPr lang="en-US" sz="1100" dirty="0"/>
              <a:t>("2016-05-01T00:00:00Z"), "status" : "A" }, </a:t>
            </a:r>
          </a:p>
          <a:p>
            <a:r>
              <a:rPr lang="en-US" sz="1100" dirty="0"/>
              <a:t>		{ "_id" : 3, "name" : "giraffe1", "joined" : </a:t>
            </a:r>
            <a:r>
              <a:rPr lang="en-US" sz="1100" dirty="0" err="1"/>
              <a:t>ISODate</a:t>
            </a:r>
            <a:r>
              <a:rPr lang="en-US" sz="1100" dirty="0"/>
              <a:t>("2017-10-01T00:00:00Z"), "status" : "A" } </a:t>
            </a:r>
          </a:p>
          <a:p>
            <a:r>
              <a:rPr lang="en-US" sz="1100" dirty="0"/>
              <a:t>	] </a:t>
            </a:r>
          </a:p>
          <a:p>
            <a:r>
              <a:rPr lang="en-US" sz="1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455035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4024C-27FC-5443-85E6-D1925DCDE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$lookup – correlated subqueries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C51E5-2936-03C2-29C3-57CF72D77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871" y="1845734"/>
            <a:ext cx="10058400" cy="4023360"/>
          </a:xfrm>
        </p:spPr>
        <p:txBody>
          <a:bodyPr/>
          <a:lstStyle/>
          <a:p>
            <a:r>
              <a:rPr lang="en-US" dirty="0"/>
              <a:t>Inner query is based on current values of outer query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A36935-4D19-6195-FCD1-02424E98E905}"/>
              </a:ext>
            </a:extLst>
          </p:cNvPr>
          <p:cNvSpPr txBox="1"/>
          <p:nvPr/>
        </p:nvSpPr>
        <p:spPr>
          <a:xfrm>
            <a:off x="510871" y="2252291"/>
            <a:ext cx="609765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db.orders.insertMany</a:t>
            </a:r>
            <a:r>
              <a:rPr lang="en-US" dirty="0"/>
              <a:t>( [</a:t>
            </a:r>
          </a:p>
          <a:p>
            <a:r>
              <a:rPr lang="en-US" dirty="0"/>
              <a:t>  { "_id" : 1, "item" : "almonds", "price" : 12, "ordered" : 2 },</a:t>
            </a:r>
          </a:p>
          <a:p>
            <a:r>
              <a:rPr lang="en-US" dirty="0"/>
              <a:t>  { "_id" : 2, "item" : "pecans", "price" : 20, "ordered" : 1 },</a:t>
            </a:r>
          </a:p>
          <a:p>
            <a:r>
              <a:rPr lang="en-US" dirty="0"/>
              <a:t>  { "_id" : 3, "item" : "cookies", "price" : 10, "ordered" : 60 }</a:t>
            </a:r>
          </a:p>
          <a:p>
            <a:r>
              <a:rPr lang="en-US" dirty="0"/>
              <a:t>] 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457766-52F9-4BA4-C2B0-A7F367E0CFD2}"/>
              </a:ext>
            </a:extLst>
          </p:cNvPr>
          <p:cNvSpPr txBox="1"/>
          <p:nvPr/>
        </p:nvSpPr>
        <p:spPr>
          <a:xfrm>
            <a:off x="510871" y="3946143"/>
            <a:ext cx="75212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db.warehouses.insertMany</a:t>
            </a:r>
            <a:r>
              <a:rPr lang="en-US" dirty="0"/>
              <a:t>( [</a:t>
            </a:r>
          </a:p>
          <a:p>
            <a:r>
              <a:rPr lang="en-US" dirty="0"/>
              <a:t>  { "_id" : 1, "</a:t>
            </a:r>
            <a:r>
              <a:rPr lang="en-US" dirty="0" err="1"/>
              <a:t>stock_item</a:t>
            </a:r>
            <a:r>
              <a:rPr lang="en-US" dirty="0"/>
              <a:t>" : "almonds", warehouse: "A", "</a:t>
            </a:r>
            <a:r>
              <a:rPr lang="en-US" dirty="0" err="1"/>
              <a:t>instock</a:t>
            </a:r>
            <a:r>
              <a:rPr lang="en-US" dirty="0"/>
              <a:t>" : 120 },</a:t>
            </a:r>
          </a:p>
          <a:p>
            <a:r>
              <a:rPr lang="en-US" dirty="0"/>
              <a:t>  { "_id" : 2, "</a:t>
            </a:r>
            <a:r>
              <a:rPr lang="en-US" dirty="0" err="1"/>
              <a:t>stock_item</a:t>
            </a:r>
            <a:r>
              <a:rPr lang="en-US" dirty="0"/>
              <a:t>" : "pecans", warehouse: "A", "</a:t>
            </a:r>
            <a:r>
              <a:rPr lang="en-US" dirty="0" err="1"/>
              <a:t>instock</a:t>
            </a:r>
            <a:r>
              <a:rPr lang="en-US" dirty="0"/>
              <a:t>" : 80 },</a:t>
            </a:r>
          </a:p>
          <a:p>
            <a:r>
              <a:rPr lang="en-US" dirty="0"/>
              <a:t>  { "_id" : 3, "</a:t>
            </a:r>
            <a:r>
              <a:rPr lang="en-US" dirty="0" err="1"/>
              <a:t>stock_item</a:t>
            </a:r>
            <a:r>
              <a:rPr lang="en-US" dirty="0"/>
              <a:t>" : "almonds", warehouse: "B", "</a:t>
            </a:r>
            <a:r>
              <a:rPr lang="en-US" dirty="0" err="1"/>
              <a:t>instock</a:t>
            </a:r>
            <a:r>
              <a:rPr lang="en-US" dirty="0"/>
              <a:t>" : 60 },</a:t>
            </a:r>
          </a:p>
          <a:p>
            <a:r>
              <a:rPr lang="en-US" dirty="0"/>
              <a:t>  { "_id" : 4, "</a:t>
            </a:r>
            <a:r>
              <a:rPr lang="en-US" dirty="0" err="1"/>
              <a:t>stock_item</a:t>
            </a:r>
            <a:r>
              <a:rPr lang="en-US" dirty="0"/>
              <a:t>" : "cookies", warehouse: "B", "</a:t>
            </a:r>
            <a:r>
              <a:rPr lang="en-US" dirty="0" err="1"/>
              <a:t>instock</a:t>
            </a:r>
            <a:r>
              <a:rPr lang="en-US" dirty="0"/>
              <a:t>" : 40 },</a:t>
            </a:r>
          </a:p>
          <a:p>
            <a:r>
              <a:rPr lang="en-US" dirty="0"/>
              <a:t>  { "_id" : 5, "</a:t>
            </a:r>
            <a:r>
              <a:rPr lang="en-US" dirty="0" err="1"/>
              <a:t>stock_item</a:t>
            </a:r>
            <a:r>
              <a:rPr lang="en-US" dirty="0"/>
              <a:t>" : "cookies", warehouse: "A", "</a:t>
            </a:r>
            <a:r>
              <a:rPr lang="en-US" dirty="0" err="1"/>
              <a:t>instock</a:t>
            </a:r>
            <a:r>
              <a:rPr lang="en-US" dirty="0"/>
              <a:t>" : 80 }</a:t>
            </a:r>
          </a:p>
          <a:p>
            <a:r>
              <a:rPr lang="en-US" dirty="0"/>
              <a:t>] 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CCE09F-6A40-1DE8-EC6F-AEE7B7E0498F}"/>
              </a:ext>
            </a:extLst>
          </p:cNvPr>
          <p:cNvSpPr txBox="1"/>
          <p:nvPr/>
        </p:nvSpPr>
        <p:spPr>
          <a:xfrm>
            <a:off x="8298529" y="1925581"/>
            <a:ext cx="37340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 a list of the orders and the possible warehouses that may fulfill the order: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034991-8E8A-FC46-D25F-21C83AF05558}"/>
              </a:ext>
            </a:extLst>
          </p:cNvPr>
          <p:cNvSpPr txBox="1"/>
          <p:nvPr/>
        </p:nvSpPr>
        <p:spPr>
          <a:xfrm>
            <a:off x="8298529" y="2957285"/>
            <a:ext cx="34320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SELECT *, </a:t>
            </a:r>
            <a:r>
              <a:rPr lang="en-US" dirty="0" err="1"/>
              <a:t>stockdata</a:t>
            </a:r>
            <a:endParaRPr lang="en-US" dirty="0"/>
          </a:p>
          <a:p>
            <a:r>
              <a:rPr lang="en-US" dirty="0"/>
              <a:t>FROM orders</a:t>
            </a:r>
          </a:p>
          <a:p>
            <a:r>
              <a:rPr lang="en-US" dirty="0"/>
              <a:t>WHERE </a:t>
            </a:r>
            <a:r>
              <a:rPr lang="en-US" dirty="0" err="1"/>
              <a:t>stockdata</a:t>
            </a:r>
            <a:r>
              <a:rPr lang="en-US" dirty="0"/>
              <a:t> IN (</a:t>
            </a:r>
          </a:p>
          <a:p>
            <a:r>
              <a:rPr lang="en-US" dirty="0"/>
              <a:t>   SELECT warehouse, </a:t>
            </a:r>
            <a:r>
              <a:rPr lang="en-US" dirty="0" err="1"/>
              <a:t>instock</a:t>
            </a:r>
            <a:endParaRPr lang="en-US" dirty="0"/>
          </a:p>
          <a:p>
            <a:r>
              <a:rPr lang="en-US" dirty="0"/>
              <a:t>   FROM warehouses</a:t>
            </a:r>
          </a:p>
          <a:p>
            <a:r>
              <a:rPr lang="en-US" dirty="0"/>
              <a:t>   WHERE </a:t>
            </a:r>
            <a:r>
              <a:rPr lang="en-US" dirty="0" err="1"/>
              <a:t>stock_item</a:t>
            </a:r>
            <a:r>
              <a:rPr lang="en-US" dirty="0"/>
              <a:t> = </a:t>
            </a:r>
            <a:r>
              <a:rPr lang="en-US" dirty="0" err="1"/>
              <a:t>orders.item</a:t>
            </a:r>
            <a:endParaRPr lang="en-US" dirty="0"/>
          </a:p>
          <a:p>
            <a:r>
              <a:rPr lang="en-US" dirty="0"/>
              <a:t>   AND </a:t>
            </a:r>
            <a:r>
              <a:rPr lang="en-US" dirty="0" err="1"/>
              <a:t>instock</a:t>
            </a:r>
            <a:r>
              <a:rPr lang="en-US" dirty="0"/>
              <a:t> &gt;= </a:t>
            </a:r>
            <a:r>
              <a:rPr lang="en-US" dirty="0" err="1"/>
              <a:t>orders.ordered</a:t>
            </a:r>
            <a:endParaRPr lang="en-US" dirty="0"/>
          </a:p>
          <a:p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068821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5A587-48A7-ED1D-D400-DFE91A5A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$lookup – correlated subqueries</a:t>
            </a: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6B950848-455C-B8D5-871D-E1DBEFC57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143" y="2061176"/>
            <a:ext cx="7772400" cy="33454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242300-4EEE-A1D2-FEF5-7EEDCA0507F2}"/>
              </a:ext>
            </a:extLst>
          </p:cNvPr>
          <p:cNvSpPr txBox="1"/>
          <p:nvPr/>
        </p:nvSpPr>
        <p:spPr>
          <a:xfrm>
            <a:off x="1606378" y="5684108"/>
            <a:ext cx="8888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Defines variables to be used in the </a:t>
            </a:r>
            <a:r>
              <a:rPr lang="en-US" dirty="0" err="1"/>
              <a:t>subquerie</a:t>
            </a:r>
            <a:r>
              <a:rPr lang="en-US" dirty="0"/>
              <a:t> (pipeline)</a:t>
            </a:r>
          </a:p>
          <a:p>
            <a:r>
              <a:rPr lang="en-US" dirty="0"/>
              <a:t>If </a:t>
            </a:r>
            <a:r>
              <a:rPr lang="en-US" dirty="0" err="1"/>
              <a:t>localField</a:t>
            </a:r>
            <a:r>
              <a:rPr lang="en-US" dirty="0"/>
              <a:t> and </a:t>
            </a:r>
            <a:r>
              <a:rPr lang="en-US" dirty="0" err="1"/>
              <a:t>foreignField</a:t>
            </a:r>
            <a:r>
              <a:rPr lang="en-US" dirty="0"/>
              <a:t> are not specified, it is a full join rather than join on field equality</a:t>
            </a:r>
          </a:p>
        </p:txBody>
      </p:sp>
    </p:spTree>
    <p:extLst>
      <p:ext uri="{BB962C8B-B14F-4D97-AF65-F5344CB8AC3E}">
        <p14:creationId xmlns:p14="http://schemas.microsoft.com/office/powerpoint/2010/main" val="4955062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382229-7C52-94A8-9D0D-51B529C2D78E}"/>
              </a:ext>
            </a:extLst>
          </p:cNvPr>
          <p:cNvSpPr txBox="1"/>
          <p:nvPr/>
        </p:nvSpPr>
        <p:spPr>
          <a:xfrm>
            <a:off x="425098" y="197345"/>
            <a:ext cx="6098058" cy="64633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 err="1"/>
              <a:t>db.orders.aggregate</a:t>
            </a:r>
            <a:r>
              <a:rPr lang="en-US" dirty="0"/>
              <a:t>( [</a:t>
            </a:r>
          </a:p>
          <a:p>
            <a:r>
              <a:rPr lang="en-US" dirty="0"/>
              <a:t>   {</a:t>
            </a:r>
          </a:p>
          <a:p>
            <a:r>
              <a:rPr lang="en-US" dirty="0"/>
              <a:t>      $lookup:</a:t>
            </a:r>
          </a:p>
          <a:p>
            <a:r>
              <a:rPr lang="en-US" dirty="0"/>
              <a:t>         {</a:t>
            </a:r>
          </a:p>
          <a:p>
            <a:r>
              <a:rPr lang="en-US" dirty="0"/>
              <a:t>           from: "warehouses",</a:t>
            </a:r>
          </a:p>
          <a:p>
            <a:r>
              <a:rPr lang="en-US" dirty="0"/>
              <a:t>           let: { </a:t>
            </a:r>
            <a:r>
              <a:rPr lang="en-US" dirty="0" err="1"/>
              <a:t>order_item</a:t>
            </a:r>
            <a:r>
              <a:rPr lang="en-US" dirty="0"/>
              <a:t>: "$item", </a:t>
            </a:r>
            <a:r>
              <a:rPr lang="en-US" dirty="0" err="1"/>
              <a:t>order_qty</a:t>
            </a:r>
            <a:r>
              <a:rPr lang="en-US" dirty="0"/>
              <a:t>: "$ordered" },</a:t>
            </a:r>
          </a:p>
          <a:p>
            <a:r>
              <a:rPr lang="en-US" dirty="0"/>
              <a:t>           pipeline: [</a:t>
            </a:r>
          </a:p>
          <a:p>
            <a:r>
              <a:rPr lang="en-US" dirty="0"/>
              <a:t>              { $match:</a:t>
            </a:r>
          </a:p>
          <a:p>
            <a:r>
              <a:rPr lang="en-US" dirty="0"/>
              <a:t>                 { $expr:</a:t>
            </a:r>
          </a:p>
          <a:p>
            <a:r>
              <a:rPr lang="en-US" dirty="0"/>
              <a:t>                    { $and:</a:t>
            </a:r>
          </a:p>
          <a:p>
            <a:r>
              <a:rPr lang="en-US" dirty="0"/>
              <a:t>                       [</a:t>
            </a:r>
          </a:p>
          <a:p>
            <a:r>
              <a:rPr lang="en-US" dirty="0"/>
              <a:t>                         { $eq: [ "$</a:t>
            </a:r>
            <a:r>
              <a:rPr lang="en-US" dirty="0" err="1"/>
              <a:t>stock_item</a:t>
            </a:r>
            <a:r>
              <a:rPr lang="en-US" dirty="0"/>
              <a:t>",  "$$</a:t>
            </a:r>
            <a:r>
              <a:rPr lang="en-US" dirty="0" err="1"/>
              <a:t>order_item</a:t>
            </a:r>
            <a:r>
              <a:rPr lang="en-US" dirty="0"/>
              <a:t>" ] },</a:t>
            </a:r>
          </a:p>
          <a:p>
            <a:r>
              <a:rPr lang="en-US" dirty="0"/>
              <a:t>                         { $</a:t>
            </a:r>
            <a:r>
              <a:rPr lang="en-US" dirty="0" err="1"/>
              <a:t>gte</a:t>
            </a:r>
            <a:r>
              <a:rPr lang="en-US" dirty="0"/>
              <a:t>: [ "$</a:t>
            </a:r>
            <a:r>
              <a:rPr lang="en-US" dirty="0" err="1"/>
              <a:t>instock</a:t>
            </a:r>
            <a:r>
              <a:rPr lang="en-US" dirty="0"/>
              <a:t>", "$$</a:t>
            </a:r>
            <a:r>
              <a:rPr lang="en-US" dirty="0" err="1"/>
              <a:t>order_qty</a:t>
            </a:r>
            <a:r>
              <a:rPr lang="en-US" dirty="0"/>
              <a:t>" ] }</a:t>
            </a:r>
          </a:p>
          <a:p>
            <a:r>
              <a:rPr lang="en-US" dirty="0"/>
              <a:t>                       ]</a:t>
            </a:r>
          </a:p>
          <a:p>
            <a:r>
              <a:rPr lang="en-US" dirty="0"/>
              <a:t>                    }</a:t>
            </a:r>
          </a:p>
          <a:p>
            <a:r>
              <a:rPr lang="en-US" dirty="0"/>
              <a:t>                 }</a:t>
            </a:r>
          </a:p>
          <a:p>
            <a:r>
              <a:rPr lang="en-US" dirty="0"/>
              <a:t>              },</a:t>
            </a:r>
          </a:p>
          <a:p>
            <a:r>
              <a:rPr lang="en-US" dirty="0"/>
              <a:t>              { $project: { </a:t>
            </a:r>
            <a:r>
              <a:rPr lang="en-US" dirty="0" err="1"/>
              <a:t>stock_item</a:t>
            </a:r>
            <a:r>
              <a:rPr lang="en-US" dirty="0"/>
              <a:t>: 0, _id: 0 } }</a:t>
            </a:r>
          </a:p>
          <a:p>
            <a:r>
              <a:rPr lang="en-US" dirty="0"/>
              <a:t>           ],</a:t>
            </a:r>
          </a:p>
          <a:p>
            <a:r>
              <a:rPr lang="en-US" dirty="0"/>
              <a:t>           as: "</a:t>
            </a:r>
            <a:r>
              <a:rPr lang="en-US" dirty="0" err="1"/>
              <a:t>stockdata</a:t>
            </a:r>
            <a:r>
              <a:rPr lang="en-US" dirty="0"/>
              <a:t>"</a:t>
            </a:r>
          </a:p>
          <a:p>
            <a:r>
              <a:rPr lang="en-US" dirty="0"/>
              <a:t> 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]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8CA32C-1CC3-4244-9C80-A2049375716E}"/>
              </a:ext>
            </a:extLst>
          </p:cNvPr>
          <p:cNvSpPr txBox="1"/>
          <p:nvPr/>
        </p:nvSpPr>
        <p:spPr>
          <a:xfrm>
            <a:off x="7222236" y="58845"/>
            <a:ext cx="4544666" cy="6740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  _id: 1,</a:t>
            </a:r>
          </a:p>
          <a:p>
            <a:r>
              <a:rPr lang="en-US" dirty="0"/>
              <a:t>  item: 'almonds',</a:t>
            </a:r>
          </a:p>
          <a:p>
            <a:r>
              <a:rPr lang="en-US" dirty="0"/>
              <a:t>  price: 12,</a:t>
            </a:r>
          </a:p>
          <a:p>
            <a:r>
              <a:rPr lang="en-US" dirty="0"/>
              <a:t>  ordered: 2,</a:t>
            </a:r>
          </a:p>
          <a:p>
            <a:r>
              <a:rPr lang="en-US" dirty="0"/>
              <a:t>  </a:t>
            </a:r>
            <a:r>
              <a:rPr lang="en-US" dirty="0" err="1"/>
              <a:t>stockdata</a:t>
            </a:r>
            <a:r>
              <a:rPr lang="en-US" dirty="0"/>
              <a:t>: [</a:t>
            </a:r>
          </a:p>
          <a:p>
            <a:r>
              <a:rPr lang="en-US" dirty="0"/>
              <a:t>    { warehouse: 'A', </a:t>
            </a:r>
            <a:r>
              <a:rPr lang="en-US" dirty="0" err="1"/>
              <a:t>instock</a:t>
            </a:r>
            <a:r>
              <a:rPr lang="en-US" dirty="0"/>
              <a:t>: 120 },</a:t>
            </a:r>
          </a:p>
          <a:p>
            <a:r>
              <a:rPr lang="en-US" dirty="0"/>
              <a:t>    { warehouse: 'B', </a:t>
            </a:r>
            <a:r>
              <a:rPr lang="en-US" dirty="0" err="1"/>
              <a:t>instock</a:t>
            </a:r>
            <a:r>
              <a:rPr lang="en-US" dirty="0"/>
              <a:t>: 60 }</a:t>
            </a:r>
          </a:p>
          <a:p>
            <a:r>
              <a:rPr lang="en-US" dirty="0"/>
              <a:t>  ]</a:t>
            </a:r>
          </a:p>
          <a:p>
            <a:r>
              <a:rPr lang="en-US" dirty="0"/>
              <a:t>},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_id: 2,</a:t>
            </a:r>
          </a:p>
          <a:p>
            <a:r>
              <a:rPr lang="en-US" dirty="0"/>
              <a:t>  item: 'pecans',</a:t>
            </a:r>
          </a:p>
          <a:p>
            <a:r>
              <a:rPr lang="en-US" dirty="0"/>
              <a:t>  price: 20,</a:t>
            </a:r>
          </a:p>
          <a:p>
            <a:r>
              <a:rPr lang="en-US" dirty="0"/>
              <a:t>  ordered: 1,</a:t>
            </a:r>
          </a:p>
          <a:p>
            <a:r>
              <a:rPr lang="en-US" dirty="0"/>
              <a:t>  </a:t>
            </a:r>
            <a:r>
              <a:rPr lang="en-US" dirty="0" err="1"/>
              <a:t>stockdata</a:t>
            </a:r>
            <a:r>
              <a:rPr lang="en-US" dirty="0"/>
              <a:t>: [ { warehouse: 'A', </a:t>
            </a:r>
            <a:r>
              <a:rPr lang="en-US" dirty="0" err="1"/>
              <a:t>instock</a:t>
            </a:r>
            <a:r>
              <a:rPr lang="en-US" dirty="0"/>
              <a:t>: 80 } ]</a:t>
            </a:r>
          </a:p>
          <a:p>
            <a:r>
              <a:rPr lang="en-US" dirty="0"/>
              <a:t>},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_id: 3,</a:t>
            </a:r>
          </a:p>
          <a:p>
            <a:r>
              <a:rPr lang="en-US" dirty="0"/>
              <a:t>  item: 'cookies',</a:t>
            </a:r>
          </a:p>
          <a:p>
            <a:r>
              <a:rPr lang="en-US" dirty="0"/>
              <a:t>  price: 10,</a:t>
            </a:r>
          </a:p>
          <a:p>
            <a:r>
              <a:rPr lang="en-US" dirty="0"/>
              <a:t>  ordered: 60,</a:t>
            </a:r>
          </a:p>
          <a:p>
            <a:r>
              <a:rPr lang="en-US" dirty="0"/>
              <a:t>  </a:t>
            </a:r>
            <a:r>
              <a:rPr lang="en-US" dirty="0" err="1"/>
              <a:t>stockdata</a:t>
            </a:r>
            <a:r>
              <a:rPr lang="en-US" dirty="0"/>
              <a:t>: [ { warehouse: 'A', </a:t>
            </a:r>
            <a:r>
              <a:rPr lang="en-US" dirty="0" err="1"/>
              <a:t>instock</a:t>
            </a:r>
            <a:r>
              <a:rPr lang="en-US" dirty="0"/>
              <a:t>: 80 } ]</a:t>
            </a:r>
          </a:p>
          <a:p>
            <a:r>
              <a:rPr lang="en-US" dirty="0"/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26FD77-4AAC-F901-FFD7-939BE6AF396C}"/>
              </a:ext>
            </a:extLst>
          </p:cNvPr>
          <p:cNvSpPr txBox="1"/>
          <p:nvPr/>
        </p:nvSpPr>
        <p:spPr>
          <a:xfrm>
            <a:off x="4248766" y="5868328"/>
            <a:ext cx="2753139" cy="9233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Cookies order of 60 cannot be fulfilled by warehouse B</a:t>
            </a:r>
          </a:p>
          <a:p>
            <a:r>
              <a:rPr lang="en-US" dirty="0"/>
              <a:t>Not enough in stock there</a:t>
            </a:r>
          </a:p>
        </p:txBody>
      </p:sp>
    </p:spTree>
    <p:extLst>
      <p:ext uri="{BB962C8B-B14F-4D97-AF65-F5344CB8AC3E}">
        <p14:creationId xmlns:p14="http://schemas.microsoft.com/office/powerpoint/2010/main" val="4736788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E1DE5EA-617F-43D4-B2DC-296A44FF25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2029" y="1485546"/>
            <a:ext cx="5831789" cy="5170646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db.zipcodes.explain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().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F42C1"/>
                </a:solidFill>
                <a:effectLst/>
                <a:latin typeface="SFMono-Regular"/>
              </a:rPr>
              <a:t>aggregate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( [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{ $group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_id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state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"$state"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"$city"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pop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$sum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"$pop"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{ $sort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pop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1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 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{ $group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_id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"$_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id.state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biggestCity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$last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"$_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id.city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biggestPop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$last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"$pop"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smallestCity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$first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"$_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id.city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smallestPop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$first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"$pop"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737D"/>
                </a:solidFill>
                <a:effectLst/>
                <a:latin typeface="SFMono-Regular"/>
              </a:rPr>
              <a:t>// the following $project is optional, and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737D"/>
                </a:solidFill>
                <a:effectLst/>
                <a:latin typeface="SFMono-Regular"/>
              </a:rPr>
              <a:t>// modifies the output format.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{ $project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{ _id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5CC5"/>
                </a:solidFill>
                <a:effectLst/>
                <a:latin typeface="SFMono-Regular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state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"$_id"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biggestCity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biggestCity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pop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biggestPop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smallestCity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smallestCity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pop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smallestPop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24292E"/>
                </a:solidFill>
                <a:latin typeface="SFMono-Regular"/>
              </a:rPr>
              <a:t>	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] 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365DA5-EC64-BE4B-8CDE-98FB480E0553}"/>
              </a:ext>
            </a:extLst>
          </p:cNvPr>
          <p:cNvSpPr txBox="1"/>
          <p:nvPr/>
        </p:nvSpPr>
        <p:spPr>
          <a:xfrm>
            <a:off x="8409997" y="71527"/>
            <a:ext cx="2779974" cy="6786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/>
              <a:t>{</a:t>
            </a:r>
          </a:p>
          <a:p>
            <a:r>
              <a:rPr lang="en-US" sz="500" dirty="0"/>
              <a:t>    "stages" : [</a:t>
            </a:r>
          </a:p>
          <a:p>
            <a:r>
              <a:rPr lang="en-US" sz="500" dirty="0"/>
              <a:t>    {</a:t>
            </a:r>
          </a:p>
          <a:p>
            <a:r>
              <a:rPr lang="en-US" sz="500" dirty="0"/>
              <a:t>         "$cursor" : {</a:t>
            </a:r>
          </a:p>
          <a:p>
            <a:r>
              <a:rPr lang="en-US" sz="500" dirty="0"/>
              <a:t>                    "query" : {</a:t>
            </a:r>
          </a:p>
          <a:p>
            <a:r>
              <a:rPr lang="en-US" sz="500" dirty="0"/>
              <a:t>                       },</a:t>
            </a:r>
          </a:p>
          <a:p>
            <a:r>
              <a:rPr lang="en-US" sz="500" dirty="0"/>
              <a:t>              "fields" : {</a:t>
            </a:r>
          </a:p>
          <a:p>
            <a:r>
              <a:rPr lang="en-US" sz="500" dirty="0"/>
              <a:t>                       "city" : 1,</a:t>
            </a:r>
          </a:p>
          <a:p>
            <a:r>
              <a:rPr lang="en-US" sz="500" dirty="0"/>
              <a:t>                       "pop" : 1,</a:t>
            </a:r>
          </a:p>
          <a:p>
            <a:r>
              <a:rPr lang="en-US" sz="500" dirty="0"/>
              <a:t>                       "state" : 1,</a:t>
            </a:r>
          </a:p>
          <a:p>
            <a:r>
              <a:rPr lang="en-US" sz="500" dirty="0"/>
              <a:t>                        "_id" : 0</a:t>
            </a:r>
          </a:p>
          <a:p>
            <a:r>
              <a:rPr lang="en-US" sz="500" dirty="0"/>
              <a:t>                },</a:t>
            </a:r>
          </a:p>
          <a:p>
            <a:r>
              <a:rPr lang="en-US" sz="500" dirty="0"/>
              <a:t>               "</a:t>
            </a:r>
            <a:r>
              <a:rPr lang="en-US" sz="500" dirty="0" err="1"/>
              <a:t>queryPlanner</a:t>
            </a:r>
            <a:r>
              <a:rPr lang="en-US" sz="500" dirty="0"/>
              <a:t>" : {</a:t>
            </a:r>
          </a:p>
          <a:p>
            <a:r>
              <a:rPr lang="en-US" sz="500" dirty="0"/>
              <a:t>                         "</a:t>
            </a:r>
            <a:r>
              <a:rPr lang="en-US" sz="500" dirty="0" err="1"/>
              <a:t>plannerVersion</a:t>
            </a:r>
            <a:r>
              <a:rPr lang="en-US" sz="500" dirty="0"/>
              <a:t>" : 1,</a:t>
            </a:r>
          </a:p>
          <a:p>
            <a:r>
              <a:rPr lang="en-US" sz="500" dirty="0"/>
              <a:t>                         "namespace" : "</a:t>
            </a:r>
            <a:r>
              <a:rPr lang="en-US" sz="500" dirty="0" err="1"/>
              <a:t>test.zipcodes</a:t>
            </a:r>
            <a:r>
              <a:rPr lang="en-US" sz="500" dirty="0"/>
              <a:t>",</a:t>
            </a:r>
          </a:p>
          <a:p>
            <a:r>
              <a:rPr lang="en-US" sz="500" dirty="0"/>
              <a:t>                         "</a:t>
            </a:r>
            <a:r>
              <a:rPr lang="en-US" sz="500" dirty="0" err="1"/>
              <a:t>indexFilterSet</a:t>
            </a:r>
            <a:r>
              <a:rPr lang="en-US" sz="500" dirty="0"/>
              <a:t>" : false,</a:t>
            </a:r>
          </a:p>
          <a:p>
            <a:r>
              <a:rPr lang="en-US" sz="500" dirty="0"/>
              <a:t>                          "</a:t>
            </a:r>
            <a:r>
              <a:rPr lang="en-US" sz="500" dirty="0" err="1"/>
              <a:t>parsedQuery</a:t>
            </a:r>
            <a:r>
              <a:rPr lang="en-US" sz="500" dirty="0"/>
              <a:t>" : {</a:t>
            </a:r>
          </a:p>
          <a:p>
            <a:r>
              <a:rPr lang="en-US" sz="500" dirty="0"/>
              <a:t>                           },</a:t>
            </a:r>
          </a:p>
          <a:p>
            <a:r>
              <a:rPr lang="en-US" sz="500" dirty="0"/>
              <a:t>                          "</a:t>
            </a:r>
            <a:r>
              <a:rPr lang="en-US" sz="500" dirty="0" err="1"/>
              <a:t>queryHash</a:t>
            </a:r>
            <a:r>
              <a:rPr lang="en-US" sz="500" dirty="0"/>
              <a:t>" : "8B3D4AB8",</a:t>
            </a:r>
          </a:p>
          <a:p>
            <a:r>
              <a:rPr lang="en-US" sz="500" dirty="0"/>
              <a:t>                          "</a:t>
            </a:r>
            <a:r>
              <a:rPr lang="en-US" sz="500" dirty="0" err="1"/>
              <a:t>planCacheKey</a:t>
            </a:r>
            <a:r>
              <a:rPr lang="en-US" sz="500" dirty="0"/>
              <a:t>" : "8B3D4AB8",</a:t>
            </a:r>
          </a:p>
          <a:p>
            <a:r>
              <a:rPr lang="en-US" sz="500" dirty="0"/>
              <a:t>                          "</a:t>
            </a:r>
            <a:r>
              <a:rPr lang="en-US" sz="500" dirty="0" err="1"/>
              <a:t>winningPlan</a:t>
            </a:r>
            <a:r>
              <a:rPr lang="en-US" sz="500" dirty="0"/>
              <a:t>" : {</a:t>
            </a:r>
          </a:p>
          <a:p>
            <a:r>
              <a:rPr lang="en-US" sz="500" dirty="0"/>
              <a:t>                                   "stage" : "COLLSCAN",</a:t>
            </a:r>
          </a:p>
          <a:p>
            <a:r>
              <a:rPr lang="en-US" sz="500" dirty="0"/>
              <a:t>                                   "direction" : "forward"</a:t>
            </a:r>
          </a:p>
          <a:p>
            <a:r>
              <a:rPr lang="en-US" sz="500" dirty="0"/>
              <a:t>                            },</a:t>
            </a:r>
          </a:p>
          <a:p>
            <a:r>
              <a:rPr lang="en-US" sz="500" dirty="0"/>
              <a:t>                           "</a:t>
            </a:r>
            <a:r>
              <a:rPr lang="en-US" sz="500" dirty="0" err="1"/>
              <a:t>rejectedPlans</a:t>
            </a:r>
            <a:r>
              <a:rPr lang="en-US" sz="500" dirty="0"/>
              <a:t>" : [ ]</a:t>
            </a:r>
          </a:p>
          <a:p>
            <a:r>
              <a:rPr lang="en-US" sz="500" dirty="0"/>
              <a:t>                  }</a:t>
            </a:r>
          </a:p>
          <a:p>
            <a:r>
              <a:rPr lang="en-US" sz="500" dirty="0"/>
              <a:t>              }</a:t>
            </a:r>
          </a:p>
          <a:p>
            <a:r>
              <a:rPr lang="en-US" sz="500" dirty="0"/>
              <a:t>     },</a:t>
            </a:r>
          </a:p>
          <a:p>
            <a:r>
              <a:rPr lang="en-US" sz="500" dirty="0"/>
              <a:t>     {</a:t>
            </a:r>
          </a:p>
          <a:p>
            <a:r>
              <a:rPr lang="en-US" sz="500" dirty="0"/>
              <a:t>           "$group" : {</a:t>
            </a:r>
          </a:p>
          <a:p>
            <a:r>
              <a:rPr lang="en-US" sz="500" dirty="0"/>
              <a:t>                    "_id" : {</a:t>
            </a:r>
          </a:p>
          <a:p>
            <a:r>
              <a:rPr lang="en-US" sz="500" dirty="0"/>
              <a:t>                            "state" : "$state",</a:t>
            </a:r>
          </a:p>
          <a:p>
            <a:r>
              <a:rPr lang="en-US" sz="500" dirty="0"/>
              <a:t>                            "city" : "$city"</a:t>
            </a:r>
          </a:p>
          <a:p>
            <a:r>
              <a:rPr lang="en-US" sz="500" dirty="0"/>
              <a:t>                      },</a:t>
            </a:r>
          </a:p>
          <a:p>
            <a:r>
              <a:rPr lang="en-US" sz="500" dirty="0"/>
              <a:t>                      "pop" : {</a:t>
            </a:r>
          </a:p>
          <a:p>
            <a:r>
              <a:rPr lang="en-US" sz="500" dirty="0"/>
              <a:t>                             "$sum" : "$pop"</a:t>
            </a:r>
          </a:p>
          <a:p>
            <a:r>
              <a:rPr lang="en-US" sz="500" dirty="0"/>
              <a:t>                        }</a:t>
            </a:r>
          </a:p>
          <a:p>
            <a:r>
              <a:rPr lang="en-US" sz="500" dirty="0"/>
              <a:t>              }</a:t>
            </a:r>
          </a:p>
          <a:p>
            <a:r>
              <a:rPr lang="en-US" sz="500" dirty="0"/>
              <a:t>      },</a:t>
            </a:r>
          </a:p>
          <a:p>
            <a:r>
              <a:rPr lang="en-US" sz="500" dirty="0"/>
              <a:t>      {</a:t>
            </a:r>
          </a:p>
          <a:p>
            <a:r>
              <a:rPr lang="en-US" sz="500" dirty="0"/>
              <a:t>            "$sort" : {</a:t>
            </a:r>
          </a:p>
          <a:p>
            <a:r>
              <a:rPr lang="en-US" sz="500" dirty="0"/>
              <a:t>                   "</a:t>
            </a:r>
            <a:r>
              <a:rPr lang="en-US" sz="500" dirty="0" err="1"/>
              <a:t>sortKey</a:t>
            </a:r>
            <a:r>
              <a:rPr lang="en-US" sz="500" dirty="0"/>
              <a:t>" : {</a:t>
            </a:r>
          </a:p>
          <a:p>
            <a:r>
              <a:rPr lang="en-US" sz="500" dirty="0"/>
              <a:t>                              "pop" : 1</a:t>
            </a:r>
          </a:p>
          <a:p>
            <a:r>
              <a:rPr lang="en-US" sz="500" dirty="0"/>
              <a:t>                     }</a:t>
            </a:r>
          </a:p>
          <a:p>
            <a:r>
              <a:rPr lang="en-US" sz="500" dirty="0"/>
              <a:t>              }</a:t>
            </a:r>
          </a:p>
          <a:p>
            <a:r>
              <a:rPr lang="en-US" sz="500" dirty="0"/>
              <a:t>        },</a:t>
            </a:r>
          </a:p>
          <a:p>
            <a:r>
              <a:rPr lang="en-US" sz="500" dirty="0"/>
              <a:t>       {</a:t>
            </a:r>
          </a:p>
          <a:p>
            <a:r>
              <a:rPr lang="en-US" sz="500" dirty="0"/>
              <a:t>               "$group" : {</a:t>
            </a:r>
          </a:p>
          <a:p>
            <a:r>
              <a:rPr lang="en-US" sz="500" dirty="0"/>
              <a:t>                         "_id" : "$_</a:t>
            </a:r>
            <a:r>
              <a:rPr lang="en-US" sz="500" dirty="0" err="1"/>
              <a:t>id.state</a:t>
            </a:r>
            <a:r>
              <a:rPr lang="en-US" sz="500" dirty="0"/>
              <a:t>",</a:t>
            </a:r>
          </a:p>
          <a:p>
            <a:r>
              <a:rPr lang="en-US" sz="500" dirty="0"/>
              <a:t>                         "</a:t>
            </a:r>
            <a:r>
              <a:rPr lang="en-US" sz="500" dirty="0" err="1"/>
              <a:t>biggestCity</a:t>
            </a:r>
            <a:r>
              <a:rPr lang="en-US" sz="500" dirty="0"/>
              <a:t>" : {</a:t>
            </a:r>
          </a:p>
          <a:p>
            <a:r>
              <a:rPr lang="en-US" sz="500" dirty="0"/>
              <a:t>                                    "$last" : "$_</a:t>
            </a:r>
            <a:r>
              <a:rPr lang="en-US" sz="500" dirty="0" err="1"/>
              <a:t>id.city</a:t>
            </a:r>
            <a:r>
              <a:rPr lang="en-US" sz="500" dirty="0"/>
              <a:t>"</a:t>
            </a:r>
          </a:p>
          <a:p>
            <a:r>
              <a:rPr lang="en-US" sz="500" dirty="0"/>
              <a:t>                           },</a:t>
            </a:r>
          </a:p>
          <a:p>
            <a:r>
              <a:rPr lang="en-US" sz="500" dirty="0"/>
              <a:t>                          "</a:t>
            </a:r>
            <a:r>
              <a:rPr lang="en-US" sz="500" dirty="0" err="1"/>
              <a:t>biggestPop</a:t>
            </a:r>
            <a:r>
              <a:rPr lang="en-US" sz="500" dirty="0"/>
              <a:t>" : {</a:t>
            </a:r>
          </a:p>
          <a:p>
            <a:r>
              <a:rPr lang="en-US" sz="500" dirty="0"/>
              <a:t>                                     "$last" : "$pop"</a:t>
            </a:r>
          </a:p>
          <a:p>
            <a:r>
              <a:rPr lang="en-US" sz="500" dirty="0"/>
              <a:t>                             },</a:t>
            </a:r>
          </a:p>
          <a:p>
            <a:r>
              <a:rPr lang="en-US" sz="500" dirty="0"/>
              <a:t>                           "</a:t>
            </a:r>
            <a:r>
              <a:rPr lang="en-US" sz="500" dirty="0" err="1"/>
              <a:t>smallestCity</a:t>
            </a:r>
            <a:r>
              <a:rPr lang="en-US" sz="500" dirty="0"/>
              <a:t>" : {</a:t>
            </a:r>
          </a:p>
          <a:p>
            <a:r>
              <a:rPr lang="en-US" sz="500" dirty="0"/>
              <a:t>                                      "$first" : "$_</a:t>
            </a:r>
            <a:r>
              <a:rPr lang="en-US" sz="500" dirty="0" err="1"/>
              <a:t>id.city</a:t>
            </a:r>
            <a:r>
              <a:rPr lang="en-US" sz="500" dirty="0"/>
              <a:t>"</a:t>
            </a:r>
          </a:p>
          <a:p>
            <a:r>
              <a:rPr lang="en-US" sz="500" dirty="0"/>
              <a:t>                             },</a:t>
            </a:r>
          </a:p>
          <a:p>
            <a:r>
              <a:rPr lang="en-US" sz="500" dirty="0"/>
              <a:t>                           "</a:t>
            </a:r>
            <a:r>
              <a:rPr lang="en-US" sz="500" dirty="0" err="1"/>
              <a:t>smallestPop</a:t>
            </a:r>
            <a:r>
              <a:rPr lang="en-US" sz="500" dirty="0"/>
              <a:t>" : {</a:t>
            </a:r>
          </a:p>
          <a:p>
            <a:r>
              <a:rPr lang="en-US" sz="500" dirty="0"/>
              <a:t>                                       "$first" : "$pop"</a:t>
            </a:r>
          </a:p>
          <a:p>
            <a:r>
              <a:rPr lang="en-US" sz="500" dirty="0"/>
              <a:t>                              }</a:t>
            </a:r>
          </a:p>
          <a:p>
            <a:r>
              <a:rPr lang="en-US" sz="500" dirty="0"/>
              <a:t>                   }</a:t>
            </a:r>
          </a:p>
          <a:p>
            <a:r>
              <a:rPr lang="en-US" sz="500" dirty="0"/>
              <a:t>        },</a:t>
            </a:r>
          </a:p>
          <a:p>
            <a:r>
              <a:rPr lang="en-US" sz="500" dirty="0"/>
              <a:t>        {</a:t>
            </a:r>
          </a:p>
          <a:p>
            <a:r>
              <a:rPr lang="en-US" sz="500" dirty="0"/>
              <a:t>                   "$project" : {</a:t>
            </a:r>
          </a:p>
          <a:p>
            <a:r>
              <a:rPr lang="en-US" sz="500" dirty="0"/>
              <a:t>                               "_id" : false,</a:t>
            </a:r>
          </a:p>
          <a:p>
            <a:r>
              <a:rPr lang="en-US" sz="500" dirty="0"/>
              <a:t>                               "state" : "$_id",</a:t>
            </a:r>
          </a:p>
          <a:p>
            <a:r>
              <a:rPr lang="en-US" sz="500" dirty="0"/>
              <a:t>                               "</a:t>
            </a:r>
            <a:r>
              <a:rPr lang="en-US" sz="500" dirty="0" err="1"/>
              <a:t>biggestCity</a:t>
            </a:r>
            <a:r>
              <a:rPr lang="en-US" sz="500" dirty="0"/>
              <a:t>" : {</a:t>
            </a:r>
          </a:p>
          <a:p>
            <a:r>
              <a:rPr lang="en-US" sz="500" dirty="0"/>
              <a:t>                                        "name" : "$</a:t>
            </a:r>
            <a:r>
              <a:rPr lang="en-US" sz="500" dirty="0" err="1"/>
              <a:t>biggestCity</a:t>
            </a:r>
            <a:r>
              <a:rPr lang="en-US" sz="500" dirty="0"/>
              <a:t>",</a:t>
            </a:r>
          </a:p>
          <a:p>
            <a:r>
              <a:rPr lang="en-US" sz="500" dirty="0"/>
              <a:t>                                        "pop" : "$</a:t>
            </a:r>
            <a:r>
              <a:rPr lang="en-US" sz="500" dirty="0" err="1"/>
              <a:t>biggestPop</a:t>
            </a:r>
            <a:r>
              <a:rPr lang="en-US" sz="500" dirty="0"/>
              <a:t>"</a:t>
            </a:r>
          </a:p>
          <a:p>
            <a:r>
              <a:rPr lang="en-US" sz="500" dirty="0"/>
              <a:t>                                 },</a:t>
            </a:r>
          </a:p>
          <a:p>
            <a:r>
              <a:rPr lang="en-US" sz="500" dirty="0"/>
              <a:t>                                "</a:t>
            </a:r>
            <a:r>
              <a:rPr lang="en-US" sz="500" dirty="0" err="1"/>
              <a:t>smallestCity</a:t>
            </a:r>
            <a:r>
              <a:rPr lang="en-US" sz="500" dirty="0"/>
              <a:t>" : {</a:t>
            </a:r>
          </a:p>
          <a:p>
            <a:r>
              <a:rPr lang="en-US" sz="500" dirty="0"/>
              <a:t>                                          "name" : "$</a:t>
            </a:r>
            <a:r>
              <a:rPr lang="en-US" sz="500" dirty="0" err="1"/>
              <a:t>smallestCity</a:t>
            </a:r>
            <a:r>
              <a:rPr lang="en-US" sz="500" dirty="0"/>
              <a:t>",</a:t>
            </a:r>
          </a:p>
          <a:p>
            <a:r>
              <a:rPr lang="en-US" sz="500" dirty="0"/>
              <a:t>                                          "pop" : "$</a:t>
            </a:r>
            <a:r>
              <a:rPr lang="en-US" sz="500" dirty="0" err="1"/>
              <a:t>smallestPop</a:t>
            </a:r>
            <a:r>
              <a:rPr lang="en-US" sz="500" dirty="0"/>
              <a:t>"</a:t>
            </a:r>
          </a:p>
          <a:p>
            <a:r>
              <a:rPr lang="en-US" sz="500" dirty="0"/>
              <a:t>                                  }</a:t>
            </a:r>
          </a:p>
          <a:p>
            <a:r>
              <a:rPr lang="en-US" sz="500" dirty="0"/>
              <a:t>                      }</a:t>
            </a:r>
          </a:p>
          <a:p>
            <a:r>
              <a:rPr lang="en-US" sz="500" dirty="0"/>
              <a:t>          }</a:t>
            </a:r>
          </a:p>
          <a:p>
            <a:r>
              <a:rPr lang="en-US" sz="500" dirty="0"/>
              <a:t>      ],</a:t>
            </a:r>
          </a:p>
          <a:p>
            <a:r>
              <a:rPr lang="en-US" sz="500" dirty="0"/>
              <a:t>     "</a:t>
            </a:r>
            <a:r>
              <a:rPr lang="en-US" sz="500" dirty="0" err="1"/>
              <a:t>serverInfo</a:t>
            </a:r>
            <a:r>
              <a:rPr lang="en-US" sz="500" dirty="0"/>
              <a:t>" : {</a:t>
            </a:r>
          </a:p>
          <a:p>
            <a:r>
              <a:rPr lang="en-US" sz="500" dirty="0"/>
              <a:t>     "host" : "</a:t>
            </a:r>
            <a:r>
              <a:rPr lang="en-US" sz="500" dirty="0" err="1"/>
              <a:t>Quinns</a:t>
            </a:r>
            <a:r>
              <a:rPr lang="en-US" sz="500" dirty="0"/>
              <a:t>-MacBook-</a:t>
            </a:r>
            <a:r>
              <a:rPr lang="en-US" sz="500" dirty="0" err="1"/>
              <a:t>Pro.local</a:t>
            </a:r>
            <a:r>
              <a:rPr lang="en-US" sz="500" dirty="0"/>
              <a:t>",</a:t>
            </a:r>
          </a:p>
          <a:p>
            <a:r>
              <a:rPr lang="en-US" sz="500" dirty="0"/>
              <a:t>     "port" : 27017,</a:t>
            </a:r>
          </a:p>
          <a:p>
            <a:r>
              <a:rPr lang="en-US" sz="500" dirty="0"/>
              <a:t>     "version" : "4.2.3",</a:t>
            </a:r>
          </a:p>
          <a:p>
            <a:r>
              <a:rPr lang="en-US" sz="500" dirty="0"/>
              <a:t>     "</a:t>
            </a:r>
            <a:r>
              <a:rPr lang="en-US" sz="500" dirty="0" err="1"/>
              <a:t>gitVersion</a:t>
            </a:r>
            <a:r>
              <a:rPr lang="en-US" sz="500" dirty="0"/>
              <a:t>" : "6874650b362138df74be53d366bbefc321ea32d4"</a:t>
            </a:r>
          </a:p>
          <a:p>
            <a:r>
              <a:rPr lang="en-US" sz="500" dirty="0"/>
              <a:t>  },</a:t>
            </a:r>
          </a:p>
          <a:p>
            <a:r>
              <a:rPr lang="en-US" sz="500" dirty="0"/>
              <a:t>"ok" : 1</a:t>
            </a:r>
          </a:p>
          <a:p>
            <a:r>
              <a:rPr lang="en-US" sz="500" dirty="0"/>
              <a:t>}</a:t>
            </a:r>
          </a:p>
          <a:p>
            <a:endParaRPr lang="en-US" sz="5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62534E5-4AA3-D04D-9A6C-A5F2E9824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Explain</a:t>
            </a:r>
          </a:p>
        </p:txBody>
      </p:sp>
    </p:spTree>
    <p:extLst>
      <p:ext uri="{BB962C8B-B14F-4D97-AF65-F5344CB8AC3E}">
        <p14:creationId xmlns:p14="http://schemas.microsoft.com/office/powerpoint/2010/main" val="17749657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358D5-9EC0-A3F5-758D-2BE9C532B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7277A-08F3-111F-1FDC-07132D1A71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850880" cy="402336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First download and run MongoDB Compass</a:t>
            </a:r>
          </a:p>
          <a:p>
            <a:r>
              <a:rPr lang="en-US" dirty="0"/>
              <a:t>Google Search "MongoDB Atlas"</a:t>
            </a:r>
          </a:p>
          <a:p>
            <a:pPr lvl="1"/>
            <a:r>
              <a:rPr lang="en-US" dirty="0"/>
              <a:t>Click "Start Free" and go through the signup process</a:t>
            </a:r>
          </a:p>
          <a:p>
            <a:r>
              <a:rPr lang="en-US" dirty="0"/>
              <a:t>Login at </a:t>
            </a:r>
            <a:r>
              <a:rPr lang="en-US" dirty="0" err="1"/>
              <a:t>cloud.mongodb.com</a:t>
            </a:r>
            <a:endParaRPr lang="en-US" dirty="0"/>
          </a:p>
          <a:p>
            <a:r>
              <a:rPr lang="en-US" dirty="0"/>
              <a:t>Click "Build a Database"</a:t>
            </a:r>
          </a:p>
          <a:p>
            <a:pPr lvl="1"/>
            <a:r>
              <a:rPr lang="en-US" dirty="0"/>
              <a:t>Make sure "Free" is selected</a:t>
            </a:r>
          </a:p>
          <a:p>
            <a:pPr lvl="1"/>
            <a:r>
              <a:rPr lang="en-US" dirty="0"/>
              <a:t>Select a Cloud Provider and Region</a:t>
            </a:r>
          </a:p>
          <a:p>
            <a:pPr lvl="1"/>
            <a:r>
              <a:rPr lang="en-US" dirty="0"/>
              <a:t>Click Create</a:t>
            </a:r>
          </a:p>
          <a:p>
            <a:pPr lvl="1"/>
            <a:r>
              <a:rPr lang="en-US" dirty="0"/>
              <a:t>Enter a username &amp; password and finish off the configuration</a:t>
            </a:r>
          </a:p>
          <a:p>
            <a:r>
              <a:rPr lang="en-US" dirty="0"/>
              <a:t>Click "Connect" then select "Connect using MongoDB Compass" and then "I have MongoDB Compass"</a:t>
            </a:r>
          </a:p>
          <a:p>
            <a:pPr lvl="1"/>
            <a:r>
              <a:rPr lang="en-US" dirty="0"/>
              <a:t>Copy the connection string and close</a:t>
            </a:r>
          </a:p>
          <a:p>
            <a:r>
              <a:rPr lang="en-US" dirty="0"/>
              <a:t>Paste the connection string into compass</a:t>
            </a:r>
          </a:p>
          <a:p>
            <a:pPr lvl="1"/>
            <a:r>
              <a:rPr lang="en-US" dirty="0"/>
              <a:t>Replace the &lt;password&gt; with your password</a:t>
            </a:r>
          </a:p>
        </p:txBody>
      </p:sp>
    </p:spTree>
    <p:extLst>
      <p:ext uri="{BB962C8B-B14F-4D97-AF65-F5344CB8AC3E}">
        <p14:creationId xmlns:p14="http://schemas.microsoft.com/office/powerpoint/2010/main" val="41490456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13F4E-A50E-BD44-3286-AE7BD92B6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E92A6-9C18-6247-AEB0-0C24862A6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Click + next to Databases to create a new database</a:t>
            </a:r>
          </a:p>
          <a:p>
            <a:pPr lvl="1"/>
            <a:r>
              <a:rPr lang="en-US" dirty="0"/>
              <a:t>I named my database Zips and the collection was </a:t>
            </a:r>
            <a:r>
              <a:rPr lang="en-US" dirty="0" err="1"/>
              <a:t>zipcodes</a:t>
            </a:r>
            <a:endParaRPr lang="en-US" dirty="0"/>
          </a:p>
          <a:p>
            <a:r>
              <a:rPr lang="en-US" dirty="0"/>
              <a:t>Click the "ADD DATA" button and select "Import JSON or CSV file"</a:t>
            </a:r>
          </a:p>
          <a:p>
            <a:pPr lvl="1"/>
            <a:r>
              <a:rPr lang="en-US" dirty="0"/>
              <a:t>Use the file explorer to select </a:t>
            </a:r>
            <a:r>
              <a:rPr lang="en-US" dirty="0" err="1"/>
              <a:t>zips.json</a:t>
            </a:r>
            <a:endParaRPr lang="en-US" dirty="0"/>
          </a:p>
          <a:p>
            <a:pPr lvl="1"/>
            <a:r>
              <a:rPr lang="en-US" dirty="0"/>
              <a:t>You can download </a:t>
            </a:r>
            <a:r>
              <a:rPr lang="en-US" dirty="0" err="1"/>
              <a:t>zips.json</a:t>
            </a:r>
            <a:r>
              <a:rPr lang="en-US" dirty="0"/>
              <a:t> from the class Canvas site</a:t>
            </a:r>
          </a:p>
          <a:p>
            <a:r>
              <a:rPr lang="en-US" dirty="0"/>
              <a:t>In the Filter box type</a:t>
            </a:r>
          </a:p>
          <a:p>
            <a:pPr lvl="1"/>
            <a:r>
              <a:rPr lang="en-US" dirty="0"/>
              <a:t>{state: "UT", city: "PROVO"}</a:t>
            </a:r>
          </a:p>
          <a:p>
            <a:pPr lvl="1"/>
            <a:r>
              <a:rPr lang="en-US" dirty="0"/>
              <a:t>You should see 3 entries for 84601, 84604, and 84606</a:t>
            </a:r>
          </a:p>
          <a:p>
            <a:pPr lvl="1"/>
            <a:r>
              <a:rPr lang="en-US" dirty="0"/>
              <a:t>If you eliminate the state field, you should see an entry for PROVO, SD</a:t>
            </a:r>
          </a:p>
          <a:p>
            <a:r>
              <a:rPr lang="en-US" dirty="0"/>
              <a:t>Try the aggregations from the presentation using the Aggregations tab</a:t>
            </a:r>
          </a:p>
          <a:p>
            <a:pPr lvl="1"/>
            <a:r>
              <a:rPr lang="en-US" dirty="0"/>
              <a:t>Be sure to click the "&lt;/&gt; Text" button on the right side</a:t>
            </a:r>
          </a:p>
          <a:p>
            <a:pPr lvl="1"/>
            <a:r>
              <a:rPr lang="en-US" dirty="0"/>
              <a:t>Copy and paste in the following aggregation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	[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	{ $group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state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"$state"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city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"$city"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}, pop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$sum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"$pop"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 } },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24292E"/>
                </a:solidFill>
                <a:latin typeface="SFMono-Regular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{ $group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_id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"$_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id.state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avgCityPop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{ $avg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73A49"/>
                </a:solidFill>
                <a:effectLst/>
                <a:latin typeface="SFMono-Regular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32F62"/>
                </a:solidFill>
                <a:effectLst/>
                <a:latin typeface="SFMono-Regular"/>
              </a:rPr>
              <a:t>"$pop"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} }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4292E"/>
                </a:solidFill>
                <a:effectLst/>
                <a:latin typeface="SFMono-Regular"/>
              </a:rPr>
              <a:t> 	]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7353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70910-A56C-A846-AFE3-686D5D6AFB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Map-Reduce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4F539-0B2E-BE4E-8759-37180A3B20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5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Map-Reduce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Idea popularized by Google, 2004</a:t>
            </a:r>
          </a:p>
          <a:p>
            <a:pPr lvl="1"/>
            <a:r>
              <a:rPr lang="en-US" dirty="0"/>
              <a:t>Duplicated by Yahoo in Hadoop</a:t>
            </a:r>
          </a:p>
          <a:p>
            <a:r>
              <a:rPr lang="en-US" dirty="0"/>
              <a:t>General syntax</a:t>
            </a:r>
          </a:p>
          <a:p>
            <a:pPr lvl="1"/>
            <a:r>
              <a:rPr lang="en-US" dirty="0"/>
              <a:t>mapReduce(map function, reduce functions, arguments)</a:t>
            </a:r>
          </a:p>
          <a:p>
            <a:r>
              <a:rPr lang="en-US" dirty="0"/>
              <a:t>Map function</a:t>
            </a:r>
          </a:p>
          <a:p>
            <a:pPr lvl="1"/>
            <a:r>
              <a:rPr lang="en-US" dirty="0"/>
              <a:t>Maps all documents into a hash table (key, values)</a:t>
            </a:r>
          </a:p>
          <a:p>
            <a:r>
              <a:rPr lang="en-US" dirty="0"/>
              <a:t>Reduce function</a:t>
            </a:r>
          </a:p>
          <a:p>
            <a:pPr lvl="1"/>
            <a:r>
              <a:rPr lang="en-US" dirty="0"/>
              <a:t>Reduces the values to a </a:t>
            </a:r>
            <a:r>
              <a:rPr lang="en-US" i="1" dirty="0"/>
              <a:t>single</a:t>
            </a:r>
            <a:r>
              <a:rPr lang="en-US" dirty="0"/>
              <a:t> value.</a:t>
            </a:r>
          </a:p>
          <a:p>
            <a:pPr lvl="1"/>
            <a:r>
              <a:rPr lang="en-US" dirty="0"/>
              <a:t>Like a sum or an average of the values.</a:t>
            </a:r>
          </a:p>
          <a:p>
            <a:r>
              <a:rPr lang="en-US" dirty="0"/>
              <a:t>Arguments</a:t>
            </a:r>
          </a:p>
          <a:p>
            <a:pPr lvl="1"/>
            <a:r>
              <a:rPr lang="en-US" dirty="0"/>
              <a:t>Defines how to get the result document</a:t>
            </a:r>
          </a:p>
          <a:p>
            <a:r>
              <a:rPr lang="en-US" dirty="0"/>
              <a:t>Similar to SQL </a:t>
            </a:r>
          </a:p>
          <a:p>
            <a:pPr lvl="1"/>
            <a:r>
              <a:rPr lang="en-US" dirty="0"/>
              <a:t>Select … group by …</a:t>
            </a:r>
          </a:p>
          <a:p>
            <a:r>
              <a:rPr lang="en-US" dirty="0"/>
              <a:t>Sources</a:t>
            </a:r>
          </a:p>
          <a:p>
            <a:pPr lvl="1"/>
            <a:r>
              <a:rPr lang="en-US" dirty="0">
                <a:hlinkClick r:id="rId2"/>
              </a:rPr>
              <a:t>http://docs.mongodb.org/manual/core/map-reduce/</a:t>
            </a:r>
            <a:endParaRPr lang="en-US" dirty="0"/>
          </a:p>
          <a:p>
            <a:pPr lvl="1"/>
            <a:r>
              <a:rPr lang="en-US" dirty="0"/>
              <a:t>https://www.youtube.com/watch?v=WovfjprPD_I</a:t>
            </a:r>
          </a:p>
          <a:p>
            <a:endParaRPr lang="en-US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MongoDB, an introduction</a:t>
            </a: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FFA4F-9984-4F5F-820D-2E497FFB00D5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9299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35803177-72C5-9247-819B-AFCC851337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MapReduce: A Bird’s-Eye View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A31ECE9-0E7D-9C49-BA6E-36FF1F5B47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365760" indent="-256032">
              <a:buFont typeface="Wingdings" pitchFamily="2" charset="2"/>
              <a:buChar char="§"/>
              <a:defRPr/>
            </a:pPr>
            <a:r>
              <a:rPr lang="en-US" sz="2000" dirty="0"/>
              <a:t>In </a:t>
            </a:r>
            <a:r>
              <a:rPr lang="en-US" sz="2000" dirty="0" err="1"/>
              <a:t>MapReduce</a:t>
            </a:r>
            <a:r>
              <a:rPr lang="en-US" sz="2000" dirty="0"/>
              <a:t>, chunks are processed in </a:t>
            </a:r>
            <a:br>
              <a:rPr lang="en-US" sz="2000" dirty="0"/>
            </a:br>
            <a:r>
              <a:rPr lang="en-US" sz="2000" dirty="0"/>
              <a:t>isolation by tasks called </a:t>
            </a:r>
            <a:r>
              <a:rPr lang="en-US" sz="2000" i="1" dirty="0">
                <a:solidFill>
                  <a:srgbClr val="0000FF"/>
                </a:solidFill>
              </a:rPr>
              <a:t>Mappers</a:t>
            </a:r>
          </a:p>
          <a:p>
            <a:pPr marL="365760" indent="-256032">
              <a:buFont typeface="Wingdings" pitchFamily="2" charset="2"/>
              <a:buChar char="§"/>
              <a:defRPr/>
            </a:pPr>
            <a:endParaRPr lang="en-US" sz="2000" dirty="0"/>
          </a:p>
          <a:p>
            <a:pPr marL="365760" indent="-256032">
              <a:buFont typeface="Wingdings" pitchFamily="2" charset="2"/>
              <a:buChar char="§"/>
              <a:defRPr/>
            </a:pPr>
            <a:r>
              <a:rPr lang="en-US" sz="2000" dirty="0"/>
              <a:t>The outputs from the mappers are denoted as </a:t>
            </a:r>
            <a:br>
              <a:rPr lang="en-US" sz="2000" dirty="0"/>
            </a:br>
            <a:r>
              <a:rPr lang="en-US" sz="2000" dirty="0"/>
              <a:t>intermediate outputs (IOs) and are brought </a:t>
            </a:r>
            <a:br>
              <a:rPr lang="en-US" sz="2000" dirty="0"/>
            </a:br>
            <a:r>
              <a:rPr lang="en-US" sz="2000" dirty="0"/>
              <a:t>into a second set of tasks called </a:t>
            </a:r>
            <a:r>
              <a:rPr lang="en-US" sz="2000" i="1" dirty="0">
                <a:solidFill>
                  <a:srgbClr val="0000FF"/>
                </a:solidFill>
              </a:rPr>
              <a:t>Reducers</a:t>
            </a:r>
            <a:r>
              <a:rPr lang="en-US" sz="2000" dirty="0"/>
              <a:t> </a:t>
            </a:r>
          </a:p>
          <a:p>
            <a:pPr marL="0" indent="0" algn="just">
              <a:buNone/>
              <a:defRPr/>
            </a:pPr>
            <a:endParaRPr lang="en-US" sz="2000" dirty="0"/>
          </a:p>
          <a:p>
            <a:pPr marL="365760" indent="-256032">
              <a:buFont typeface="Wingdings" pitchFamily="2" charset="2"/>
              <a:buChar char="§"/>
              <a:defRPr/>
            </a:pPr>
            <a:r>
              <a:rPr lang="en-US" sz="2000" dirty="0"/>
              <a:t>The process of bringing together IOs into a set </a:t>
            </a:r>
            <a:br>
              <a:rPr lang="en-US" sz="2000" dirty="0"/>
            </a:br>
            <a:r>
              <a:rPr lang="en-US" sz="2000" dirty="0"/>
              <a:t>of Reducers is known as </a:t>
            </a:r>
            <a:r>
              <a:rPr lang="en-US" sz="2000" i="1" dirty="0">
                <a:solidFill>
                  <a:srgbClr val="0000FF"/>
                </a:solidFill>
              </a:rPr>
              <a:t>shuffling process</a:t>
            </a:r>
          </a:p>
          <a:p>
            <a:pPr marL="365760" indent="-256032">
              <a:buFont typeface="Wingdings" pitchFamily="2" charset="2"/>
              <a:buChar char="§"/>
              <a:defRPr/>
            </a:pPr>
            <a:endParaRPr lang="en-US" sz="2000" i="1" dirty="0">
              <a:solidFill>
                <a:srgbClr val="0000FF"/>
              </a:solidFill>
            </a:endParaRPr>
          </a:p>
          <a:p>
            <a:pPr marL="365760" indent="-256032"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The Reducers produce the final outputs (FOs)</a:t>
            </a:r>
          </a:p>
          <a:p>
            <a:pPr marL="365760" indent="-256032">
              <a:buFont typeface="Wingdings" pitchFamily="2" charset="2"/>
              <a:buChar char="§"/>
              <a:defRPr/>
            </a:pP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marL="365760" indent="-256032">
              <a:buFont typeface="Wingdings" pitchFamily="2" charset="2"/>
              <a:buChar char="§"/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Overall, </a:t>
            </a:r>
            <a:r>
              <a:rPr lang="en-US" sz="2000" dirty="0" err="1">
                <a:solidFill>
                  <a:schemeClr val="bg1">
                    <a:lumMod val="50000"/>
                  </a:schemeClr>
                </a:solidFill>
              </a:rPr>
              <a:t>MapReduce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breaks the data flow into two phases, </a:t>
            </a:r>
            <a:br>
              <a:rPr lang="en-US" sz="2000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2000" i="1" dirty="0">
                <a:solidFill>
                  <a:srgbClr val="00B0F0"/>
                </a:solidFill>
              </a:rPr>
              <a:t>map phase</a:t>
            </a:r>
            <a:r>
              <a:rPr lang="en-US" sz="2000" i="1" dirty="0">
                <a:solidFill>
                  <a:srgbClr val="0000FF"/>
                </a:solidFill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and </a:t>
            </a:r>
            <a:r>
              <a:rPr lang="en-US" sz="2000" i="1" dirty="0">
                <a:solidFill>
                  <a:srgbClr val="92D050"/>
                </a:solidFill>
              </a:rPr>
              <a:t>reduce phase</a:t>
            </a:r>
          </a:p>
          <a:p>
            <a:pPr marL="365760" indent="-256032" algn="just">
              <a:buFont typeface="Wingdings" pitchFamily="2" charset="2"/>
              <a:buChar char="§"/>
              <a:defRPr/>
            </a:pP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marL="365760" indent="-256032" algn="just">
              <a:buFont typeface="Wingdings" pitchFamily="2" charset="2"/>
              <a:buChar char="§"/>
              <a:defRPr/>
            </a:pP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marL="365760" indent="-256032" algn="just">
              <a:buFont typeface="Wingdings" pitchFamily="2" charset="2"/>
              <a:buChar char="§"/>
              <a:defRPr/>
            </a:pP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marL="365760" indent="-256032" algn="just">
              <a:buFont typeface="Wingdings" pitchFamily="2" charset="2"/>
              <a:buChar char="§"/>
              <a:defRPr/>
            </a:pP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marL="365760" indent="-256032" algn="just">
              <a:buFont typeface="Wingdings" pitchFamily="2" charset="2"/>
              <a:buChar char="§"/>
              <a:defRPr/>
            </a:pP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marL="365760" indent="-256032" algn="just">
              <a:buFont typeface="Wingdings" pitchFamily="2" charset="2"/>
              <a:buChar char="§"/>
              <a:defRPr/>
            </a:pP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marL="365760" indent="-256032" algn="just">
              <a:buFont typeface="Wingdings" pitchFamily="2" charset="2"/>
              <a:buChar char="§"/>
              <a:defRPr/>
            </a:pP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marL="365760" indent="-256032" algn="just">
              <a:buFont typeface="Wingdings" pitchFamily="2" charset="2"/>
              <a:buChar char="§"/>
              <a:defRPr/>
            </a:pP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marL="365760" indent="-256032" algn="just">
              <a:buFont typeface="Wingdings" pitchFamily="2" charset="2"/>
              <a:buChar char="§"/>
              <a:defRPr/>
            </a:pP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marL="365760" indent="-256032" algn="just">
              <a:buFont typeface="Wingdings" pitchFamily="2" charset="2"/>
              <a:buChar char="§"/>
              <a:defRPr/>
            </a:pP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marL="365760" indent="-256032" algn="just">
              <a:buFont typeface="Wingdings" pitchFamily="2" charset="2"/>
              <a:buChar char="§"/>
              <a:defRPr/>
            </a:pP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marL="365760" indent="-256032" algn="just">
              <a:buFont typeface="Wingdings" pitchFamily="2" charset="2"/>
              <a:buChar char="§"/>
              <a:defRPr/>
            </a:pP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marL="365760" indent="-256032" algn="just">
              <a:buFont typeface="Wingdings" pitchFamily="2" charset="2"/>
              <a:buChar char="§"/>
              <a:defRPr/>
            </a:pPr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pPr marL="621792" lvl="1" algn="just">
              <a:spcBef>
                <a:spcPts val="324"/>
              </a:spcBef>
              <a:buFont typeface="Wingdings" pitchFamily="2" charset="2"/>
              <a:buChar char="§"/>
              <a:defRPr/>
            </a:pP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365760" indent="-256032" algn="just">
              <a:buFont typeface="Wingdings" pitchFamily="2" charset="2"/>
              <a:buChar char="§"/>
              <a:defRPr/>
            </a:pP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621792" lvl="1" algn="just">
              <a:spcBef>
                <a:spcPts val="324"/>
              </a:spcBef>
              <a:buFont typeface="Wingdings" pitchFamily="2" charset="2"/>
              <a:buChar char="§"/>
              <a:defRPr/>
            </a:pPr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10638BF-DBD5-E24C-AA61-2CA6D7ED360A}"/>
              </a:ext>
            </a:extLst>
          </p:cNvPr>
          <p:cNvGrpSpPr/>
          <p:nvPr/>
        </p:nvGrpSpPr>
        <p:grpSpPr>
          <a:xfrm>
            <a:off x="7811605" y="2015068"/>
            <a:ext cx="2914649" cy="3962400"/>
            <a:chOff x="7632701" y="1600200"/>
            <a:chExt cx="2914649" cy="39624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A0DA5BF-AA41-FE4E-838B-1DAA32763DA9}"/>
                </a:ext>
              </a:extLst>
            </p:cNvPr>
            <p:cNvSpPr/>
            <p:nvPr/>
          </p:nvSpPr>
          <p:spPr>
            <a:xfrm>
              <a:off x="8626475" y="1752600"/>
              <a:ext cx="304800" cy="228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>
                <a:defRPr/>
              </a:pPr>
              <a:r>
                <a:rPr lang="en-US" sz="1200" dirty="0"/>
                <a:t>C0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CF5D409-44A5-5A4A-8A90-B98F05052FA1}"/>
                </a:ext>
              </a:extLst>
            </p:cNvPr>
            <p:cNvSpPr/>
            <p:nvPr/>
          </p:nvSpPr>
          <p:spPr>
            <a:xfrm>
              <a:off x="9159875" y="1752600"/>
              <a:ext cx="304800" cy="228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>
                <a:defRPr/>
              </a:pPr>
              <a:r>
                <a:rPr lang="en-US" sz="1200" dirty="0"/>
                <a:t>C1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4D26C9F-8A9E-D248-8276-64853F8458FB}"/>
                </a:ext>
              </a:extLst>
            </p:cNvPr>
            <p:cNvSpPr/>
            <p:nvPr/>
          </p:nvSpPr>
          <p:spPr>
            <a:xfrm>
              <a:off x="9693275" y="1752600"/>
              <a:ext cx="304800" cy="228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>
                <a:defRPr/>
              </a:pPr>
              <a:r>
                <a:rPr lang="en-US" sz="1200" dirty="0"/>
                <a:t>C2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90D9E28-24DF-4D44-B1CF-F1199587DC16}"/>
                </a:ext>
              </a:extLst>
            </p:cNvPr>
            <p:cNvSpPr/>
            <p:nvPr/>
          </p:nvSpPr>
          <p:spPr>
            <a:xfrm>
              <a:off x="10150475" y="1752600"/>
              <a:ext cx="304800" cy="228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>
                <a:defRPr/>
              </a:pPr>
              <a:r>
                <a:rPr lang="en-US" sz="1200" dirty="0"/>
                <a:t>C3</a:t>
              </a:r>
            </a:p>
          </p:txBody>
        </p:sp>
        <p:sp>
          <p:nvSpPr>
            <p:cNvPr id="4" name="Down Arrow 3">
              <a:extLst>
                <a:ext uri="{FF2B5EF4-FFF2-40B4-BE49-F238E27FC236}">
                  <a16:creationId xmlns:a16="http://schemas.microsoft.com/office/drawing/2014/main" id="{17CD38A9-1163-C34E-8190-5AACA6ACAF97}"/>
                </a:ext>
              </a:extLst>
            </p:cNvPr>
            <p:cNvSpPr/>
            <p:nvPr/>
          </p:nvSpPr>
          <p:spPr>
            <a:xfrm>
              <a:off x="8626475" y="2009775"/>
              <a:ext cx="304800" cy="457200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Down Arrow 10">
              <a:extLst>
                <a:ext uri="{FF2B5EF4-FFF2-40B4-BE49-F238E27FC236}">
                  <a16:creationId xmlns:a16="http://schemas.microsoft.com/office/drawing/2014/main" id="{976E8BE8-100B-6D4E-B54E-DD1BD27AF3B7}"/>
                </a:ext>
              </a:extLst>
            </p:cNvPr>
            <p:cNvSpPr/>
            <p:nvPr/>
          </p:nvSpPr>
          <p:spPr>
            <a:xfrm>
              <a:off x="9159875" y="2009775"/>
              <a:ext cx="304800" cy="457200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Down Arrow 11">
              <a:extLst>
                <a:ext uri="{FF2B5EF4-FFF2-40B4-BE49-F238E27FC236}">
                  <a16:creationId xmlns:a16="http://schemas.microsoft.com/office/drawing/2014/main" id="{8A8BF3D0-5F27-2D47-AB08-180DCC728AEB}"/>
                </a:ext>
              </a:extLst>
            </p:cNvPr>
            <p:cNvSpPr/>
            <p:nvPr/>
          </p:nvSpPr>
          <p:spPr>
            <a:xfrm>
              <a:off x="9715500" y="2009775"/>
              <a:ext cx="304800" cy="457200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Down Arrow 12">
              <a:extLst>
                <a:ext uri="{FF2B5EF4-FFF2-40B4-BE49-F238E27FC236}">
                  <a16:creationId xmlns:a16="http://schemas.microsoft.com/office/drawing/2014/main" id="{CBCEDCB7-7D26-C649-8389-185699D16753}"/>
                </a:ext>
              </a:extLst>
            </p:cNvPr>
            <p:cNvSpPr/>
            <p:nvPr/>
          </p:nvSpPr>
          <p:spPr>
            <a:xfrm>
              <a:off x="10150475" y="2009775"/>
              <a:ext cx="304800" cy="457200"/>
            </a:xfrm>
            <a:prstGeom prst="down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7C05A9C-9F3F-4E4B-8930-30DD16A68FDD}"/>
                </a:ext>
              </a:extLst>
            </p:cNvPr>
            <p:cNvSpPr/>
            <p:nvPr/>
          </p:nvSpPr>
          <p:spPr>
            <a:xfrm>
              <a:off x="8626475" y="2514600"/>
              <a:ext cx="304800" cy="3048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200" dirty="0"/>
                <a:t>M0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60EB862-67A3-0A49-BCDF-BDC835F1251B}"/>
                </a:ext>
              </a:extLst>
            </p:cNvPr>
            <p:cNvSpPr/>
            <p:nvPr/>
          </p:nvSpPr>
          <p:spPr>
            <a:xfrm>
              <a:off x="9159875" y="2514600"/>
              <a:ext cx="304800" cy="3048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200" dirty="0"/>
                <a:t>M1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E5E1092-696A-934A-8369-7F2F5662B193}"/>
                </a:ext>
              </a:extLst>
            </p:cNvPr>
            <p:cNvSpPr/>
            <p:nvPr/>
          </p:nvSpPr>
          <p:spPr>
            <a:xfrm>
              <a:off x="9721850" y="2514600"/>
              <a:ext cx="304800" cy="3048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200" dirty="0"/>
                <a:t>M2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2ADB59E-EFEB-4C4E-8CC4-364D241C8D97}"/>
                </a:ext>
              </a:extLst>
            </p:cNvPr>
            <p:cNvSpPr/>
            <p:nvPr/>
          </p:nvSpPr>
          <p:spPr>
            <a:xfrm>
              <a:off x="10150475" y="2514600"/>
              <a:ext cx="304800" cy="3048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200" dirty="0"/>
                <a:t>M3</a:t>
              </a:r>
            </a:p>
          </p:txBody>
        </p:sp>
        <p:sp>
          <p:nvSpPr>
            <p:cNvPr id="15" name="Chevron 14">
              <a:extLst>
                <a:ext uri="{FF2B5EF4-FFF2-40B4-BE49-F238E27FC236}">
                  <a16:creationId xmlns:a16="http://schemas.microsoft.com/office/drawing/2014/main" id="{64A8704F-6A48-E345-88C1-7CC341CACF92}"/>
                </a:ext>
              </a:extLst>
            </p:cNvPr>
            <p:cNvSpPr/>
            <p:nvPr/>
          </p:nvSpPr>
          <p:spPr>
            <a:xfrm rot="5400000">
              <a:off x="8609013" y="2863851"/>
              <a:ext cx="331788" cy="242887"/>
            </a:xfrm>
            <a:prstGeom prst="chevron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Chevron 21">
              <a:extLst>
                <a:ext uri="{FF2B5EF4-FFF2-40B4-BE49-F238E27FC236}">
                  <a16:creationId xmlns:a16="http://schemas.microsoft.com/office/drawing/2014/main" id="{1568FE9D-082F-8347-A548-304F845A40B4}"/>
                </a:ext>
              </a:extLst>
            </p:cNvPr>
            <p:cNvSpPr/>
            <p:nvPr/>
          </p:nvSpPr>
          <p:spPr>
            <a:xfrm rot="5400000">
              <a:off x="9145588" y="2863851"/>
              <a:ext cx="331788" cy="242887"/>
            </a:xfrm>
            <a:prstGeom prst="chevron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Chevron 22">
              <a:extLst>
                <a:ext uri="{FF2B5EF4-FFF2-40B4-BE49-F238E27FC236}">
                  <a16:creationId xmlns:a16="http://schemas.microsoft.com/office/drawing/2014/main" id="{EFC42F2D-C1D0-5545-819A-3E9A236D4DFA}"/>
                </a:ext>
              </a:extLst>
            </p:cNvPr>
            <p:cNvSpPr/>
            <p:nvPr/>
          </p:nvSpPr>
          <p:spPr>
            <a:xfrm rot="5400000">
              <a:off x="9710738" y="2863851"/>
              <a:ext cx="331788" cy="242887"/>
            </a:xfrm>
            <a:prstGeom prst="chevron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Chevron 23">
              <a:extLst>
                <a:ext uri="{FF2B5EF4-FFF2-40B4-BE49-F238E27FC236}">
                  <a16:creationId xmlns:a16="http://schemas.microsoft.com/office/drawing/2014/main" id="{5CE80633-E1EF-DD44-951D-9ADEB5EFBEE7}"/>
                </a:ext>
              </a:extLst>
            </p:cNvPr>
            <p:cNvSpPr/>
            <p:nvPr/>
          </p:nvSpPr>
          <p:spPr>
            <a:xfrm rot="5400000">
              <a:off x="10136188" y="2863851"/>
              <a:ext cx="331788" cy="242887"/>
            </a:xfrm>
            <a:prstGeom prst="chevron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756ACF5-0C53-FC40-8D90-86A0EDBFFC28}"/>
                </a:ext>
              </a:extLst>
            </p:cNvPr>
            <p:cNvSpPr/>
            <p:nvPr/>
          </p:nvSpPr>
          <p:spPr>
            <a:xfrm>
              <a:off x="8626475" y="3200400"/>
              <a:ext cx="304800" cy="228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>
                <a:defRPr/>
              </a:pPr>
              <a:r>
                <a:rPr lang="en-US" sz="1200" dirty="0"/>
                <a:t>IO0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36C419A-3213-2048-94D2-29EC7E9E394E}"/>
                </a:ext>
              </a:extLst>
            </p:cNvPr>
            <p:cNvSpPr/>
            <p:nvPr/>
          </p:nvSpPr>
          <p:spPr>
            <a:xfrm>
              <a:off x="9159875" y="3200400"/>
              <a:ext cx="304800" cy="228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>
                <a:defRPr/>
              </a:pPr>
              <a:r>
                <a:rPr lang="en-US" sz="1200" dirty="0"/>
                <a:t>IO1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0DAE079-15AD-394E-8776-273EA87852FD}"/>
                </a:ext>
              </a:extLst>
            </p:cNvPr>
            <p:cNvSpPr/>
            <p:nvPr/>
          </p:nvSpPr>
          <p:spPr>
            <a:xfrm>
              <a:off x="9721850" y="3200400"/>
              <a:ext cx="304800" cy="228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>
                <a:defRPr/>
              </a:pPr>
              <a:r>
                <a:rPr lang="en-US" sz="1200" dirty="0"/>
                <a:t>IO2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9A1321-5E74-3F42-A07C-DA55EFE7CEB2}"/>
                </a:ext>
              </a:extLst>
            </p:cNvPr>
            <p:cNvSpPr/>
            <p:nvPr/>
          </p:nvSpPr>
          <p:spPr>
            <a:xfrm>
              <a:off x="10150475" y="3200400"/>
              <a:ext cx="304800" cy="228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>
                <a:defRPr/>
              </a:pPr>
              <a:r>
                <a:rPr lang="en-US" sz="1200" dirty="0"/>
                <a:t>IO3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476EF67-FB48-514B-82CE-1DCF59D5BDC0}"/>
                </a:ext>
              </a:extLst>
            </p:cNvPr>
            <p:cNvCxnSpPr/>
            <p:nvPr/>
          </p:nvCxnSpPr>
          <p:spPr>
            <a:xfrm>
              <a:off x="8778875" y="3429000"/>
              <a:ext cx="609600" cy="990600"/>
            </a:xfrm>
            <a:prstGeom prst="straightConnector1">
              <a:avLst/>
            </a:prstGeom>
            <a:ln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B23C1AC-5106-0344-9879-AB86BD488B40}"/>
                </a:ext>
              </a:extLst>
            </p:cNvPr>
            <p:cNvSpPr/>
            <p:nvPr/>
          </p:nvSpPr>
          <p:spPr>
            <a:xfrm>
              <a:off x="9236075" y="4419600"/>
              <a:ext cx="304800" cy="3048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200" dirty="0"/>
                <a:t>R0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949026E9-1884-0348-80E5-9290A310D65C}"/>
                </a:ext>
              </a:extLst>
            </p:cNvPr>
            <p:cNvSpPr/>
            <p:nvPr/>
          </p:nvSpPr>
          <p:spPr>
            <a:xfrm>
              <a:off x="9769475" y="4419600"/>
              <a:ext cx="304800" cy="30480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sz="1200" dirty="0">
                  <a:solidFill>
                    <a:schemeClr val="tx1"/>
                  </a:solidFill>
                </a:rPr>
                <a:t>R1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E1113F2-FFDE-EE46-948B-B8CC32EDBB1C}"/>
                </a:ext>
              </a:extLst>
            </p:cNvPr>
            <p:cNvCxnSpPr>
              <a:stCxn id="27" idx="2"/>
            </p:cNvCxnSpPr>
            <p:nvPr/>
          </p:nvCxnSpPr>
          <p:spPr>
            <a:xfrm flipH="1">
              <a:off x="9432926" y="3429000"/>
              <a:ext cx="441325" cy="990600"/>
            </a:xfrm>
            <a:prstGeom prst="straightConnector1">
              <a:avLst/>
            </a:prstGeom>
            <a:ln>
              <a:solidFill>
                <a:srgbClr val="7030A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9" name="Straight Arrow Connector 7168">
              <a:extLst>
                <a:ext uri="{FF2B5EF4-FFF2-40B4-BE49-F238E27FC236}">
                  <a16:creationId xmlns:a16="http://schemas.microsoft.com/office/drawing/2014/main" id="{EB8B86C2-EAB4-4041-8369-3B82797E414C}"/>
                </a:ext>
              </a:extLst>
            </p:cNvPr>
            <p:cNvCxnSpPr/>
            <p:nvPr/>
          </p:nvCxnSpPr>
          <p:spPr>
            <a:xfrm>
              <a:off x="9312275" y="3429000"/>
              <a:ext cx="609600" cy="990600"/>
            </a:xfrm>
            <a:prstGeom prst="straightConnector1">
              <a:avLst/>
            </a:prstGeom>
            <a:ln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3" name="Straight Arrow Connector 7172">
              <a:extLst>
                <a:ext uri="{FF2B5EF4-FFF2-40B4-BE49-F238E27FC236}">
                  <a16:creationId xmlns:a16="http://schemas.microsoft.com/office/drawing/2014/main" id="{FB689265-D866-8941-9807-B39927370C6C}"/>
                </a:ext>
              </a:extLst>
            </p:cNvPr>
            <p:cNvCxnSpPr>
              <a:stCxn id="28" idx="2"/>
              <a:endCxn id="32" idx="0"/>
            </p:cNvCxnSpPr>
            <p:nvPr/>
          </p:nvCxnSpPr>
          <p:spPr>
            <a:xfrm flipH="1">
              <a:off x="9921875" y="3429000"/>
              <a:ext cx="381000" cy="990600"/>
            </a:xfrm>
            <a:prstGeom prst="straightConnector1">
              <a:avLst/>
            </a:prstGeom>
            <a:ln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hevron 39">
              <a:extLst>
                <a:ext uri="{FF2B5EF4-FFF2-40B4-BE49-F238E27FC236}">
                  <a16:creationId xmlns:a16="http://schemas.microsoft.com/office/drawing/2014/main" id="{6E0FAE94-5FE1-5942-854B-114EE1B036DD}"/>
                </a:ext>
              </a:extLst>
            </p:cNvPr>
            <p:cNvSpPr/>
            <p:nvPr/>
          </p:nvSpPr>
          <p:spPr>
            <a:xfrm rot="5400000">
              <a:off x="9221788" y="4768851"/>
              <a:ext cx="331788" cy="242887"/>
            </a:xfrm>
            <a:prstGeom prst="chevron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1" name="Chevron 40">
              <a:extLst>
                <a:ext uri="{FF2B5EF4-FFF2-40B4-BE49-F238E27FC236}">
                  <a16:creationId xmlns:a16="http://schemas.microsoft.com/office/drawing/2014/main" id="{5A37C95E-5C43-D64D-8E69-AAAB6DB415AC}"/>
                </a:ext>
              </a:extLst>
            </p:cNvPr>
            <p:cNvSpPr/>
            <p:nvPr/>
          </p:nvSpPr>
          <p:spPr>
            <a:xfrm rot="5400000">
              <a:off x="9755188" y="4768851"/>
              <a:ext cx="331788" cy="242887"/>
            </a:xfrm>
            <a:prstGeom prst="chevron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02B7953-4D48-D542-8959-307BAC770C0C}"/>
                </a:ext>
              </a:extLst>
            </p:cNvPr>
            <p:cNvSpPr/>
            <p:nvPr/>
          </p:nvSpPr>
          <p:spPr>
            <a:xfrm>
              <a:off x="9236075" y="5105400"/>
              <a:ext cx="304800" cy="228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>
                <a:defRPr/>
              </a:pPr>
              <a:r>
                <a:rPr lang="en-US" sz="1200" dirty="0"/>
                <a:t>FO0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B994F86-53B7-8247-B210-64A7C22B1130}"/>
                </a:ext>
              </a:extLst>
            </p:cNvPr>
            <p:cNvSpPr/>
            <p:nvPr/>
          </p:nvSpPr>
          <p:spPr>
            <a:xfrm>
              <a:off x="9769475" y="5105400"/>
              <a:ext cx="304800" cy="2286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>
                <a:defRPr/>
              </a:pPr>
              <a:r>
                <a:rPr lang="en-US" sz="1200" dirty="0"/>
                <a:t>FO1</a:t>
              </a:r>
            </a:p>
          </p:txBody>
        </p:sp>
        <p:sp>
          <p:nvSpPr>
            <p:cNvPr id="7174" name="TextBox 7173">
              <a:extLst>
                <a:ext uri="{FF2B5EF4-FFF2-40B4-BE49-F238E27FC236}">
                  <a16:creationId xmlns:a16="http://schemas.microsoft.com/office/drawing/2014/main" id="{DC3F03A4-E69D-BD4A-A7D8-A69A9EFE28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64476" y="1752601"/>
              <a:ext cx="72006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Lucida Sans Unicode" panose="020B0602030504020204" pitchFamily="34" charset="0"/>
                </a:rPr>
                <a:t>chunks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104C60D-82A6-F548-804C-5438CB3249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64476" y="2543176"/>
              <a:ext cx="83227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Lucida Sans Unicode" panose="020B0602030504020204" pitchFamily="34" charset="0"/>
                </a:rPr>
                <a:t>mappers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01DB614-E21B-FC47-A950-01876A32FA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0251" y="4448176"/>
              <a:ext cx="864339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Lucida Sans Unicode" panose="020B0602030504020204" pitchFamily="34" charset="0"/>
                </a:rPr>
                <a:t>Reducers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75EA404-F4E5-124D-A0BE-6E97B5339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226301" y="2398714"/>
              <a:ext cx="112077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00B0F0"/>
                  </a:solidFill>
                  <a:latin typeface="Lucida Sans Unicode" panose="020B0602030504020204" pitchFamily="34" charset="0"/>
                </a:rPr>
                <a:t>Map Phase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169E971-366C-2E4A-AD9E-31FC7BE268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7082632" y="4242595"/>
              <a:ext cx="1408113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92D050"/>
                  </a:solidFill>
                  <a:latin typeface="Lucida Sans Unicode" panose="020B0602030504020204" pitchFamily="34" charset="0"/>
                </a:rPr>
                <a:t>Reduce Phase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4BA5BA1-6449-8E48-B7BD-7CA7399971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0675" y="3810001"/>
              <a:ext cx="124585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/>
              <a:r>
                <a:rPr lang="en-US" altLang="en-US" sz="1200">
                  <a:latin typeface="Lucida Sans Unicode" panose="020B0602030504020204" pitchFamily="34" charset="0"/>
                </a:rPr>
                <a:t>Shuffling Data</a:t>
              </a:r>
            </a:p>
          </p:txBody>
        </p:sp>
        <p:sp>
          <p:nvSpPr>
            <p:cNvPr id="7176" name="Rounded Rectangle 7175">
              <a:extLst>
                <a:ext uri="{FF2B5EF4-FFF2-40B4-BE49-F238E27FC236}">
                  <a16:creationId xmlns:a16="http://schemas.microsoft.com/office/drawing/2014/main" id="{53B4025A-2598-0143-83AD-BDBD789F8B2A}"/>
                </a:ext>
              </a:extLst>
            </p:cNvPr>
            <p:cNvSpPr/>
            <p:nvPr/>
          </p:nvSpPr>
          <p:spPr>
            <a:xfrm>
              <a:off x="7940675" y="1600200"/>
              <a:ext cx="2590800" cy="1905000"/>
            </a:xfrm>
            <a:prstGeom prst="roundRect">
              <a:avLst/>
            </a:prstGeom>
            <a:noFill/>
            <a:ln w="12700"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38250608-5ECB-7F4D-85AC-8149F49DB12B}"/>
                </a:ext>
              </a:extLst>
            </p:cNvPr>
            <p:cNvSpPr/>
            <p:nvPr/>
          </p:nvSpPr>
          <p:spPr>
            <a:xfrm>
              <a:off x="7956550" y="3581400"/>
              <a:ext cx="2590800" cy="1981200"/>
            </a:xfrm>
            <a:prstGeom prst="roundRect">
              <a:avLst/>
            </a:prstGeom>
            <a:noFill/>
            <a:ln w="12700">
              <a:solidFill>
                <a:srgbClr val="92D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277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1" name="Picture 7">
            <a:extLst>
              <a:ext uri="{FF2B5EF4-FFF2-40B4-BE49-F238E27FC236}">
                <a16:creationId xmlns:a16="http://schemas.microsoft.com/office/drawing/2014/main" id="{457329E5-5CEB-AE48-A652-41636E214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682353"/>
            <a:ext cx="8229600" cy="437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2" name="Title 1">
            <a:extLst>
              <a:ext uri="{FF2B5EF4-FFF2-40B4-BE49-F238E27FC236}">
                <a16:creationId xmlns:a16="http://schemas.microsoft.com/office/drawing/2014/main" id="{6F5277B2-2A29-A84E-A46A-3D1726EEB8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MapReduce: Word Counting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A28C94-5429-5A43-BC30-44D650332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3DA20D-C5C0-AD45-8D3C-BCA13FD9BA09}" type="slidenum">
              <a:rPr lang="en-US"/>
              <a:pPr>
                <a:defRPr/>
              </a:pPr>
              <a:t>47</a:t>
            </a:fld>
            <a:endParaRPr lang="en-US" dirty="0"/>
          </a:p>
        </p:txBody>
      </p:sp>
      <p:sp>
        <p:nvSpPr>
          <p:cNvPr id="87044" name="TextBox 4">
            <a:extLst>
              <a:ext uri="{FF2B5EF4-FFF2-40B4-BE49-F238E27FC236}">
                <a16:creationId xmlns:a16="http://schemas.microsoft.com/office/drawing/2014/main" id="{0874A1B9-B958-724A-A0CA-2B1B6837B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2719" y="4963180"/>
            <a:ext cx="5767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292934"/>
                </a:solidFill>
              </a:rPr>
              <a:t>Map </a:t>
            </a:r>
          </a:p>
          <a:p>
            <a:pPr eaLnBrk="1" hangingPunct="1"/>
            <a:r>
              <a:rPr lang="en-US" altLang="en-US" sz="1400" b="1" dirty="0">
                <a:solidFill>
                  <a:srgbClr val="292934"/>
                </a:solidFill>
              </a:rPr>
              <a:t>Tasks</a:t>
            </a:r>
          </a:p>
        </p:txBody>
      </p:sp>
      <p:sp>
        <p:nvSpPr>
          <p:cNvPr id="87045" name="TextBox 5">
            <a:extLst>
              <a:ext uri="{FF2B5EF4-FFF2-40B4-BE49-F238E27FC236}">
                <a16:creationId xmlns:a16="http://schemas.microsoft.com/office/drawing/2014/main" id="{F0975AA3-DD8A-C64E-A55D-EF41DE600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2566" y="5394453"/>
            <a:ext cx="73026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 dirty="0">
                <a:solidFill>
                  <a:srgbClr val="292934"/>
                </a:solidFill>
              </a:rPr>
              <a:t>Reduce</a:t>
            </a:r>
          </a:p>
          <a:p>
            <a:pPr eaLnBrk="1" hangingPunct="1"/>
            <a:r>
              <a:rPr lang="en-US" altLang="en-US" sz="1400" b="1" dirty="0">
                <a:solidFill>
                  <a:srgbClr val="292934"/>
                </a:solidFill>
              </a:rPr>
              <a:t>Tasks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8FB65F6-FE8E-8E4C-B330-FA17B71D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903" y="1813322"/>
            <a:ext cx="8001000" cy="2057400"/>
          </a:xfrm>
          <a:prstGeom prst="rect">
            <a:avLst/>
          </a:prstGeom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map(key, value):</a:t>
            </a:r>
          </a:p>
          <a:p>
            <a:pPr>
              <a:buFont typeface="Wingdings" pitchFamily="2" charset="2"/>
              <a:buNone/>
            </a:pPr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key: document name; value: text of the document</a:t>
            </a:r>
          </a:p>
          <a:p>
            <a:pPr>
              <a:buFont typeface="Wingdings" pitchFamily="2" charset="2"/>
              <a:buNone/>
            </a:pPr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for each word w in value:</a:t>
            </a:r>
          </a:p>
          <a:p>
            <a:pPr>
              <a:buFont typeface="Wingdings" pitchFamily="2" charset="2"/>
              <a:buNone/>
            </a:pPr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emit(w, 1)</a:t>
            </a:r>
          </a:p>
          <a:p>
            <a:pPr>
              <a:buFont typeface="Wingdings" pitchFamily="2" charset="2"/>
              <a:buNone/>
            </a:pPr>
            <a:endParaRPr lang="en-US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CDBDFE73-F980-FD42-ABB5-B005F52CA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903" y="4793902"/>
            <a:ext cx="77724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reduce(key, values):</a:t>
            </a:r>
          </a:p>
          <a:p>
            <a:pPr eaLnBrk="1" hangingPunct="1"/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key: a word; value: an iterator over counts</a:t>
            </a:r>
          </a:p>
          <a:p>
            <a:pPr eaLnBrk="1" hangingPunct="1"/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result = 0</a:t>
            </a:r>
          </a:p>
          <a:p>
            <a:pPr eaLnBrk="1" hangingPunct="1"/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for each count v in values:</a:t>
            </a:r>
          </a:p>
          <a:p>
            <a:pPr eaLnBrk="1" hangingPunct="1"/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result += v</a:t>
            </a:r>
          </a:p>
          <a:p>
            <a:pPr eaLnBrk="1" hangingPunct="1"/>
            <a:r>
              <a:rPr lang="en-US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emit(key, result)</a:t>
            </a:r>
          </a:p>
        </p:txBody>
      </p:sp>
    </p:spTree>
    <p:extLst>
      <p:ext uri="{BB962C8B-B14F-4D97-AF65-F5344CB8AC3E}">
        <p14:creationId xmlns:p14="http://schemas.microsoft.com/office/powerpoint/2010/main" val="39842887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Map-Reduce, two simple examples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38688"/>
            <a:ext cx="10515600" cy="4351338"/>
          </a:xfrm>
        </p:spPr>
        <p:txBody>
          <a:bodyPr/>
          <a:lstStyle/>
          <a:p>
            <a:r>
              <a:rPr lang="en-US" dirty="0"/>
              <a:t>Example</a:t>
            </a:r>
          </a:p>
          <a:p>
            <a:pPr lvl="1"/>
            <a:r>
              <a:rPr lang="en-US" dirty="0"/>
              <a:t>var mapFunction = function() { emit(this.publisher, 1); };</a:t>
            </a:r>
          </a:p>
          <a:p>
            <a:pPr lvl="1"/>
            <a:r>
              <a:rPr lang="en-US" dirty="0"/>
              <a:t>var reduceFunction = function(key, value) { return Array.sum(value); }</a:t>
            </a:r>
          </a:p>
          <a:p>
            <a:pPr lvl="1"/>
            <a:r>
              <a:rPr lang="en-US" dirty="0"/>
              <a:t>var res = db.books.mapReduce(mapFunction, reduceFunction, { out: "map_reduce_example" });</a:t>
            </a:r>
          </a:p>
          <a:p>
            <a:pPr lvl="1"/>
            <a:r>
              <a:rPr lang="en-US" dirty="0" err="1"/>
              <a:t>db.map_reduce_example.find</a:t>
            </a:r>
            <a:r>
              <a:rPr lang="en-US" dirty="0"/>
              <a:t>();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var </a:t>
            </a:r>
            <a:r>
              <a:rPr lang="en-US" dirty="0" err="1"/>
              <a:t>mapFunction</a:t>
            </a:r>
            <a:r>
              <a:rPr lang="en-US" dirty="0"/>
              <a:t> = function() {emit(</a:t>
            </a:r>
            <a:r>
              <a:rPr lang="en-US" dirty="0" err="1"/>
              <a:t>this.state</a:t>
            </a:r>
            <a:r>
              <a:rPr lang="en-US" dirty="0"/>
              <a:t>, 1); };</a:t>
            </a:r>
          </a:p>
          <a:p>
            <a:pPr lvl="1"/>
            <a:r>
              <a:rPr lang="en-US" dirty="0"/>
              <a:t>var </a:t>
            </a:r>
            <a:r>
              <a:rPr lang="en-US" dirty="0" err="1"/>
              <a:t>reduceFunction</a:t>
            </a:r>
            <a:r>
              <a:rPr lang="en-US" dirty="0"/>
              <a:t> = function(key, value) { return </a:t>
            </a:r>
            <a:r>
              <a:rPr lang="en-US" dirty="0" err="1"/>
              <a:t>Array.sum</a:t>
            </a:r>
            <a:r>
              <a:rPr lang="en-US" dirty="0"/>
              <a:t>(value); };</a:t>
            </a:r>
          </a:p>
          <a:p>
            <a:pPr lvl="1"/>
            <a:r>
              <a:rPr lang="en-US" dirty="0"/>
              <a:t>var res = </a:t>
            </a:r>
            <a:r>
              <a:rPr lang="en-US" dirty="0" err="1"/>
              <a:t>db.zipcodes.mapReduce</a:t>
            </a:r>
            <a:r>
              <a:rPr lang="en-US" dirty="0"/>
              <a:t>(</a:t>
            </a:r>
            <a:r>
              <a:rPr lang="en-US" dirty="0" err="1"/>
              <a:t>mapFunction</a:t>
            </a:r>
            <a:r>
              <a:rPr lang="en-US" dirty="0"/>
              <a:t>, </a:t>
            </a:r>
            <a:r>
              <a:rPr lang="en-US" dirty="0" err="1"/>
              <a:t>reduceFunction</a:t>
            </a:r>
            <a:r>
              <a:rPr lang="en-US" dirty="0"/>
              <a:t>, { out: "</a:t>
            </a:r>
            <a:r>
              <a:rPr lang="en-US" dirty="0" err="1"/>
              <a:t>map_reduce_example</a:t>
            </a:r>
            <a:r>
              <a:rPr lang="en-US" dirty="0"/>
              <a:t>" });</a:t>
            </a:r>
          </a:p>
          <a:p>
            <a:pPr lvl="1"/>
            <a:r>
              <a:rPr lang="en-US" dirty="0" err="1"/>
              <a:t>db.map_reduce_example.find</a:t>
            </a:r>
            <a:r>
              <a:rPr lang="en-US" dirty="0"/>
              <a:t>();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MongoDB, an introduction</a:t>
            </a: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FFA4F-9984-4F5F-820D-2E497FFB00D5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9702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Map-Reduce, another simple example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  <a:p>
            <a:pPr lvl="1"/>
            <a:r>
              <a:rPr lang="en-US" dirty="0"/>
              <a:t>var mapFunction = function() { emit(this.publisher, this.pages); };</a:t>
            </a:r>
          </a:p>
          <a:p>
            <a:pPr lvl="1"/>
            <a:r>
              <a:rPr lang="en-US" dirty="0"/>
              <a:t>var reduceFunction = function(key, value) { return Array.avg(value); }</a:t>
            </a:r>
          </a:p>
          <a:p>
            <a:pPr lvl="1"/>
            <a:r>
              <a:rPr lang="en-US" dirty="0"/>
              <a:t>var res = db.books.mapReduce(mapFunction, reduceFunction, { out: "map_reduce_example" });</a:t>
            </a:r>
          </a:p>
          <a:p>
            <a:pPr lvl="1"/>
            <a:r>
              <a:rPr lang="en-US" dirty="0"/>
              <a:t>db.map_reduce_example.find();</a:t>
            </a:r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MongoDB, an introduction</a:t>
            </a:r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FFA4F-9984-4F5F-820D-2E497FFB00D5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4260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78A91E2F-99BA-2C4B-BABC-770B448AC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647700"/>
            <a:ext cx="99568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7737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3E7C8-138F-48EC-80E4-3BC969901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69753-F286-4C6C-9540-323B4C055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SQL aggregation to MongoDB aggregation comparison</a:t>
            </a:r>
            <a:endParaRPr lang="en-US" dirty="0"/>
          </a:p>
          <a:p>
            <a:r>
              <a:rPr lang="en-US" dirty="0">
                <a:hlinkClick r:id="rId3"/>
              </a:rPr>
              <a:t>Aggregation pipeline API documentation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23832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B8161CE3-1ECC-C945-B31E-724735EE6F50}" vid="{743CEF73-0D38-6542-AA38-B91A3FC662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5393</TotalTime>
  <Words>6333</Words>
  <Application>Microsoft Macintosh PowerPoint</Application>
  <PresentationFormat>Widescreen</PresentationFormat>
  <Paragraphs>800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Arial</vt:lpstr>
      <vt:lpstr>Calibri</vt:lpstr>
      <vt:lpstr>Calibri Light</vt:lpstr>
      <vt:lpstr>Courier New</vt:lpstr>
      <vt:lpstr>Euclid Circular A</vt:lpstr>
      <vt:lpstr>inherit</vt:lpstr>
      <vt:lpstr>Lucida Sans Unicode</vt:lpstr>
      <vt:lpstr>SFMono-Regular</vt:lpstr>
      <vt:lpstr>Wingdings</vt:lpstr>
      <vt:lpstr>Retrospect</vt:lpstr>
      <vt:lpstr>More MongoDB</vt:lpstr>
      <vt:lpstr>References</vt:lpstr>
      <vt:lpstr>Insert, using reference</vt:lpstr>
      <vt:lpstr>Functions</vt:lpstr>
      <vt:lpstr>Cursors and iteration</vt:lpstr>
      <vt:lpstr>Aggregations</vt:lpstr>
      <vt:lpstr>Intro</vt:lpstr>
      <vt:lpstr>What are aggregations?</vt:lpstr>
      <vt:lpstr>MySQL recap of aggregations</vt:lpstr>
      <vt:lpstr>MongoDB Review</vt:lpstr>
      <vt:lpstr>MongoDB Review</vt:lpstr>
      <vt:lpstr>MongoDB Aggregations</vt:lpstr>
      <vt:lpstr>PowerPoint Presentation</vt:lpstr>
      <vt:lpstr>Aggregation Pipeline</vt:lpstr>
      <vt:lpstr>Group stage</vt:lpstr>
      <vt:lpstr>Group Example</vt:lpstr>
      <vt:lpstr>Group Example (Continued)</vt:lpstr>
      <vt:lpstr>Group by null</vt:lpstr>
      <vt:lpstr>Match Stage</vt:lpstr>
      <vt:lpstr>Example with Articles collection</vt:lpstr>
      <vt:lpstr>Example with Articles collection</vt:lpstr>
      <vt:lpstr>Combine Group and Match</vt:lpstr>
      <vt:lpstr>Zips collection</vt:lpstr>
      <vt:lpstr>Learn By Example</vt:lpstr>
      <vt:lpstr>Equivalent MySQL command</vt:lpstr>
      <vt:lpstr>More accumulator operators</vt:lpstr>
      <vt:lpstr>More Examples (Return average city population by state)</vt:lpstr>
      <vt:lpstr>More Examples (Return largest and smallest cities by state)</vt:lpstr>
      <vt:lpstr>Return largest and smallest cities by state</vt:lpstr>
      <vt:lpstr>$lookup</vt:lpstr>
      <vt:lpstr>$lookup</vt:lpstr>
      <vt:lpstr>$lookup</vt:lpstr>
      <vt:lpstr>$lookup</vt:lpstr>
      <vt:lpstr>$lookup</vt:lpstr>
      <vt:lpstr>$lookup</vt:lpstr>
      <vt:lpstr>$lookup – array membership</vt:lpstr>
      <vt:lpstr>$lookup</vt:lpstr>
      <vt:lpstr>$lookup – correlated subqueries</vt:lpstr>
      <vt:lpstr>$lookup – correlated subqueries</vt:lpstr>
      <vt:lpstr>PowerPoint Presentation</vt:lpstr>
      <vt:lpstr>Explain</vt:lpstr>
      <vt:lpstr>Demo</vt:lpstr>
      <vt:lpstr>Demo Continued</vt:lpstr>
      <vt:lpstr>Map-Reduce</vt:lpstr>
      <vt:lpstr>Map-Reduce</vt:lpstr>
      <vt:lpstr>MapReduce: A Bird’s-Eye View</vt:lpstr>
      <vt:lpstr>MapReduce: Word Counting</vt:lpstr>
      <vt:lpstr>Map-Reduce, two simple examples</vt:lpstr>
      <vt:lpstr>Map-Reduce, another simple example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MongoDB</dc:title>
  <dc:creator>Quinn Snell</dc:creator>
  <cp:lastModifiedBy>Quinn Snell</cp:lastModifiedBy>
  <cp:revision>19</cp:revision>
  <dcterms:created xsi:type="dcterms:W3CDTF">2021-11-09T22:30:50Z</dcterms:created>
  <dcterms:modified xsi:type="dcterms:W3CDTF">2023-03-22T15:26:21Z</dcterms:modified>
</cp:coreProperties>
</file>