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35"/>
  </p:notesMasterIdLst>
  <p:handoutMasterIdLst>
    <p:handoutMasterId r:id="rId36"/>
  </p:handoutMasterIdLst>
  <p:sldIdLst>
    <p:sldId id="274" r:id="rId3"/>
    <p:sldId id="276" r:id="rId4"/>
    <p:sldId id="492" r:id="rId5"/>
    <p:sldId id="493" r:id="rId6"/>
    <p:sldId id="502" r:id="rId7"/>
    <p:sldId id="494" r:id="rId8"/>
    <p:sldId id="504" r:id="rId9"/>
    <p:sldId id="495" r:id="rId10"/>
    <p:sldId id="503" r:id="rId11"/>
    <p:sldId id="497" r:id="rId12"/>
    <p:sldId id="505" r:id="rId13"/>
    <p:sldId id="498" r:id="rId14"/>
    <p:sldId id="500" r:id="rId15"/>
    <p:sldId id="506" r:id="rId16"/>
    <p:sldId id="507" r:id="rId17"/>
    <p:sldId id="508" r:id="rId18"/>
    <p:sldId id="509" r:id="rId19"/>
    <p:sldId id="501" r:id="rId20"/>
    <p:sldId id="517" r:id="rId21"/>
    <p:sldId id="518" r:id="rId22"/>
    <p:sldId id="519" r:id="rId23"/>
    <p:sldId id="516" r:id="rId24"/>
    <p:sldId id="510" r:id="rId25"/>
    <p:sldId id="511" r:id="rId26"/>
    <p:sldId id="512" r:id="rId27"/>
    <p:sldId id="515" r:id="rId28"/>
    <p:sldId id="513" r:id="rId29"/>
    <p:sldId id="514" r:id="rId30"/>
    <p:sldId id="457" r:id="rId31"/>
    <p:sldId id="424" r:id="rId32"/>
    <p:sldId id="419" r:id="rId33"/>
    <p:sldId id="420" r:id="rId3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6"/>
    <a:srgbClr val="0076CA"/>
    <a:srgbClr val="FBEEDC"/>
    <a:srgbClr val="F0A22E"/>
    <a:srgbClr val="603A14"/>
    <a:srgbClr val="E85C0E"/>
    <a:srgbClr val="BAB398"/>
    <a:srgbClr val="ADA485"/>
    <a:srgbClr val="C6C0AA"/>
    <a:srgbClr val="66360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93" autoAdjust="0"/>
    <p:restoredTop sz="94533" autoAdjust="0"/>
  </p:normalViewPr>
  <p:slideViewPr>
    <p:cSldViewPr>
      <p:cViewPr varScale="1">
        <p:scale>
          <a:sx n="112" d="100"/>
          <a:sy n="112" d="100"/>
        </p:scale>
        <p:origin x="208" y="536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6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3/8/23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3/8/23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51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49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5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612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94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553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judge.softuni.bg/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://forum.softuni.bg/" TargetMode="External"/><Relationship Id="rId12" Type="http://schemas.openxmlformats.org/officeDocument/2006/relationships/hyperlink" Target="http://www.introprogramming.info/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nakov.com/" TargetMode="External"/><Relationship Id="rId11" Type="http://schemas.openxmlformats.org/officeDocument/2006/relationships/hyperlink" Target="http://www.youtube.com/SoftwareUniversity" TargetMode="External"/><Relationship Id="rId5" Type="http://schemas.openxmlformats.org/officeDocument/2006/relationships/hyperlink" Target="http://softuni.org/" TargetMode="External"/><Relationship Id="rId10" Type="http://schemas.openxmlformats.org/officeDocument/2006/relationships/hyperlink" Target="https://twitter.com/softunibg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hyperlink" Target="https://www.facebook.com/SoftwareUniversity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 bwMode="grayWhite"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/>
              <a:t>Insert a Picture Here</a:t>
            </a:r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Web Site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FA7EA-3664-49FE-B0F0-25537597E3EA}" type="datetime1">
              <a:rPr lang="en-US" smtClean="0"/>
              <a:t>3/8/23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Slide Title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6212" y="4953000"/>
            <a:ext cx="8938472" cy="820600"/>
          </a:xfrm>
        </p:spPr>
        <p:txBody>
          <a:bodyPr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46212" y="5754968"/>
            <a:ext cx="8938472" cy="688256"/>
          </a:xfrm>
        </p:spPr>
        <p:txBody>
          <a:bodyPr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Section Subtitle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 rot="20967018">
            <a:off x="52437" y="3176455"/>
            <a:ext cx="7313295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0000" b="1" kern="1200" noProof="0" dirty="0">
                <a:solidFill>
                  <a:srgbClr val="F3BE60"/>
                </a:solidFill>
                <a:latin typeface="+mj-lt"/>
                <a:ea typeface="+mj-ea"/>
                <a:cs typeface="+mj-cs"/>
              </a:rPr>
              <a:t>Questions?</a:t>
            </a:r>
            <a:endParaRPr lang="en-US" sz="100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Course Web Site</a:t>
            </a:r>
          </a:p>
        </p:txBody>
      </p:sp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412" y="261000"/>
            <a:ext cx="2050131" cy="670675"/>
          </a:xfrm>
          <a:prstGeom prst="rect">
            <a:avLst/>
          </a:prstGeom>
        </p:spPr>
      </p:pic>
      <p:sp>
        <p:nvSpPr>
          <p:cNvPr id="50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2" name="TextBox 1">
            <a:hlinkClick r:id="rId4" tooltip="Software University - Quality Education, Profession and Job for Software Engineers"/>
          </p:cNvPr>
          <p:cNvSpPr txBox="1"/>
          <p:nvPr userDrawn="1"/>
        </p:nvSpPr>
        <p:spPr>
          <a:xfrm rot="322982">
            <a:off x="10066442" y="2253546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7" name="TextBox 26">
            <a:hlinkClick r:id="rId5" tooltip="Software University Foundaton"/>
          </p:cNvPr>
          <p:cNvSpPr txBox="1"/>
          <p:nvPr userDrawn="1"/>
        </p:nvSpPr>
        <p:spPr>
          <a:xfrm rot="20630519">
            <a:off x="7568290" y="4341197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1" name="TextBox 50">
            <a:hlinkClick r:id="rId6" tooltip="Svetlin Nakov - Programming and Education for Developers"/>
          </p:cNvPr>
          <p:cNvSpPr txBox="1"/>
          <p:nvPr userDrawn="1"/>
        </p:nvSpPr>
        <p:spPr>
          <a:xfrm>
            <a:off x="11500162" y="467963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2" name="TextBox 51">
            <a:hlinkClick r:id="rId7" tooltip="Software University - Discussion Forum"/>
          </p:cNvPr>
          <p:cNvSpPr txBox="1"/>
          <p:nvPr userDrawn="1"/>
        </p:nvSpPr>
        <p:spPr>
          <a:xfrm rot="20971262">
            <a:off x="6094412" y="610908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3" name="TextBox 52">
            <a:hlinkClick r:id="rId8" tooltip="Software University - Online Judge System"/>
          </p:cNvPr>
          <p:cNvSpPr txBox="1"/>
          <p:nvPr userDrawn="1"/>
        </p:nvSpPr>
        <p:spPr>
          <a:xfrm rot="569019">
            <a:off x="9155998" y="403273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4" name="TextBox 53">
            <a:hlinkClick r:id="rId9" tooltip="Software University @ Facebook"/>
          </p:cNvPr>
          <p:cNvSpPr txBox="1"/>
          <p:nvPr userDrawn="1"/>
        </p:nvSpPr>
        <p:spPr>
          <a:xfrm rot="219682">
            <a:off x="7047355" y="256011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6" name="TextBox 55">
            <a:hlinkClick r:id="rId10" tooltip="Software University @ Twitter"/>
          </p:cNvPr>
          <p:cNvSpPr txBox="1"/>
          <p:nvPr userDrawn="1"/>
        </p:nvSpPr>
        <p:spPr>
          <a:xfrm rot="20972266">
            <a:off x="11754532" y="232084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7" name="TextBox 56">
            <a:hlinkClick r:id="rId11" tooltip="Software University @ YouTube - free training courses and video lessons for software engineers"/>
          </p:cNvPr>
          <p:cNvSpPr txBox="1"/>
          <p:nvPr userDrawn="1"/>
        </p:nvSpPr>
        <p:spPr>
          <a:xfrm rot="562174">
            <a:off x="11774596" y="3447926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8" name="TextBox 57">
            <a:hlinkClick r:id="rId12" tooltip="Programming Fundamentals Book and Vide Lessons: Learn C#, Programming, Data Structures, Algorithms and Quality Coding"/>
          </p:cNvPr>
          <p:cNvSpPr txBox="1"/>
          <p:nvPr userDrawn="1"/>
        </p:nvSpPr>
        <p:spPr>
          <a:xfrm rot="571210">
            <a:off x="11136783" y="562591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0582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4380" y="71439"/>
            <a:ext cx="8735325" cy="9096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31688" y="1268414"/>
            <a:ext cx="5561151" cy="53292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268414"/>
            <a:ext cx="5561151" cy="53292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6562964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21623-BBB3-4AB7-910A-25A1390DA602}" type="datetime1">
              <a:rPr lang="en-US" smtClean="0"/>
              <a:t>3/8/23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03" y="39574"/>
            <a:ext cx="11806432" cy="1111549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13" y="1151123"/>
            <a:ext cx="11804822" cy="5570353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7" r:id="rId4"/>
    <p:sldLayoutId id="2147483668" r:id="rId5"/>
    <p:sldLayoutId id="2147483669" r:id="rId6"/>
  </p:sldLayoutIdLst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3BE60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F2B254"/>
        </a:buClr>
        <a:buSzPct val="100000"/>
        <a:buFont typeface="Wingdings" panose="05000000000000000000" pitchFamily="2" charset="2"/>
        <a:buChar char="§"/>
        <a:defRPr sz="3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F9A1D"/>
        </a:buClr>
        <a:buSzPct val="80000"/>
        <a:buFont typeface="Wingdings" panose="05000000000000000000" pitchFamily="2" charset="2"/>
        <a:buChar char="§"/>
        <a:defRPr sz="3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D9411"/>
        </a:buClr>
        <a:buSzPct val="80000"/>
        <a:buFont typeface="Wingdings" panose="05000000000000000000" pitchFamily="2" charset="2"/>
        <a:buChar char="§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28D10"/>
        </a:buClr>
        <a:buSzPct val="80000"/>
        <a:buFont typeface="Wingdings" panose="05000000000000000000" pitchFamily="2" charset="2"/>
        <a:buChar char="§"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2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://softuni.bg/" TargetMode="External"/><Relationship Id="rId7" Type="http://schemas.openxmlformats.org/officeDocument/2006/relationships/hyperlink" Target="http://softuni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://creativecommons.org/licenses/by-nc-sa/4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redis.io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blog.serverfault.com/2011/02/11/stack-exchanges-architecture-in-bullet-point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SOpenTech/redis" TargetMode="External"/><Relationship Id="rId2" Type="http://schemas.openxmlformats.org/officeDocument/2006/relationships/hyperlink" Target="http://redis.io/downloa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hocolatey.org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try.redis.io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redis.io/commands#sorted_se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redis.io/commands#pubsub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btech.com/" TargetMode="External"/><Relationship Id="rId13" Type="http://schemas.openxmlformats.org/officeDocument/2006/relationships/image" Target="../media/image28.png"/><Relationship Id="rId18" Type="http://schemas.openxmlformats.org/officeDocument/2006/relationships/image" Target="../media/image31.png"/><Relationship Id="rId3" Type="http://schemas.openxmlformats.org/officeDocument/2006/relationships/hyperlink" Target="https://softuni.bg/courses/databases" TargetMode="External"/><Relationship Id="rId21" Type="http://schemas.openxmlformats.org/officeDocument/2006/relationships/image" Target="../media/image34.png"/><Relationship Id="rId7" Type="http://schemas.openxmlformats.org/officeDocument/2006/relationships/image" Target="../media/image25.png"/><Relationship Id="rId12" Type="http://schemas.openxmlformats.org/officeDocument/2006/relationships/hyperlink" Target="http://smartit.bg/" TargetMode="External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6" Type="http://schemas.openxmlformats.org/officeDocument/2006/relationships/hyperlink" Target="http://www.superhosting.bg/" TargetMode="External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xs-software.com/" TargetMode="External"/><Relationship Id="rId11" Type="http://schemas.openxmlformats.org/officeDocument/2006/relationships/image" Target="../media/image27.png"/><Relationship Id="rId5" Type="http://schemas.openxmlformats.org/officeDocument/2006/relationships/image" Target="../media/image24.jpeg"/><Relationship Id="rId15" Type="http://schemas.openxmlformats.org/officeDocument/2006/relationships/image" Target="../media/image29.png"/><Relationship Id="rId23" Type="http://schemas.openxmlformats.org/officeDocument/2006/relationships/image" Target="../media/image36.png"/><Relationship Id="rId10" Type="http://schemas.openxmlformats.org/officeDocument/2006/relationships/hyperlink" Target="http://komfo.com/" TargetMode="External"/><Relationship Id="rId19" Type="http://schemas.openxmlformats.org/officeDocument/2006/relationships/image" Target="../media/image32.png"/><Relationship Id="rId4" Type="http://schemas.openxmlformats.org/officeDocument/2006/relationships/hyperlink" Target="http://www.vivacom.bg/" TargetMode="External"/><Relationship Id="rId9" Type="http://schemas.openxmlformats.org/officeDocument/2006/relationships/image" Target="../media/image26.png"/><Relationship Id="rId14" Type="http://schemas.openxmlformats.org/officeDocument/2006/relationships/hyperlink" Target="http://www.softwaregroup-bg.com/" TargetMode="External"/><Relationship Id="rId22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reativecommons.org/licenses/by-nc-sa/3.0/deed.en_US" TargetMode="External"/><Relationship Id="rId5" Type="http://schemas.openxmlformats.org/officeDocument/2006/relationships/hyperlink" Target="http://telerikacademy.com/Courses/Courses/Details/185" TargetMode="Externa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hyperlink" Target="http://softuni.org/" TargetMode="External"/><Relationship Id="rId7" Type="http://schemas.openxmlformats.org/officeDocument/2006/relationships/hyperlink" Target="http://forum.softuni.bg/" TargetMode="External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youtube.com/SoftwareUniversity" TargetMode="External"/><Relationship Id="rId11" Type="http://schemas.openxmlformats.org/officeDocument/2006/relationships/image" Target="../media/image38.png"/><Relationship Id="rId5" Type="http://schemas.openxmlformats.org/officeDocument/2006/relationships/hyperlink" Target="https://www.facebook.com/SoftwareUniversity" TargetMode="External"/><Relationship Id="rId10" Type="http://schemas.openxmlformats.org/officeDocument/2006/relationships/hyperlink" Target="http://www.facebook.com/SoftwareUniversity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027612" y="838200"/>
            <a:ext cx="6391741" cy="1087372"/>
          </a:xfrm>
        </p:spPr>
        <p:txBody>
          <a:bodyPr>
            <a:normAutofit/>
          </a:bodyPr>
          <a:lstStyle/>
          <a:p>
            <a:r>
              <a:rPr lang="en-US" noProof="1"/>
              <a:t>Redis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189412" y="1981200"/>
            <a:ext cx="7306141" cy="1427229"/>
          </a:xfrm>
        </p:spPr>
        <p:txBody>
          <a:bodyPr>
            <a:normAutofit/>
          </a:bodyPr>
          <a:lstStyle/>
          <a:p>
            <a:r>
              <a:rPr lang="en-US" noProof="1"/>
              <a:t>Redis</a:t>
            </a:r>
            <a:r>
              <a:rPr lang="en-US" dirty="0"/>
              <a:t> Key-Value Database:</a:t>
            </a:r>
          </a:p>
          <a:p>
            <a:r>
              <a:rPr lang="en-US" dirty="0"/>
              <a:t>Practical Introduction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60412" y="4419600"/>
            <a:ext cx="3187613" cy="525135"/>
          </a:xfrm>
        </p:spPr>
        <p:txBody>
          <a:bodyPr/>
          <a:lstStyle/>
          <a:p>
            <a:r>
              <a:rPr lang="en-US" dirty="0"/>
              <a:t>SoftUni Team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60413" y="4889499"/>
            <a:ext cx="3187614" cy="444343"/>
          </a:xfrm>
        </p:spPr>
        <p:txBody>
          <a:bodyPr/>
          <a:lstStyle/>
          <a:p>
            <a:r>
              <a:rPr lang="en-US" dirty="0"/>
              <a:t>Technical Trainers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http://softuni.bg</a:t>
            </a:r>
            <a:endParaRPr lang="en-US" dirty="0"/>
          </a:p>
        </p:txBody>
      </p:sp>
      <p:pic>
        <p:nvPicPr>
          <p:cNvPr id="1028" name="Picture 4" title="CC-BY-NC-SA License">
            <a:hlinkClick r:id="rId4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83" y="2972635"/>
            <a:ext cx="2175525" cy="76116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9412" y="3733800"/>
            <a:ext cx="7229941" cy="2437795"/>
          </a:xfrm>
          <a:prstGeom prst="roundRect">
            <a:avLst>
              <a:gd name="adj" fmla="val 2317"/>
            </a:avLst>
          </a:prstGeom>
        </p:spPr>
      </p:pic>
      <p:pic>
        <p:nvPicPr>
          <p:cNvPr id="13" name="Picture 12" title="Software University Foundation">
            <a:hlinkClick r:id="rId7" tooltip="Software University Foundation"/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33" t="-11972" r="-4044" b="1048"/>
          <a:stretch/>
        </p:blipFill>
        <p:spPr bwMode="auto">
          <a:xfrm>
            <a:off x="821983" y="1727069"/>
            <a:ext cx="2172351" cy="795696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1537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4444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5530010"/>
          </a:xfrm>
        </p:spPr>
        <p:txBody>
          <a:bodyPr>
            <a:noAutofit/>
          </a:bodyPr>
          <a:lstStyle/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GB" sz="3000" dirty="0"/>
              <a:t>What is Redis?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GB" sz="3000" dirty="0"/>
              <a:t>Installing and Running Redis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GB" sz="3000" dirty="0"/>
              <a:t>Redis Commands</a:t>
            </a:r>
          </a:p>
          <a:p>
            <a:pPr marL="761946" lvl="1" indent="-457200">
              <a:lnSpc>
                <a:spcPct val="100000"/>
              </a:lnSpc>
            </a:pPr>
            <a:r>
              <a:rPr lang="en-US" sz="2800" dirty="0"/>
              <a:t>String Commands</a:t>
            </a:r>
          </a:p>
          <a:p>
            <a:pPr marL="761946" lvl="1" indent="-457200">
              <a:lnSpc>
                <a:spcPct val="100000"/>
              </a:lnSpc>
            </a:pPr>
            <a:r>
              <a:rPr lang="en-US" sz="2800" dirty="0"/>
              <a:t>Working with Keys</a:t>
            </a:r>
          </a:p>
          <a:p>
            <a:pPr marL="761946" lvl="1" indent="-457200">
              <a:lnSpc>
                <a:spcPct val="100000"/>
              </a:lnSpc>
            </a:pPr>
            <a:r>
              <a:rPr lang="en-US" sz="2800" dirty="0"/>
              <a:t>Working with Hashes</a:t>
            </a:r>
          </a:p>
          <a:p>
            <a:pPr marL="761946" lvl="1" indent="-457200">
              <a:lnSpc>
                <a:spcPct val="100000"/>
              </a:lnSpc>
            </a:pPr>
            <a:r>
              <a:rPr lang="en-US" sz="2800" dirty="0"/>
              <a:t>Working with Lists</a:t>
            </a:r>
          </a:p>
          <a:p>
            <a:pPr marL="761946" lvl="1" indent="-457200">
              <a:lnSpc>
                <a:spcPct val="100000"/>
              </a:lnSpc>
            </a:pPr>
            <a:r>
              <a:rPr lang="en-US" sz="2800" dirty="0"/>
              <a:t>Working with Sets</a:t>
            </a:r>
          </a:p>
          <a:p>
            <a:pPr marL="761946" lvl="1" indent="-457200">
              <a:lnSpc>
                <a:spcPct val="100000"/>
              </a:lnSpc>
            </a:pPr>
            <a:r>
              <a:rPr lang="en-US" sz="2800" dirty="0"/>
              <a:t>Working with Sorted Sets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" name="Picture 2" descr="http://www.graphicsfuel.com/wp-content/uploads/2012/07/books-icon-51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412" y="1267665"/>
            <a:ext cx="2522646" cy="2522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1411" y="4114800"/>
            <a:ext cx="2522648" cy="2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5296" y="1295400"/>
            <a:ext cx="8938472" cy="820600"/>
          </a:xfrm>
        </p:spPr>
        <p:txBody>
          <a:bodyPr/>
          <a:lstStyle/>
          <a:p>
            <a:r>
              <a:rPr lang="en-US" dirty="0"/>
              <a:t>Redis</a:t>
            </a:r>
            <a:endParaRPr lang="bg-B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615296" y="2126527"/>
            <a:ext cx="8938472" cy="692873"/>
          </a:xfrm>
        </p:spPr>
        <p:txBody>
          <a:bodyPr/>
          <a:lstStyle/>
          <a:p>
            <a:r>
              <a:rPr lang="en-US" dirty="0"/>
              <a:t>Ultra-Fast Data Structure Server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28794" y="3200400"/>
            <a:ext cx="7143464" cy="2743200"/>
          </a:xfrm>
          <a:prstGeom prst="roundRect">
            <a:avLst>
              <a:gd name="adj" fmla="val 1948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2475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066800"/>
            <a:ext cx="11804822" cy="5570355"/>
          </a:xfrm>
        </p:spPr>
        <p:txBody>
          <a:bodyPr>
            <a:normAutofit/>
          </a:bodyPr>
          <a:lstStyle/>
          <a:p>
            <a:r>
              <a:rPr lang="en-US" sz="3700" noProof="1">
                <a:solidFill>
                  <a:schemeClr val="tx2">
                    <a:lumMod val="75000"/>
                  </a:schemeClr>
                </a:solidFill>
              </a:rPr>
              <a:t>Redis</a:t>
            </a:r>
            <a:r>
              <a:rPr lang="en-US" sz="37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700" dirty="0"/>
              <a:t>is:</a:t>
            </a:r>
          </a:p>
          <a:p>
            <a:pPr lvl="1"/>
            <a:r>
              <a:rPr lang="en-US" sz="3500" dirty="0"/>
              <a:t>Ultra-fast in-memory key-value data store</a:t>
            </a:r>
          </a:p>
          <a:p>
            <a:pPr lvl="1"/>
            <a:r>
              <a:rPr lang="en-US" sz="3500" dirty="0"/>
              <a:t>Powerful data structure server</a:t>
            </a:r>
          </a:p>
          <a:p>
            <a:pPr lvl="1"/>
            <a:r>
              <a:rPr lang="en-US" sz="3500" dirty="0"/>
              <a:t>Open-source software: </a:t>
            </a:r>
            <a:r>
              <a:rPr lang="en-US" sz="3500" dirty="0">
                <a:hlinkClick r:id="rId2"/>
              </a:rPr>
              <a:t>http://redis.io</a:t>
            </a:r>
            <a:endParaRPr lang="en-US" sz="3500" dirty="0"/>
          </a:p>
          <a:p>
            <a:r>
              <a:rPr lang="en-US" sz="3700" dirty="0"/>
              <a:t>Redis stores data structures:</a:t>
            </a:r>
          </a:p>
          <a:p>
            <a:pPr lvl="1"/>
            <a:r>
              <a:rPr lang="en-US" sz="3500" dirty="0"/>
              <a:t>Strings, lists, hashes, sets, sorted sets</a:t>
            </a:r>
          </a:p>
          <a:p>
            <a:pPr lvl="1"/>
            <a:r>
              <a:rPr lang="en-US" sz="3500" dirty="0"/>
              <a:t>Publish / subscribe messaging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Redis?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411" y="4114800"/>
            <a:ext cx="2522648" cy="2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085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1"/>
              <a:t>Redis</a:t>
            </a:r>
            <a:r>
              <a:rPr lang="en-US" dirty="0"/>
              <a:t> is really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fast </a:t>
            </a:r>
          </a:p>
          <a:p>
            <a:pPr lvl="1"/>
            <a:r>
              <a:rPr lang="en-US" dirty="0"/>
              <a:t>Non-blocking I/O, single threaded</a:t>
            </a:r>
          </a:p>
          <a:p>
            <a:pPr lvl="1"/>
            <a:r>
              <a:rPr lang="en-US" dirty="0"/>
              <a:t>100,000+ read / writes per second</a:t>
            </a:r>
          </a:p>
          <a:p>
            <a:r>
              <a:rPr lang="en-US" noProof="1"/>
              <a:t>Redis</a:t>
            </a:r>
            <a:r>
              <a:rPr lang="en-US" dirty="0"/>
              <a:t> is not a database</a:t>
            </a:r>
          </a:p>
          <a:p>
            <a:pPr lvl="1"/>
            <a:r>
              <a:rPr lang="en-US" dirty="0"/>
              <a:t>It complements your existing data storage layer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hlinkClick r:id="rId2"/>
              </a:rPr>
              <a:t>StackOverflow uses Redis</a:t>
            </a:r>
            <a:r>
              <a:rPr lang="en-US" dirty="0"/>
              <a:t> for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data caching</a:t>
            </a:r>
          </a:p>
          <a:p>
            <a:r>
              <a:rPr lang="en-US" dirty="0"/>
              <a:t>For small labs Redis may replace entirely the database</a:t>
            </a:r>
          </a:p>
          <a:p>
            <a:pPr lvl="1"/>
            <a:r>
              <a:rPr lang="en-US" dirty="0"/>
              <a:t>Trade performance for durability </a:t>
            </a:r>
            <a:r>
              <a:rPr lang="en-US" dirty="0">
                <a:sym typeface="Wingdings" panose="05000000000000000000" pitchFamily="2" charset="2"/>
              </a:rPr>
              <a:t> data is persisted immediately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Redis</a:t>
            </a:r>
            <a:r>
              <a:rPr lang="en-US" dirty="0"/>
              <a:t>: Features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12" y="1371600"/>
            <a:ext cx="3505504" cy="2176461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44196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To install Redis on Linux / Mac OS X:</a:t>
            </a:r>
          </a:p>
          <a:p>
            <a:pPr lvl="1"/>
            <a:r>
              <a:rPr lang="en-US" sz="2400" dirty="0"/>
              <a:t>Download from </a:t>
            </a:r>
            <a:r>
              <a:rPr lang="en-US" sz="2400" dirty="0">
                <a:hlinkClick r:id="rId2"/>
              </a:rPr>
              <a:t>http://redis.io/download</a:t>
            </a:r>
            <a:r>
              <a:rPr lang="en-US" sz="2400" dirty="0"/>
              <a:t> </a:t>
            </a:r>
          </a:p>
          <a:p>
            <a:pPr lvl="1"/>
            <a:r>
              <a:rPr lang="en-US" sz="2400" dirty="0"/>
              <a:t>Install it and run it</a:t>
            </a:r>
          </a:p>
          <a:p>
            <a:r>
              <a:rPr lang="en-US" sz="2800" dirty="0"/>
              <a:t>To install Redis on Windows:</a:t>
            </a:r>
          </a:p>
          <a:p>
            <a:pPr lvl="1"/>
            <a:r>
              <a:rPr lang="en-US" sz="2400" dirty="0"/>
              <a:t>Download </a:t>
            </a:r>
            <a:r>
              <a:rPr lang="en-US" sz="2400" dirty="0">
                <a:hlinkClick r:id="rId3"/>
              </a:rPr>
              <a:t>https://github.com/MSOpenTech/redis</a:t>
            </a:r>
            <a:r>
              <a:rPr lang="en-US" sz="2400" dirty="0"/>
              <a:t> </a:t>
            </a:r>
          </a:p>
          <a:p>
            <a:pPr lvl="2"/>
            <a:r>
              <a:rPr lang="en-US" sz="2400" dirty="0"/>
              <a:t>Compile the solution in the </a:t>
            </a:r>
            <a:r>
              <a:rPr lang="en-US" sz="24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msvs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/>
              <a:t>folder and build it with VS</a:t>
            </a:r>
          </a:p>
          <a:p>
            <a:pPr lvl="1"/>
            <a:r>
              <a:rPr lang="en-US" sz="2400" dirty="0"/>
              <a:t>The easier way: use the Windows package manager Chocolatey</a:t>
            </a:r>
          </a:p>
          <a:p>
            <a:pPr lvl="2"/>
            <a:r>
              <a:rPr lang="en-US" sz="2400" dirty="0">
                <a:hlinkClick r:id="rId4"/>
              </a:rPr>
              <a:t>http://chocolatey.org</a:t>
            </a:r>
            <a:endParaRPr lang="en-US" sz="2400" dirty="0"/>
          </a:p>
          <a:p>
            <a:endParaRPr lang="en-US" sz="2800" dirty="0"/>
          </a:p>
          <a:p>
            <a:r>
              <a:rPr lang="en-US" sz="2800" dirty="0"/>
              <a:t>Easiest is to use docker </a:t>
            </a:r>
            <a:r>
              <a:rPr lang="en-US" sz="2800" dirty="0">
                <a:sym typeface="Wingdings" pitchFamily="2" charset="2"/>
              </a:rPr>
              <a:t> docker pull </a:t>
            </a:r>
            <a:r>
              <a:rPr lang="en-US" sz="2800" dirty="0" err="1">
                <a:sym typeface="Wingdings" pitchFamily="2" charset="2"/>
              </a:rPr>
              <a:t>redis</a:t>
            </a: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Redis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4646612" y="4953000"/>
            <a:ext cx="4224706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choco install redis</a:t>
            </a:r>
          </a:p>
        </p:txBody>
      </p:sp>
    </p:spTree>
    <p:extLst>
      <p:ext uri="{BB962C8B-B14F-4D97-AF65-F5344CB8AC3E}">
        <p14:creationId xmlns:p14="http://schemas.microsoft.com/office/powerpoint/2010/main" val="1652786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On Linux / Mac OS X start / stop the Redis service</a:t>
            </a:r>
          </a:p>
          <a:p>
            <a:pPr lvl="1">
              <a:lnSpc>
                <a:spcPct val="110000"/>
              </a:lnSpc>
            </a:pP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The default Redis port is 6379 (the service name is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redis_6379</a:t>
            </a:r>
            <a:r>
              <a:rPr lang="en-US" dirty="0"/>
              <a:t>)</a:t>
            </a:r>
          </a:p>
          <a:p>
            <a:pPr>
              <a:lnSpc>
                <a:spcPct val="110000"/>
              </a:lnSpc>
            </a:pPr>
            <a:r>
              <a:rPr lang="en-US" dirty="0"/>
              <a:t>On Windows start / stop the "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redis</a:t>
            </a:r>
            <a:r>
              <a:rPr lang="en-US" dirty="0"/>
              <a:t>" service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Use the console-based (CLI) client or just connect with Telnet: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Redis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684212" y="1950231"/>
            <a:ext cx="52578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sudo service redis_6379 start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254015" y="1950231"/>
            <a:ext cx="52578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sudo service redis_6379 stop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4212" y="4057327"/>
            <a:ext cx="52578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sc start redis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6254015" y="4057326"/>
            <a:ext cx="52578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sc stop redis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84212" y="5486400"/>
            <a:ext cx="52578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redis-cli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252427" y="5486400"/>
            <a:ext cx="52578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telnet localhost 6379</a:t>
            </a:r>
          </a:p>
        </p:txBody>
      </p:sp>
    </p:spTree>
    <p:extLst>
      <p:ext uri="{BB962C8B-B14F-4D97-AF65-F5344CB8AC3E}">
        <p14:creationId xmlns:p14="http://schemas.microsoft.com/office/powerpoint/2010/main" val="139562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5296" y="5656400"/>
            <a:ext cx="8938472" cy="820600"/>
          </a:xfrm>
        </p:spPr>
        <p:txBody>
          <a:bodyPr/>
          <a:lstStyle/>
          <a:p>
            <a:r>
              <a:rPr lang="en-US" noProof="1"/>
              <a:t>Redis</a:t>
            </a:r>
            <a:r>
              <a:rPr lang="en-US" dirty="0"/>
              <a:t>: Basic Commands</a:t>
            </a:r>
            <a:endParaRPr lang="bg-B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1" y="533400"/>
            <a:ext cx="6400103" cy="4648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12" y="1295400"/>
            <a:ext cx="6248400" cy="40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09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Redis keeps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key-value pairs</a:t>
            </a:r>
          </a:p>
          <a:p>
            <a:pPr lvl="1"/>
            <a:r>
              <a:rPr lang="en-US" dirty="0"/>
              <a:t>Every item is stored as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+</a:t>
            </a:r>
            <a:r>
              <a:rPr lang="en-US" dirty="0"/>
              <a:t>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Keys</a:t>
            </a:r>
            <a:r>
              <a:rPr lang="en-US" dirty="0"/>
              <a:t> are unique identifiers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Values</a:t>
            </a:r>
            <a:r>
              <a:rPr lang="en-US" dirty="0"/>
              <a:t> can be different data structures:</a:t>
            </a:r>
          </a:p>
          <a:p>
            <a:pPr lvl="1"/>
            <a:r>
              <a:rPr lang="en-US" dirty="0"/>
              <a:t>Strings (numbers are stored as strings)</a:t>
            </a:r>
          </a:p>
          <a:p>
            <a:pPr lvl="1"/>
            <a:r>
              <a:rPr lang="en-US" dirty="0"/>
              <a:t>Lists (of strings)</a:t>
            </a:r>
          </a:p>
          <a:p>
            <a:pPr lvl="1"/>
            <a:r>
              <a:rPr lang="en-US" dirty="0"/>
              <a:t>Hash tables: string </a:t>
            </a:r>
            <a:r>
              <a:rPr lang="en-US" dirty="0">
                <a:sym typeface="Wingdings" panose="05000000000000000000" pitchFamily="2" charset="2"/>
              </a:rPr>
              <a:t> string</a:t>
            </a:r>
            <a:endParaRPr lang="en-US" dirty="0"/>
          </a:p>
          <a:p>
            <a:pPr lvl="1"/>
            <a:r>
              <a:rPr lang="en-US" dirty="0"/>
              <a:t>Sets / sorted sets (of strings)</a:t>
            </a:r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Redis: Data Model</a:t>
            </a:r>
          </a:p>
        </p:txBody>
      </p:sp>
      <p:pic>
        <p:nvPicPr>
          <p:cNvPr id="4098" name="Picture 2" descr="http://mbed.org/media/uploads/shintamainjp/_scaled_keyvalu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012" y="1394579"/>
            <a:ext cx="3643200" cy="1958221"/>
          </a:xfrm>
          <a:prstGeom prst="roundRect">
            <a:avLst>
              <a:gd name="adj" fmla="val 2456"/>
            </a:avLst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i.stack.imgur.com/nzc2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433" y="3861548"/>
            <a:ext cx="2502358" cy="2463052"/>
          </a:xfrm>
          <a:prstGeom prst="roundRect">
            <a:avLst>
              <a:gd name="adj" fmla="val 2456"/>
            </a:avLst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911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Redis works as interpreter of commands: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Redis: Commands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60412" y="2133600"/>
            <a:ext cx="3512705" cy="400109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SET name "Nakov"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OK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 name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"Nakov"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DEL name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 name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(nil)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843116" y="2145726"/>
            <a:ext cx="6883166" cy="4483674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Play with the command-line client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redis-cli</a:t>
            </a:r>
            <a:r>
              <a:rPr lang="en-US" dirty="0"/>
              <a:t> </a:t>
            </a:r>
          </a:p>
          <a:p>
            <a:r>
              <a:rPr lang="en-US" dirty="0"/>
              <a:t>Or play with Redis online at </a:t>
            </a:r>
            <a:r>
              <a:rPr lang="en-US" dirty="0">
                <a:hlinkClick r:id="rId2"/>
              </a:rPr>
              <a:t>http://try.redis.io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547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Commands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[key]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[value]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Assigns a string value in a key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[key]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dirty="0"/>
              <a:t>/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MGET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[keys]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Returns the value by key / keys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INCR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[key]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dirty="0"/>
              <a:t>/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Increments / decrements a key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Returns the length of a string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942012" y="1282148"/>
            <a:ext cx="2590800" cy="510909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SET name "hi"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OK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 name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"hi"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SET name abc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OK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 "name"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"abc"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 Name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(nil)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6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onsolas" pitchFamily="49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02603" y="1291709"/>
            <a:ext cx="2854409" cy="510909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SET a 1234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OK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INCR a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1235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 a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"1235"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MGET a name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1) "1235"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2) "asdda"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STRLEN a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4</a:t>
            </a:r>
          </a:p>
        </p:txBody>
      </p:sp>
    </p:spTree>
    <p:extLst>
      <p:ext uri="{BB962C8B-B14F-4D97-AF65-F5344CB8AC3E}">
        <p14:creationId xmlns:p14="http://schemas.microsoft.com/office/powerpoint/2010/main" val="1025298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Keys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EXISTS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Checks whether a key exists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Returns the type of a key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Deletes a key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EXPIRE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[key]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[t]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Deletes a key after 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3000" dirty="0"/>
              <a:t> seconds</a:t>
            </a:r>
            <a:endParaRPr lang="en-US" dirty="0"/>
          </a:p>
          <a:p>
            <a:pPr lvl="1">
              <a:lnSpc>
                <a:spcPct val="110000"/>
              </a:lnSpc>
            </a:pP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018212" y="1524001"/>
            <a:ext cx="25908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SET count 5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OK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TYPE count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string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EXISTS count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DEL count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EXISTS count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0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9031203" y="1524000"/>
            <a:ext cx="2473409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SET a 1234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OK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GET a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"1234"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EXPIRE a 5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EXISTS a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EXISTS a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0</a:t>
            </a:r>
          </a:p>
        </p:txBody>
      </p:sp>
    </p:spTree>
    <p:extLst>
      <p:ext uri="{BB962C8B-B14F-4D97-AF65-F5344CB8AC3E}">
        <p14:creationId xmlns:p14="http://schemas.microsoft.com/office/powerpoint/2010/main" val="57572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Hashes (Hash Tables)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HSET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[key]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[field]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[value]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Assigns a value for given field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HKEYS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Returns the fields (keys) is in a hash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HGET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[key]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[field]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Returns a value by fields from a hash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HDEL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[key]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[field]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Deletes a fields from a hash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085012" y="1291709"/>
            <a:ext cx="4343400" cy="510909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HSET user name "peter"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HSET user age 23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HKEYS user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1) "name"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2) "age"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HGET user age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"23"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HDEL user age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</p:txBody>
      </p:sp>
    </p:spTree>
    <p:extLst>
      <p:ext uri="{BB962C8B-B14F-4D97-AF65-F5344CB8AC3E}">
        <p14:creationId xmlns:p14="http://schemas.microsoft.com/office/powerpoint/2010/main" val="2155569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Lists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RPUSH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dirty="0"/>
              <a:t>/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LPUSH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[list]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[value]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Appends / prepend a value to a list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LINDEX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[list]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[index]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Returns a value given index in a list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LLEN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[list]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Returns the length of a list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LRANGE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[list]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[start]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[count]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Returns a sub-list (range of values)</a:t>
            </a:r>
          </a:p>
          <a:p>
            <a:pPr lvl="1">
              <a:lnSpc>
                <a:spcPct val="110000"/>
              </a:lnSpc>
            </a:pPr>
            <a:endParaRPr lang="en-US" sz="2800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085012" y="1291709"/>
            <a:ext cx="4343400" cy="510909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RPUSH names "peter"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LPUSH names Nakov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LINDEX names 0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"Nakov"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LLEN names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2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LRANGE names 0 100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1) "Nakov"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2) "peter"</a:t>
            </a:r>
          </a:p>
        </p:txBody>
      </p:sp>
    </p:spTree>
    <p:extLst>
      <p:ext uri="{BB962C8B-B14F-4D97-AF65-F5344CB8AC3E}">
        <p14:creationId xmlns:p14="http://schemas.microsoft.com/office/powerpoint/2010/main" val="2111746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Sets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SADD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[set]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[value]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Appends a value to a set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SMEMBERS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[set]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Returns the values from a set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SREM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[set]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[value]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Deletes a value from a set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SCARD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[set]</a:t>
            </a:r>
            <a:endParaRPr lang="en-US" sz="3200" dirty="0"/>
          </a:p>
          <a:p>
            <a:pPr lvl="1">
              <a:lnSpc>
                <a:spcPct val="110000"/>
              </a:lnSpc>
            </a:pPr>
            <a:r>
              <a:rPr lang="en-US" sz="3000" dirty="0"/>
              <a:t>Returns the stack size (items count)</a:t>
            </a:r>
            <a:endParaRPr lang="en-US" sz="2800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856412" y="1291709"/>
            <a:ext cx="4343400" cy="510909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SADD users "peter"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SADD users "peter"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0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SADD users maria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SMEMBERS users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1) "peter"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2) "maria"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SREM users maria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</p:txBody>
      </p:sp>
    </p:spTree>
    <p:extLst>
      <p:ext uri="{BB962C8B-B14F-4D97-AF65-F5344CB8AC3E}">
        <p14:creationId xmlns:p14="http://schemas.microsoft.com/office/powerpoint/2010/main" val="1447910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Sorted Sets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90413" y="6156324"/>
            <a:ext cx="11804822" cy="77787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Learn more at </a:t>
            </a:r>
            <a:r>
              <a:rPr lang="en-US" dirty="0">
                <a:hlinkClick r:id="rId2"/>
              </a:rPr>
              <a:t>http://redis.io/commands#sorted_set</a:t>
            </a:r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36612" y="1066800"/>
            <a:ext cx="10337998" cy="517064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# ZADD setname score value [score value] 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# sorted set is sorted by score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ZADD myzset 1 "one"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ZADD myzset 1 "uno"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ZADD myzset 2 "two" 3 "three"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2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ZRANGE myzset 0 -1 WITHSCORES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1) "one"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2) 1.0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3) "uno"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4) 1.0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5) "two"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09768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First user subscribes to certain channel "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news</a:t>
            </a:r>
            <a:r>
              <a:rPr lang="en-US" dirty="0"/>
              <a:t>"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Another user sends messages to the same channel "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news</a:t>
            </a:r>
            <a:r>
              <a:rPr lang="en-US" dirty="0"/>
              <a:t>"</a:t>
            </a:r>
          </a:p>
          <a:p>
            <a:pPr lvl="1">
              <a:lnSpc>
                <a:spcPct val="110000"/>
              </a:lnSpc>
            </a:pPr>
            <a:endParaRPr lang="en-US" dirty="0"/>
          </a:p>
          <a:p>
            <a:pPr lvl="1"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Learn more at</a:t>
            </a:r>
            <a:r>
              <a:rPr lang="bg-BG" dirty="0"/>
              <a:t> </a:t>
            </a:r>
            <a:r>
              <a:rPr lang="en-US" dirty="0">
                <a:hlinkClick r:id="rId2"/>
              </a:rPr>
              <a:t>http://redis.io/commands#pubsub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 / Subscribe Commands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61814" y="1964829"/>
            <a:ext cx="10337998" cy="169277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SUBSCRIBE news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1) "subscribe"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2) "news"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3) (integer) 1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76368" y="4670048"/>
            <a:ext cx="10337998" cy="8925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PUBLISH news "hello"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(integer) 1</a:t>
            </a:r>
          </a:p>
        </p:txBody>
      </p:sp>
    </p:spTree>
    <p:extLst>
      <p:ext uri="{BB962C8B-B14F-4D97-AF65-F5344CB8AC3E}">
        <p14:creationId xmlns:p14="http://schemas.microsoft.com/office/powerpoint/2010/main" val="639296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Special naming can help using Redis as database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noProof="1"/>
              <a:t>Redis</a:t>
            </a:r>
            <a:r>
              <a:rPr lang="en-US" dirty="0"/>
              <a:t> as a Database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33214" y="2153722"/>
            <a:ext cx="10795198" cy="409342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SADD users:names peter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HSET users:peter name "Peter Petrov"</a:t>
            </a:r>
            <a:endParaRPr lang="en-US" sz="26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HSET users:peter email "pp@gmail.com"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SADD users:names maria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HSET users:maria name "Maria Ivanova"</a:t>
            </a:r>
            <a:endParaRPr lang="en-US" sz="26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HSET users:maria email "maria@yahoo.com"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SMEMBERS users:names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HGETALL users:peter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5637212" y="1792428"/>
            <a:ext cx="3527425" cy="537053"/>
          </a:xfrm>
          <a:prstGeom prst="wedgeRoundRectCallout">
            <a:avLst>
              <a:gd name="adj1" fmla="val -65731"/>
              <a:gd name="adj2" fmla="val 56554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a user "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peter</a:t>
            </a:r>
            <a:r>
              <a:rPr lang="en-US" sz="2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".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8155767" y="3816543"/>
            <a:ext cx="3527425" cy="685800"/>
          </a:xfrm>
          <a:prstGeom prst="wedgeRoundRectCallout">
            <a:avLst>
              <a:gd name="adj1" fmla="val -64228"/>
              <a:gd name="adj2" fmla="val 39162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a user "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maria</a:t>
            </a:r>
            <a:r>
              <a:rPr lang="en-US" sz="2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".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7923212" y="2498869"/>
            <a:ext cx="3759980" cy="1138347"/>
          </a:xfrm>
          <a:prstGeom prst="wedgeRoundRectCallout">
            <a:avLst>
              <a:gd name="adj1" fmla="val -63078"/>
              <a:gd name="adj2" fmla="val -18324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"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users:peter</a:t>
            </a:r>
            <a:r>
              <a:rPr lang="en-US" sz="2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 as key to hold user data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4977613" y="5105400"/>
            <a:ext cx="2488399" cy="482522"/>
          </a:xfrm>
          <a:prstGeom prst="wedgeRoundRectCallout">
            <a:avLst>
              <a:gd name="adj1" fmla="val -68051"/>
              <a:gd name="adj2" fmla="val 41703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 all users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4977613" y="5768008"/>
            <a:ext cx="2945599" cy="855660"/>
          </a:xfrm>
          <a:prstGeom prst="wedgeRoundRectCallout">
            <a:avLst>
              <a:gd name="adj1" fmla="val -70301"/>
              <a:gd name="adj2" fmla="val -21797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 all properties for user "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peter</a:t>
            </a:r>
            <a:r>
              <a:rPr lang="en-US" sz="28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17595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A54C7B-B376-99A0-D214-860DF28BD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EDEFB-F256-A58E-7FCD-A66E8B037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By default Redis doesn't directly support JSON but</a:t>
            </a:r>
          </a:p>
          <a:p>
            <a:pPr lvl="1"/>
            <a:r>
              <a:rPr lang="en-US" dirty="0"/>
              <a:t>Can store as a string or</a:t>
            </a:r>
          </a:p>
          <a:p>
            <a:pPr lvl="1"/>
            <a:r>
              <a:rPr lang="en-US" dirty="0"/>
              <a:t>Can store as a hash – but then you have to get the items individually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 is a JSON module you can install for more functionality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72FF76-74B1-8421-5ACD-58706575E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and JSON data</a:t>
            </a:r>
          </a:p>
        </p:txBody>
      </p:sp>
      <p:pic>
        <p:nvPicPr>
          <p:cNvPr id="6" name="Picture 5" descr="Calendar&#10;&#10;Description automatically generated">
            <a:extLst>
              <a:ext uri="{FF2B5EF4-FFF2-40B4-BE49-F238E27FC236}">
                <a16:creationId xmlns:a16="http://schemas.microsoft.com/office/drawing/2014/main" id="{533458E1-4333-0379-26FD-CC8EB09A6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412" y="3733800"/>
            <a:ext cx="7772400" cy="969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A0567F-F247-63A4-9BC8-B42CCFB360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412" y="4872012"/>
            <a:ext cx="7772400" cy="94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11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1A3D13-DAE7-3BA1-0FD8-73F0F0FAF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6206A-AE98-0545-9C85-918060707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Redis uses sorted sets to store geospatial data</a:t>
            </a:r>
          </a:p>
          <a:p>
            <a:pPr lvl="1"/>
            <a:r>
              <a:rPr lang="en-US" dirty="0"/>
              <a:t>Adds other functionality</a:t>
            </a:r>
          </a:p>
          <a:p>
            <a:r>
              <a:rPr lang="en-US" dirty="0"/>
              <a:t>GEOADD longitude latitude name [longitude latitude name …]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2AA875-0077-1EA6-D83A-5669D0503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and GEO data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38466E8D-AF88-A369-8C44-599CF48DE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112" y="3161997"/>
            <a:ext cx="7086600" cy="355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01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BB4FFD-DB76-3E8B-C9BA-6E3F5E207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72ACB-BBBB-74A4-26D0-59FDE9870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Caching</a:t>
            </a:r>
          </a:p>
          <a:p>
            <a:pPr lvl="1"/>
            <a:r>
              <a:rPr lang="en-US" dirty="0"/>
              <a:t>In memory cache of database 	</a:t>
            </a:r>
          </a:p>
          <a:p>
            <a:r>
              <a:rPr lang="en-US" dirty="0"/>
              <a:t>Chat, messaging, and queues</a:t>
            </a:r>
          </a:p>
          <a:p>
            <a:pPr lvl="1"/>
            <a:r>
              <a:rPr lang="en-US" dirty="0"/>
              <a:t>Pub/Sub architecture is great for this</a:t>
            </a:r>
          </a:p>
          <a:p>
            <a:r>
              <a:rPr lang="en-US" dirty="0"/>
              <a:t>Session store</a:t>
            </a:r>
          </a:p>
          <a:p>
            <a:pPr lvl="1"/>
            <a:r>
              <a:rPr lang="en-US" dirty="0"/>
              <a:t>Faster access to session information – keyed by session key	</a:t>
            </a:r>
          </a:p>
          <a:p>
            <a:r>
              <a:rPr lang="en-US" dirty="0"/>
              <a:t>Real time analytics</a:t>
            </a:r>
          </a:p>
          <a:p>
            <a:pPr lvl="1"/>
            <a:r>
              <a:rPr lang="en-US" dirty="0"/>
              <a:t>Store data in Redis and also archive. Realtime analytics can be done on the Redis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B421F0-F42A-0EF6-0BF0-504A05AC8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Use Cases</a:t>
            </a:r>
          </a:p>
        </p:txBody>
      </p:sp>
      <p:pic>
        <p:nvPicPr>
          <p:cNvPr id="1026" name="Picture 2" descr="Redis Explained">
            <a:extLst>
              <a:ext uri="{FF2B5EF4-FFF2-40B4-BE49-F238E27FC236}">
                <a16:creationId xmlns:a16="http://schemas.microsoft.com/office/drawing/2014/main" id="{F2084D8A-0190-5902-8E55-FFE55789D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384" y="1600200"/>
            <a:ext cx="3835400" cy="212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015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F4DCD-778F-EE70-A4E9-656FBC5D18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 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6D6A8-BF45-6E2E-4AB4-DBAAC0F0F5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E19AC-ABDB-9970-A1D0-50206BA493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35A81B2-DA37-9DE1-F35D-DF7CC2342C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BC6591-4254-62F5-004F-2F7F75C3D3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68BEFC-0B0F-42D0-0E29-A29D6E8169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754C51-C9B8-3FE1-EF60-5DD1152217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EC781-2DFD-CC68-97D8-962144FDE0A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70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3DE5B-276B-0F43-BBCA-EC73D3035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CF9D8-D97C-CA4D-BF07-ABE425BD8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Redis does not use consistent hashing</a:t>
            </a:r>
          </a:p>
          <a:p>
            <a:r>
              <a:rPr lang="en-US" dirty="0"/>
              <a:t>Every key is conceptually part of a “hash slot”</a:t>
            </a:r>
          </a:p>
          <a:p>
            <a:pPr lvl="1"/>
            <a:r>
              <a:rPr lang="en-US" dirty="0"/>
              <a:t>CRC16 of the key mod 16384</a:t>
            </a:r>
          </a:p>
          <a:p>
            <a:pPr lvl="1"/>
            <a:r>
              <a:rPr lang="en-US" dirty="0"/>
              <a:t>16384 hash slots</a:t>
            </a:r>
          </a:p>
          <a:p>
            <a:r>
              <a:rPr lang="en-US" dirty="0"/>
              <a:t>Each node is responsible for a subset of the hash slots</a:t>
            </a:r>
          </a:p>
          <a:p>
            <a:pPr lvl="1"/>
            <a:r>
              <a:rPr lang="en-US" dirty="0"/>
              <a:t>Example: For 3 nodes</a:t>
            </a:r>
          </a:p>
          <a:p>
            <a:pPr lvl="2"/>
            <a:r>
              <a:rPr lang="en-US" dirty="0"/>
              <a:t>Node A contains hash slots from 0 to 5500.</a:t>
            </a:r>
          </a:p>
          <a:p>
            <a:pPr lvl="2"/>
            <a:r>
              <a:rPr lang="en-US" dirty="0"/>
              <a:t>Node B contains hash slots from 5501 to 11000.</a:t>
            </a:r>
          </a:p>
          <a:p>
            <a:pPr lvl="2"/>
            <a:r>
              <a:rPr lang="en-US" dirty="0"/>
              <a:t>Node C contains hash slots from 11001 to 16383.</a:t>
            </a:r>
          </a:p>
          <a:p>
            <a:pPr lvl="2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AB271D-144E-A447-8BDD-5AC150F2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Cluster</a:t>
            </a:r>
          </a:p>
        </p:txBody>
      </p:sp>
    </p:spTree>
    <p:extLst>
      <p:ext uri="{BB962C8B-B14F-4D97-AF65-F5344CB8AC3E}">
        <p14:creationId xmlns:p14="http://schemas.microsoft.com/office/powerpoint/2010/main" val="2617685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F68F2B-373E-EC44-A239-8C1FF3F45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AE68B-07EA-DD43-B7AE-571F908E5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adding new nodes, all nodes are affected</a:t>
            </a:r>
          </a:p>
          <a:p>
            <a:pPr lvl="1"/>
            <a:r>
              <a:rPr lang="en-US" dirty="0"/>
              <a:t>Adding a new node will readjust all hash slots</a:t>
            </a:r>
          </a:p>
          <a:p>
            <a:pPr lvl="1"/>
            <a:r>
              <a:rPr lang="en-US" dirty="0"/>
              <a:t>But communication is nearest neighbor only</a:t>
            </a:r>
          </a:p>
          <a:p>
            <a:r>
              <a:rPr lang="en-US" dirty="0"/>
              <a:t>You can force keys to be stored in same hash slot</a:t>
            </a:r>
          </a:p>
          <a:p>
            <a:pPr lvl="1"/>
            <a:r>
              <a:rPr lang="en-US" dirty="0"/>
              <a:t>Use brackets {} to identify the portion of the key that is hashed</a:t>
            </a:r>
          </a:p>
          <a:p>
            <a:pPr lvl="1"/>
            <a:r>
              <a:rPr lang="en-US" dirty="0"/>
              <a:t>Example: this{foo}key and another{foo}key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2C0519-01F7-8B44-B321-4EB849CD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Cluster	</a:t>
            </a:r>
          </a:p>
        </p:txBody>
      </p:sp>
    </p:spTree>
    <p:extLst>
      <p:ext uri="{BB962C8B-B14F-4D97-AF65-F5344CB8AC3E}">
        <p14:creationId xmlns:p14="http://schemas.microsoft.com/office/powerpoint/2010/main" val="1983354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FA0049-1174-B84D-8838-421642882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BC9F9-2D2D-CB45-AA5E-A0461513E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Redis uses a master-replica model</a:t>
            </a:r>
          </a:p>
          <a:p>
            <a:r>
              <a:rPr lang="en-US" dirty="0"/>
              <a:t>Each hash slot has from 1 to N replicas </a:t>
            </a:r>
          </a:p>
          <a:p>
            <a:pPr lvl="1"/>
            <a:r>
              <a:rPr lang="en-US" dirty="0"/>
              <a:t>N is defined at cluster setup</a:t>
            </a:r>
          </a:p>
          <a:p>
            <a:r>
              <a:rPr lang="en-US" dirty="0"/>
              <a:t>Replica nodes mirror the master-replica</a:t>
            </a:r>
          </a:p>
          <a:p>
            <a:r>
              <a:rPr lang="en-US" dirty="0"/>
              <a:t>When a node fails, a replica (mirror) node is promoted</a:t>
            </a:r>
          </a:p>
          <a:p>
            <a:r>
              <a:rPr lang="en-US" dirty="0"/>
              <a:t>A single host can run multiple replicas</a:t>
            </a:r>
          </a:p>
          <a:p>
            <a:pPr lvl="1"/>
            <a:r>
              <a:rPr lang="en-US" dirty="0"/>
              <a:t>Typically a master and possibly one or more replicas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6599E4-49A5-534B-8FF1-06CB32AB8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Cluster Replication</a:t>
            </a:r>
          </a:p>
        </p:txBody>
      </p:sp>
    </p:spTree>
    <p:extLst>
      <p:ext uri="{BB962C8B-B14F-4D97-AF65-F5344CB8AC3E}">
        <p14:creationId xmlns:p14="http://schemas.microsoft.com/office/powerpoint/2010/main" val="1846243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3EC7C5-CCCA-154C-AD62-B7A8333ED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5A5789-B039-D84C-B10F-B5FB2A4E5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Cluster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964A78-1852-924C-8BB7-3DD61C31FF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237" y="1150938"/>
            <a:ext cx="9903176" cy="5570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DC8050-EA19-AD4A-BC12-139E1BED58A8}"/>
              </a:ext>
            </a:extLst>
          </p:cNvPr>
          <p:cNvSpPr txBox="1"/>
          <p:nvPr/>
        </p:nvSpPr>
        <p:spPr>
          <a:xfrm>
            <a:off x="6399212" y="2590800"/>
            <a:ext cx="569387" cy="215444"/>
          </a:xfrm>
          <a:prstGeom prst="rect">
            <a:avLst/>
          </a:prstGeom>
          <a:solidFill>
            <a:srgbClr val="5B9BD6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Replica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4F9CDC-99FC-4C4C-8923-C1569C2EA272}"/>
              </a:ext>
            </a:extLst>
          </p:cNvPr>
          <p:cNvSpPr txBox="1"/>
          <p:nvPr/>
        </p:nvSpPr>
        <p:spPr>
          <a:xfrm>
            <a:off x="8837612" y="5105400"/>
            <a:ext cx="566181" cy="215444"/>
          </a:xfrm>
          <a:prstGeom prst="rect">
            <a:avLst/>
          </a:prstGeom>
          <a:solidFill>
            <a:srgbClr val="5B9BD6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Replica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EFD524-2373-5242-B9B6-F116876BB8BE}"/>
              </a:ext>
            </a:extLst>
          </p:cNvPr>
          <p:cNvSpPr txBox="1"/>
          <p:nvPr/>
        </p:nvSpPr>
        <p:spPr>
          <a:xfrm>
            <a:off x="4113212" y="5105400"/>
            <a:ext cx="564578" cy="215444"/>
          </a:xfrm>
          <a:prstGeom prst="rect">
            <a:avLst/>
          </a:prstGeom>
          <a:solidFill>
            <a:srgbClr val="5B9BD6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Replica C</a:t>
            </a:r>
          </a:p>
        </p:txBody>
      </p:sp>
    </p:spTree>
    <p:extLst>
      <p:ext uri="{BB962C8B-B14F-4D97-AF65-F5344CB8AC3E}">
        <p14:creationId xmlns:p14="http://schemas.microsoft.com/office/powerpoint/2010/main" val="3894437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3D6D93-B6EA-B149-8EEE-26691F30B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80FC4-4FA4-1B4D-90F3-3926AA77E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Redis cluster is not able to guarantee strong consistency</a:t>
            </a:r>
          </a:p>
          <a:p>
            <a:r>
              <a:rPr lang="en-US" dirty="0"/>
              <a:t>Asynchronous replication</a:t>
            </a:r>
          </a:p>
          <a:p>
            <a:pPr lvl="1"/>
            <a:r>
              <a:rPr lang="en-US" dirty="0"/>
              <a:t>Your client writes to B</a:t>
            </a:r>
          </a:p>
          <a:p>
            <a:pPr lvl="1"/>
            <a:r>
              <a:rPr lang="en-US" dirty="0"/>
              <a:t>B replies OK</a:t>
            </a:r>
          </a:p>
          <a:p>
            <a:pPr lvl="1"/>
            <a:r>
              <a:rPr lang="en-US" dirty="0"/>
              <a:t>B propagates the write to its replicas</a:t>
            </a:r>
          </a:p>
          <a:p>
            <a:pPr lvl="1"/>
            <a:r>
              <a:rPr lang="en-US" dirty="0"/>
              <a:t>If B crashes before writing to its replicas, we could be out of date</a:t>
            </a:r>
          </a:p>
          <a:p>
            <a:r>
              <a:rPr lang="en-US" dirty="0"/>
              <a:t>Performance – Consistency tradeoff</a:t>
            </a:r>
          </a:p>
          <a:p>
            <a:r>
              <a:rPr lang="en-US" dirty="0"/>
              <a:t>Inconsistency can also occur in cluster partition events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73B5CC-6486-7F4D-8EDF-7A1AA1D84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Cluster Consistency</a:t>
            </a:r>
          </a:p>
        </p:txBody>
      </p:sp>
    </p:spTree>
    <p:extLst>
      <p:ext uri="{BB962C8B-B14F-4D97-AF65-F5344CB8AC3E}">
        <p14:creationId xmlns:p14="http://schemas.microsoft.com/office/powerpoint/2010/main" val="3459552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07464B-7DDC-8847-82A1-C5A02DF85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0C4E4-9E9A-DD43-AA24-F26A483EC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Clients can talk to any node</a:t>
            </a:r>
          </a:p>
          <a:p>
            <a:pPr lvl="1"/>
            <a:r>
              <a:rPr lang="en-US" dirty="0"/>
              <a:t>Request will be forwarded to the node that owns the hash slot</a:t>
            </a:r>
          </a:p>
          <a:p>
            <a:r>
              <a:rPr lang="en-US" dirty="0"/>
              <a:t>Clients can cache the hash slot map to direct communication</a:t>
            </a:r>
          </a:p>
          <a:p>
            <a:pPr lvl="1"/>
            <a:r>
              <a:rPr lang="en-US" dirty="0"/>
              <a:t>Needs to be periodically refreshed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56F330-3B46-7A47-9C2F-E4E7ACF0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Cluster</a:t>
            </a:r>
          </a:p>
        </p:txBody>
      </p:sp>
    </p:spTree>
    <p:extLst>
      <p:ext uri="{BB962C8B-B14F-4D97-AF65-F5344CB8AC3E}">
        <p14:creationId xmlns:p14="http://schemas.microsoft.com/office/powerpoint/2010/main" val="20442277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0412" y="1151121"/>
            <a:ext cx="11804821" cy="5570355"/>
          </a:xfrm>
        </p:spPr>
        <p:txBody>
          <a:bodyPr>
            <a:noAutofit/>
          </a:bodyPr>
          <a:lstStyle/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GB" dirty="0"/>
              <a:t>Redis is ultra-fast in-memory data store</a:t>
            </a:r>
          </a:p>
          <a:p>
            <a:pPr marL="761946" lvl="1" indent="-457200">
              <a:lnSpc>
                <a:spcPct val="100000"/>
              </a:lnSpc>
            </a:pPr>
            <a:r>
              <a:rPr lang="en-GB" dirty="0"/>
              <a:t>Not a database, used along with databases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GB" dirty="0"/>
              <a:t>Supports strings, numbers, lists, hashes,</a:t>
            </a:r>
            <a:br>
              <a:rPr lang="en-GB" dirty="0"/>
            </a:br>
            <a:r>
              <a:rPr lang="en-GB" dirty="0"/>
              <a:t>sets, sorted sets, publish / subscribe</a:t>
            </a:r>
            <a:br>
              <a:rPr lang="en-GB" dirty="0"/>
            </a:br>
            <a:r>
              <a:rPr lang="en-GB" dirty="0"/>
              <a:t>messaging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GB" dirty="0"/>
              <a:t>Used for caching / simple apps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pic>
        <p:nvPicPr>
          <p:cNvPr id="11" name="Picture 4" descr="D:\_WORK PROJECTS\Nakov\Presentation Slides Design\Question Summary Slide\Store\minions summary copy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012" y="1535238"/>
            <a:ext cx="2438400" cy="2438400"/>
          </a:xfrm>
          <a:prstGeom prst="rect">
            <a:avLst/>
          </a:prstGeom>
          <a:noFill/>
        </p:spPr>
      </p:pic>
      <p:grpSp>
        <p:nvGrpSpPr>
          <p:cNvPr id="7" name="Group 6"/>
          <p:cNvGrpSpPr/>
          <p:nvPr/>
        </p:nvGrpSpPr>
        <p:grpSpPr>
          <a:xfrm>
            <a:off x="8309225" y="4572000"/>
            <a:ext cx="3081986" cy="1628125"/>
            <a:chOff x="998778" y="2709000"/>
            <a:chExt cx="7687634" cy="3510730"/>
          </a:xfrm>
        </p:grpSpPr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4" cstate="screen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778" y="2709000"/>
              <a:ext cx="7687634" cy="351073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0" name="TextBox 9"/>
            <p:cNvSpPr txBox="1"/>
            <p:nvPr/>
          </p:nvSpPr>
          <p:spPr>
            <a:xfrm rot="21361232">
              <a:off x="1603866" y="3732944"/>
              <a:ext cx="6576452" cy="1327851"/>
            </a:xfrm>
            <a:prstGeom prst="rect">
              <a:avLst/>
            </a:prstGeom>
            <a:noFill/>
          </p:spPr>
          <p:txBody>
            <a:bodyPr wrap="none" rtlCol="0">
              <a:prstTxWarp prst="textCascadeUp">
                <a:avLst/>
              </a:prstTxWarp>
              <a:spAutoFit/>
            </a:bodyPr>
            <a:lstStyle/>
            <a:p>
              <a:r>
                <a:rPr lang="en-US" sz="10700" b="1" dirty="0">
                  <a:ln w="3175">
                    <a:solidFill>
                      <a:srgbClr val="FFFFFF">
                        <a:alpha val="50000"/>
                      </a:srgbClr>
                    </a:solidFill>
                    <a:prstDash val="solid"/>
                  </a:ln>
                  <a:solidFill>
                    <a:schemeClr val="accent1">
                      <a:lumMod val="40000"/>
                      <a:lumOff val="60000"/>
                      <a:alpha val="49804"/>
                    </a:schemeClr>
                  </a:solidFill>
                  <a:effectLst>
                    <a:outerShdw blurRad="88900" sx="102000" sy="102000" algn="ctr" rotWithShape="0">
                      <a:prstClr val="black"/>
                    </a:outerShdw>
                  </a:effectLst>
                </a:rPr>
                <a:t>Databases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9185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https://softuni.bg/courses/databases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815" y="117000"/>
            <a:ext cx="9531686" cy="797400"/>
          </a:xfrm>
        </p:spPr>
        <p:txBody>
          <a:bodyPr>
            <a:normAutofit/>
          </a:bodyPr>
          <a:lstStyle/>
          <a:p>
            <a:r>
              <a:rPr lang="en-US" noProof="1"/>
              <a:t>Redis</a:t>
            </a:r>
            <a:endParaRPr lang="en-US" dirty="0"/>
          </a:p>
        </p:txBody>
      </p:sp>
      <p:pic>
        <p:nvPicPr>
          <p:cNvPr id="4" name="Picture 3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0297" y="1424940"/>
            <a:ext cx="2203729" cy="784654"/>
          </a:xfrm>
          <a:prstGeom prst="roundRect">
            <a:avLst>
              <a:gd name="adj" fmla="val 3159"/>
            </a:avLst>
          </a:prstGeom>
          <a:effectLst>
            <a:outerShdw blurRad="50800" dist="50800" dir="54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hlinkClick r:id="rId6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1424940"/>
            <a:ext cx="1710402" cy="784860"/>
          </a:xfrm>
          <a:prstGeom prst="roundRect">
            <a:avLst>
              <a:gd name="adj" fmla="val 3159"/>
            </a:avLst>
          </a:prstGeom>
        </p:spPr>
      </p:pic>
      <p:pic>
        <p:nvPicPr>
          <p:cNvPr id="6" name="Picture 5">
            <a:hlinkClick r:id="rId8"/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052" y="1424940"/>
            <a:ext cx="2372207" cy="784654"/>
          </a:xfrm>
          <a:prstGeom prst="roundRect">
            <a:avLst>
              <a:gd name="adj" fmla="val 3159"/>
            </a:avLst>
          </a:prstGeom>
        </p:spPr>
      </p:pic>
      <p:pic>
        <p:nvPicPr>
          <p:cNvPr id="7" name="Picture 6">
            <a:hlinkClick r:id="rId10"/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561" y="1424940"/>
            <a:ext cx="1991815" cy="784654"/>
          </a:xfrm>
          <a:prstGeom prst="roundRect">
            <a:avLst>
              <a:gd name="adj" fmla="val 3159"/>
            </a:avLst>
          </a:prstGeom>
        </p:spPr>
      </p:pic>
      <p:pic>
        <p:nvPicPr>
          <p:cNvPr id="8" name="Picture 7">
            <a:hlinkClick r:id="rId12"/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0064" y="1424940"/>
            <a:ext cx="2043459" cy="784654"/>
          </a:xfrm>
          <a:prstGeom prst="roundRect">
            <a:avLst>
              <a:gd name="adj" fmla="val 3159"/>
            </a:avLst>
          </a:prstGeom>
        </p:spPr>
      </p:pic>
      <p:pic>
        <p:nvPicPr>
          <p:cNvPr id="9" name="Picture 8">
            <a:hlinkClick r:id="rId14"/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" y="5676828"/>
            <a:ext cx="2856368" cy="723768"/>
          </a:xfrm>
          <a:prstGeom prst="roundRect">
            <a:avLst>
              <a:gd name="adj" fmla="val 3159"/>
            </a:avLst>
          </a:prstGeom>
        </p:spPr>
      </p:pic>
      <p:pic>
        <p:nvPicPr>
          <p:cNvPr id="10" name="Picture 9">
            <a:hlinkClick r:id="rId16"/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388" y="5754396"/>
            <a:ext cx="2947601" cy="568632"/>
          </a:xfrm>
          <a:prstGeom prst="roundRect">
            <a:avLst>
              <a:gd name="adj" fmla="val 3159"/>
            </a:avLst>
          </a:prstGeom>
        </p:spPr>
      </p:pic>
      <p:pic>
        <p:nvPicPr>
          <p:cNvPr id="1026" name="Picture 2" descr="Hulu is Giving Their App Icon a New Look | Cord Cutters News">
            <a:extLst>
              <a:ext uri="{FF2B5EF4-FFF2-40B4-BE49-F238E27FC236}">
                <a16:creationId xmlns:a16="http://schemas.microsoft.com/office/drawing/2014/main" id="{491FA882-D042-0FD7-BDF3-5A01B7AF6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615" y="2631600"/>
            <a:ext cx="2163534" cy="79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E6A4D82-0202-33E2-8916-F4BE2D7CA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435" y="5727892"/>
            <a:ext cx="2917829" cy="56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5260BD5-1DF4-CFFE-CB97-45FEF599A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495" y="5721391"/>
            <a:ext cx="2016493" cy="56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Hub Logo and symbol, meaning, history, PNG, brand">
            <a:extLst>
              <a:ext uri="{FF2B5EF4-FFF2-40B4-BE49-F238E27FC236}">
                <a16:creationId xmlns:a16="http://schemas.microsoft.com/office/drawing/2014/main" id="{67491F89-BB17-F418-7E62-EE61FB918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732" y="3741628"/>
            <a:ext cx="2203729" cy="123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stagram SVG Vector Logos - Vector Logo Zone">
            <a:extLst>
              <a:ext uri="{FF2B5EF4-FFF2-40B4-BE49-F238E27FC236}">
                <a16:creationId xmlns:a16="http://schemas.microsoft.com/office/drawing/2014/main" id="{E8BDD890-2FAC-1737-EDA6-6DE9A3FB9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012" y="3763612"/>
            <a:ext cx="2445276" cy="122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nterest Logo and symbol, meaning, history, PNG, brand">
            <a:extLst>
              <a:ext uri="{FF2B5EF4-FFF2-40B4-BE49-F238E27FC236}">
                <a16:creationId xmlns:a16="http://schemas.microsoft.com/office/drawing/2014/main" id="{7CD29E46-4035-B7F8-2EAA-6B8910CE1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012" y="2422183"/>
            <a:ext cx="2445276" cy="119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890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License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0413" y="1151121"/>
            <a:ext cx="11804822" cy="1796243"/>
          </a:xfrm>
        </p:spPr>
        <p:txBody>
          <a:bodyPr>
            <a:normAutofit/>
          </a:bodyPr>
          <a:lstStyle/>
          <a:p>
            <a:r>
              <a:rPr lang="en-US" dirty="0"/>
              <a:t>This course (slides, examples, demos, videos, homework, etc.)</a:t>
            </a:r>
            <a:br>
              <a:rPr lang="en-US" dirty="0"/>
            </a:br>
            <a:r>
              <a:rPr lang="en-US" dirty="0"/>
              <a:t>is licensed under the "</a:t>
            </a:r>
            <a:r>
              <a:rPr lang="en-US" dirty="0">
                <a:hlinkClick r:id="rId3"/>
              </a:rPr>
              <a:t>Creative Commons </a:t>
            </a:r>
            <a:r>
              <a:rPr lang="en-US" noProof="1">
                <a:hlinkClick r:id="rId3"/>
              </a:rPr>
              <a:t>Attribution-NonCommercial-ShareAlike</a:t>
            </a:r>
            <a:r>
              <a:rPr lang="en-US" dirty="0">
                <a:hlinkClick r:id="rId3"/>
              </a:rPr>
              <a:t> 4.0 International</a:t>
            </a:r>
            <a:r>
              <a:rPr lang="en-US" dirty="0"/>
              <a:t>" license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8" name="Picture 4" title="CC-BY-NC-SA License">
            <a:hlinkClick r:id="rId3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637" y="3281192"/>
            <a:ext cx="3170776" cy="1109380"/>
          </a:xfrm>
          <a:prstGeom prst="roundRect">
            <a:avLst>
              <a:gd name="adj" fmla="val 432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>
            <a:spLocks noGrp="1"/>
          </p:cNvSpPr>
          <p:nvPr>
            <p:ph idx="4294967295"/>
          </p:nvPr>
        </p:nvSpPr>
        <p:spPr>
          <a:xfrm>
            <a:off x="188815" y="4724400"/>
            <a:ext cx="11804822" cy="1997079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sz="2400" dirty="0"/>
              <a:t>Attribution: this work may contain portions from</a:t>
            </a:r>
          </a:p>
          <a:p>
            <a:pPr lvl="1"/>
            <a:r>
              <a:rPr lang="en-US" sz="2000" dirty="0"/>
              <a:t>"</a:t>
            </a:r>
            <a:r>
              <a:rPr lang="en-US" sz="2000" dirty="0">
                <a:hlinkClick r:id="rId5"/>
              </a:rPr>
              <a:t>Databases</a:t>
            </a:r>
            <a:r>
              <a:rPr lang="en-US" sz="2000" dirty="0"/>
              <a:t>" course by </a:t>
            </a:r>
            <a:r>
              <a:rPr lang="en-US" sz="2000" noProof="1"/>
              <a:t>Telerik Academy</a:t>
            </a:r>
            <a:r>
              <a:rPr lang="en-US" sz="2000" dirty="0"/>
              <a:t> under </a:t>
            </a:r>
            <a:r>
              <a:rPr lang="en-US" sz="2000" dirty="0">
                <a:hlinkClick r:id="rId6"/>
              </a:rPr>
              <a:t>CC-BY-NC-SA</a:t>
            </a:r>
            <a:r>
              <a:rPr lang="en-US" sz="2000" dirty="0"/>
              <a:t> license</a:t>
            </a:r>
          </a:p>
        </p:txBody>
      </p:sp>
    </p:spTree>
    <p:extLst>
      <p:ext uri="{BB962C8B-B14F-4D97-AF65-F5344CB8AC3E}">
        <p14:creationId xmlns:p14="http://schemas.microsoft.com/office/powerpoint/2010/main" val="40077658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59899" y="103056"/>
            <a:ext cx="9074150" cy="936625"/>
          </a:xfrm>
        </p:spPr>
        <p:txBody>
          <a:bodyPr>
            <a:normAutofit/>
          </a:bodyPr>
          <a:lstStyle/>
          <a:p>
            <a:r>
              <a:rPr lang="en-US" dirty="0"/>
              <a:t>Free Trainings @ Software University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259899" y="1039681"/>
            <a:ext cx="9434513" cy="56393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Foundation – </a:t>
            </a:r>
            <a:r>
              <a:rPr lang="en-US" sz="3200" noProof="1">
                <a:hlinkClick r:id="rId3"/>
              </a:rPr>
              <a:t>softuni.org</a:t>
            </a:r>
            <a:endParaRPr lang="en-US" sz="32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>
              <a:lnSpc>
                <a:spcPct val="100000"/>
              </a:lnSpc>
            </a:pPr>
            <a:r>
              <a:rPr lang="en-US" sz="2900" noProof="1">
                <a:hlinkClick r:id="rId4"/>
              </a:rPr>
              <a:t>softuni.bg</a:t>
            </a:r>
            <a:r>
              <a:rPr lang="en-US" sz="2900" noProof="1"/>
              <a:t> </a:t>
            </a:r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dirty="0"/>
              <a:t>Software University @ Facebook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5"/>
              </a:rPr>
              <a:t>facebook.com/SoftwareUniversity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dirty="0"/>
              <a:t>Software University @ YouTube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6"/>
              </a:rPr>
              <a:t>youtube.com/SoftwareUniversity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noProof="1"/>
              <a:t>Software University Forums – </a:t>
            </a:r>
            <a:r>
              <a:rPr lang="en-US" dirty="0">
                <a:hlinkClick r:id="rId7"/>
              </a:rPr>
              <a:t>forum.softuni.bg</a:t>
            </a:r>
            <a:endParaRPr lang="en-US" noProof="1"/>
          </a:p>
        </p:txBody>
      </p:sp>
      <p:pic>
        <p:nvPicPr>
          <p:cNvPr id="9" name="Picture 8" title="Software University">
            <a:hlinkClick r:id="rId4" tooltip="Software University"/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59438" y="1594686"/>
            <a:ext cx="1834974" cy="1570200"/>
          </a:xfrm>
          <a:prstGeom prst="rect">
            <a:avLst/>
          </a:prstGeom>
          <a:ln w="12700">
            <a:solidFill>
              <a:srgbClr val="55438F">
                <a:alpha val="70000"/>
              </a:srgbClr>
            </a:solidFill>
          </a:ln>
        </p:spPr>
      </p:pic>
      <p:pic>
        <p:nvPicPr>
          <p:cNvPr id="10" name="Picture 9" title="Software University Foundation">
            <a:hlinkClick r:id="rId3" tooltip="Software University Foundation"/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59" t="-15226" r="-5359" b="-15226"/>
          <a:stretch/>
        </p:blipFill>
        <p:spPr>
          <a:xfrm>
            <a:off x="9457098" y="466964"/>
            <a:ext cx="2269870" cy="874916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40000"/>
              </a:schemeClr>
            </a:solidFill>
          </a:ln>
        </p:spPr>
      </p:pic>
      <p:pic>
        <p:nvPicPr>
          <p:cNvPr id="11" name="Picture 4" title="Software University @ Facebook">
            <a:hlinkClick r:id="rId10" tooltip="Software University @ Facebook"/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75536" y="3385124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title="Software University Videos @ YouTube">
            <a:hlinkClick r:id="rId6" tooltip="Software University YouTube Video Channel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544" y="4589658"/>
            <a:ext cx="1837868" cy="675261"/>
          </a:xfrm>
          <a:prstGeom prst="rect">
            <a:avLst/>
          </a:prstGeom>
          <a:ln w="25400">
            <a:solidFill>
              <a:schemeClr val="bg1">
                <a:lumMod val="50000"/>
                <a:lumOff val="50000"/>
                <a:alpha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title="Software University - Forum">
            <a:hlinkClick r:id="rId7" tooltip="Software University Discussion Forum"/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334" y="5540172"/>
            <a:ext cx="970156" cy="96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83827"/>
      </p:ext>
    </p:extLst>
  </p:cSld>
  <p:clrMapOvr>
    <a:masterClrMapping/>
  </p:clrMapOvr>
</p:sld>
</file>

<file path=ppt/theme/theme1.xml><?xml version="1.0" encoding="utf-8"?>
<a:theme xmlns:a="http://schemas.openxmlformats.org/drawingml/2006/main" name="SoftUni 16x9">
  <a:themeElements>
    <a:clrScheme name="SoftUni Color The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6C781"/>
      </a:hlink>
      <a:folHlink>
        <a:srgbClr val="F2AC44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Software-University-Foundation</Template>
  <TotalTime>0</TotalTime>
  <Words>1918</Words>
  <Application>Microsoft Macintosh PowerPoint</Application>
  <PresentationFormat>Custom</PresentationFormat>
  <Paragraphs>377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Consolas</vt:lpstr>
      <vt:lpstr>Wingdings</vt:lpstr>
      <vt:lpstr>Wingdings 2</vt:lpstr>
      <vt:lpstr>SoftUni 16x9</vt:lpstr>
      <vt:lpstr>Redis</vt:lpstr>
      <vt:lpstr>Table of Contents</vt:lpstr>
      <vt:lpstr>Redis</vt:lpstr>
      <vt:lpstr>What is Redis?</vt:lpstr>
      <vt:lpstr>Redis: Features</vt:lpstr>
      <vt:lpstr>Installing Redis</vt:lpstr>
      <vt:lpstr>Running Redis</vt:lpstr>
      <vt:lpstr>Redis: Basic Commands</vt:lpstr>
      <vt:lpstr>Redis: Data Model</vt:lpstr>
      <vt:lpstr>Redis: Commands</vt:lpstr>
      <vt:lpstr>String Commands</vt:lpstr>
      <vt:lpstr>Working with Keys</vt:lpstr>
      <vt:lpstr>Working with Hashes (Hash Tables)</vt:lpstr>
      <vt:lpstr>Working with Lists</vt:lpstr>
      <vt:lpstr>Working with Sets</vt:lpstr>
      <vt:lpstr>Working with Sorted Sets</vt:lpstr>
      <vt:lpstr>Publish / Subscribe Commands</vt:lpstr>
      <vt:lpstr>Using Redis as a Database</vt:lpstr>
      <vt:lpstr>Redis and JSON data</vt:lpstr>
      <vt:lpstr>Redis and GEO data</vt:lpstr>
      <vt:lpstr>Redis Use Cases</vt:lpstr>
      <vt:lpstr>Demo Time</vt:lpstr>
      <vt:lpstr>Redis Cluster</vt:lpstr>
      <vt:lpstr>Redis Cluster </vt:lpstr>
      <vt:lpstr>Redis Cluster Replication</vt:lpstr>
      <vt:lpstr>Redis Cluster</vt:lpstr>
      <vt:lpstr>Redis Cluster Consistency</vt:lpstr>
      <vt:lpstr>Redis Cluster</vt:lpstr>
      <vt:lpstr>Summary</vt:lpstr>
      <vt:lpstr>Redis</vt:lpstr>
      <vt:lpstr>License</vt:lpstr>
      <vt:lpstr>Free Trainings @ Software University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</dc:title>
  <dc:subject>Software Development Course</dc:subject>
  <dc:creator/>
  <cp:keywords>Databases, NoSQL, programming, SoftUni, Software University, programming, software development, software engineering, course, database, Redis</cp:keywords>
  <dc:description>Software University Foundation - http://softuni.org</dc:description>
  <cp:lastModifiedBy/>
  <cp:revision>1</cp:revision>
  <dcterms:created xsi:type="dcterms:W3CDTF">2014-01-02T17:00:34Z</dcterms:created>
  <dcterms:modified xsi:type="dcterms:W3CDTF">2023-03-08T16:23:39Z</dcterms:modified>
  <cp:category>Databases, NoSQL, programming, SoftUni, Software University, programming, software development, software engineering, course, Redis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