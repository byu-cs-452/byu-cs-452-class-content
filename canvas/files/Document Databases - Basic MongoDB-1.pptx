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41"/>
  </p:notesMasterIdLst>
  <p:sldIdLst>
    <p:sldId id="256" r:id="rId2"/>
    <p:sldId id="353" r:id="rId3"/>
    <p:sldId id="354" r:id="rId4"/>
    <p:sldId id="355" r:id="rId5"/>
    <p:sldId id="356" r:id="rId6"/>
    <p:sldId id="358" r:id="rId7"/>
    <p:sldId id="359" r:id="rId8"/>
    <p:sldId id="360" r:id="rId9"/>
    <p:sldId id="365" r:id="rId10"/>
    <p:sldId id="366" r:id="rId11"/>
    <p:sldId id="361" r:id="rId12"/>
    <p:sldId id="362" r:id="rId13"/>
    <p:sldId id="363" r:id="rId14"/>
    <p:sldId id="367" r:id="rId15"/>
    <p:sldId id="368" r:id="rId16"/>
    <p:sldId id="369" r:id="rId17"/>
    <p:sldId id="370" r:id="rId18"/>
    <p:sldId id="371" r:id="rId19"/>
    <p:sldId id="372" r:id="rId20"/>
    <p:sldId id="364" r:id="rId21"/>
    <p:sldId id="257" r:id="rId22"/>
    <p:sldId id="262" r:id="rId23"/>
    <p:sldId id="259" r:id="rId24"/>
    <p:sldId id="261" r:id="rId25"/>
    <p:sldId id="266" r:id="rId26"/>
    <p:sldId id="274" r:id="rId27"/>
    <p:sldId id="275" r:id="rId28"/>
    <p:sldId id="264" r:id="rId29"/>
    <p:sldId id="260" r:id="rId30"/>
    <p:sldId id="280" r:id="rId31"/>
    <p:sldId id="281" r:id="rId32"/>
    <p:sldId id="282" r:id="rId33"/>
    <p:sldId id="276" r:id="rId34"/>
    <p:sldId id="283" r:id="rId35"/>
    <p:sldId id="284" r:id="rId36"/>
    <p:sldId id="277" r:id="rId37"/>
    <p:sldId id="278" r:id="rId38"/>
    <p:sldId id="285" r:id="rId39"/>
    <p:sldId id="286"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84"/>
    <p:restoredTop sz="96327"/>
  </p:normalViewPr>
  <p:slideViewPr>
    <p:cSldViewPr snapToGrid="0" snapToObjects="1">
      <p:cViewPr varScale="1">
        <p:scale>
          <a:sx n="128" d="100"/>
          <a:sy n="128" d="100"/>
        </p:scale>
        <p:origin x="472" y="17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E686BE-5348-9E4C-B5DF-C6F17847F68D}" type="datetimeFigureOut">
              <a:rPr lang="en-US" smtClean="0"/>
              <a:t>11/9/21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5BE598-9299-8B4B-91ED-F9A52B2F87DB}" type="slidenum">
              <a:rPr lang="en-US" smtClean="0"/>
              <a:t>‹#›</a:t>
            </a:fld>
            <a:endParaRPr lang="en-US"/>
          </a:p>
        </p:txBody>
      </p:sp>
    </p:spTree>
    <p:extLst>
      <p:ext uri="{BB962C8B-B14F-4D97-AF65-F5344CB8AC3E}">
        <p14:creationId xmlns:p14="http://schemas.microsoft.com/office/powerpoint/2010/main" val="32898263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E35366-9ADD-EB4E-BBBA-F0C9011757AA}" type="datetimeFigureOut">
              <a:rPr lang="en-US" smtClean="0"/>
              <a:t>11/9/21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E35366-9ADD-EB4E-BBBA-F0C9011757AA}" type="datetimeFigureOut">
              <a:rPr lang="en-US" smtClean="0"/>
              <a:t>11/9/21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E35366-9ADD-EB4E-BBBA-F0C9011757AA}" type="datetimeFigureOut">
              <a:rPr lang="en-US" smtClean="0"/>
              <a:t>11/9/21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E35366-9ADD-EB4E-BBBA-F0C9011757AA}" type="datetimeFigureOut">
              <a:rPr lang="en-US" smtClean="0"/>
              <a:t>11/9/21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2E35366-9ADD-EB4E-BBBA-F0C9011757AA}" type="datetimeFigureOut">
              <a:rPr lang="en-US" smtClean="0"/>
              <a:t>11/9/21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E35366-9ADD-EB4E-BBBA-F0C9011757AA}" type="datetimeFigureOut">
              <a:rPr lang="en-US" smtClean="0"/>
              <a:t>11/9/21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F9A8611-9EEC-9C40-B54D-4A508AF5313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E35366-9ADD-EB4E-BBBA-F0C9011757AA}" type="datetimeFigureOut">
              <a:rPr lang="en-US" smtClean="0"/>
              <a:t>11/9/21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35366-9ADD-EB4E-BBBA-F0C9011757AA}" type="datetimeFigureOut">
              <a:rPr lang="en-US" smtClean="0"/>
              <a:t>11/9/21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9A8611-9EEC-9C40-B54D-4A508AF5313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E35366-9ADD-EB4E-BBBA-F0C9011757AA}" type="datetimeFigureOut">
              <a:rPr lang="en-US" smtClean="0"/>
              <a:t>11/9/21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F9A8611-9EEC-9C40-B54D-4A508AF5313A}"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87260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A971-3BAC-3845-9251-B4F9C5F248AE}"/>
              </a:ext>
            </a:extLst>
          </p:cNvPr>
          <p:cNvSpPr>
            <a:spLocks noGrp="1"/>
          </p:cNvSpPr>
          <p:nvPr>
            <p:ph type="ctrTitle"/>
          </p:nvPr>
        </p:nvSpPr>
        <p:spPr/>
        <p:txBody>
          <a:bodyPr/>
          <a:lstStyle/>
          <a:p>
            <a:r>
              <a:rPr lang="en-US" dirty="0"/>
              <a:t>Document Databases</a:t>
            </a:r>
          </a:p>
        </p:txBody>
      </p:sp>
      <p:sp>
        <p:nvSpPr>
          <p:cNvPr id="3" name="Subtitle 2">
            <a:extLst>
              <a:ext uri="{FF2B5EF4-FFF2-40B4-BE49-F238E27FC236}">
                <a16:creationId xmlns:a16="http://schemas.microsoft.com/office/drawing/2014/main" id="{A30E7CFA-D039-FD4C-B4A2-4E5FEA7066A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796367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6EF9FFDE-9DB8-A448-8A16-FD18AED3D699}"/>
              </a:ext>
            </a:extLst>
          </p:cNvPr>
          <p:cNvSpPr>
            <a:spLocks noGrp="1" noChangeArrowheads="1"/>
          </p:cNvSpPr>
          <p:nvPr>
            <p:ph type="title"/>
          </p:nvPr>
        </p:nvSpPr>
        <p:spPr/>
        <p:txBody>
          <a:bodyPr/>
          <a:lstStyle/>
          <a:p>
            <a:r>
              <a:rPr lang="en-US" altLang="en-US"/>
              <a:t>NoSQL: Document Store</a:t>
            </a:r>
          </a:p>
        </p:txBody>
      </p:sp>
      <p:sp>
        <p:nvSpPr>
          <p:cNvPr id="30722" name="Content Placeholder 2">
            <a:extLst>
              <a:ext uri="{FF2B5EF4-FFF2-40B4-BE49-F238E27FC236}">
                <a16:creationId xmlns:a16="http://schemas.microsoft.com/office/drawing/2014/main" id="{3493D6D4-3ECA-EB4F-AF99-527B9B9E98D6}"/>
              </a:ext>
            </a:extLst>
          </p:cNvPr>
          <p:cNvSpPr>
            <a:spLocks noGrp="1" noChangeArrowheads="1"/>
          </p:cNvSpPr>
          <p:nvPr>
            <p:ph idx="1"/>
          </p:nvPr>
        </p:nvSpPr>
        <p:spPr/>
        <p:txBody>
          <a:bodyPr/>
          <a:lstStyle/>
          <a:p>
            <a:r>
              <a:rPr lang="en-US" altLang="en-US"/>
              <a:t>Database is a collection of "documents"</a:t>
            </a:r>
          </a:p>
          <a:p>
            <a:pPr lvl="1"/>
            <a:r>
              <a:rPr lang="en-US" altLang="en-US"/>
              <a:t>Structured format: JSON, XML</a:t>
            </a:r>
          </a:p>
          <a:p>
            <a:r>
              <a:rPr lang="en-US" altLang="en-US"/>
              <a:t>Collection ↔ Table</a:t>
            </a:r>
          </a:p>
          <a:p>
            <a:r>
              <a:rPr lang="en-US" altLang="en-US"/>
              <a:t>Document ↔ Row of Table</a:t>
            </a:r>
          </a:p>
          <a:p>
            <a:r>
              <a:rPr lang="en-US" altLang="en-US"/>
              <a:t>Every document can have its own structure</a:t>
            </a:r>
          </a:p>
          <a:p>
            <a:pPr lvl="1"/>
            <a:r>
              <a:rPr lang="en-US" altLang="en-US"/>
              <a:t>Different attributes, complex values </a:t>
            </a:r>
          </a:p>
          <a:p>
            <a:pPr lvl="1"/>
            <a:r>
              <a:rPr lang="en-US" altLang="en-US"/>
              <a:t>Usually documents in a collection have (somewhat) consistent keys</a:t>
            </a:r>
          </a:p>
          <a:p>
            <a:r>
              <a:rPr lang="en-US" altLang="en-US"/>
              <a:t>Query for documents using their keys</a:t>
            </a:r>
          </a:p>
        </p:txBody>
      </p:sp>
      <p:sp>
        <p:nvSpPr>
          <p:cNvPr id="30723" name="Slide Number Placeholder 4">
            <a:extLst>
              <a:ext uri="{FF2B5EF4-FFF2-40B4-BE49-F238E27FC236}">
                <a16:creationId xmlns:a16="http://schemas.microsoft.com/office/drawing/2014/main" id="{DC873C39-6055-0541-9435-BB45BE4EA38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648E407-AA9B-244F-B745-2311B9B44D8F}"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Box 5">
            <a:extLst>
              <a:ext uri="{FF2B5EF4-FFF2-40B4-BE49-F238E27FC236}">
                <a16:creationId xmlns:a16="http://schemas.microsoft.com/office/drawing/2014/main" id="{6B1C281E-784C-D640-9F07-7C8D3EF6AD1B}"/>
              </a:ext>
            </a:extLst>
          </p:cNvPr>
          <p:cNvSpPr txBox="1">
            <a:spLocks noChangeArrowheads="1"/>
          </p:cNvSpPr>
          <p:nvPr/>
        </p:nvSpPr>
        <p:spPr bwMode="auto">
          <a:xfrm>
            <a:off x="2928179" y="1936442"/>
            <a:ext cx="4177747" cy="432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100" b="1" dirty="0">
                <a:latin typeface="Courier New" panose="02070309020205020404" pitchFamily="49" charset="0"/>
                <a:cs typeface="Courier New" panose="02070309020205020404" pitchFamily="49" charset="0"/>
              </a:rPr>
              <a:t>&lt;artist&gt;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artistname</a:t>
            </a:r>
            <a:r>
              <a:rPr lang="en-US" altLang="en-US" sz="1100" b="1" dirty="0">
                <a:latin typeface="Courier New" panose="02070309020205020404" pitchFamily="49" charset="0"/>
                <a:cs typeface="Courier New" panose="02070309020205020404" pitchFamily="49" charset="0"/>
              </a:rPr>
              <a:t>&gt;Iron Maiden&lt;/&lt;</a:t>
            </a:r>
            <a:r>
              <a:rPr lang="en-US" altLang="en-US" sz="1100" b="1" dirty="0" err="1">
                <a:latin typeface="Courier New" panose="02070309020205020404" pitchFamily="49" charset="0"/>
                <a:cs typeface="Courier New" panose="02070309020205020404" pitchFamily="49" charset="0"/>
              </a:rPr>
              <a:t>artistname</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&lt;albums&gt;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&gt;The Book of Souls&lt;/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&gt;2015&lt;/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&lt;genre&gt;Hard Rock&lt;/genre&gt;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&gt;Killers&lt;/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&gt;1981&lt;/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&lt;genre&gt;Hard Rock&lt;/genre&gt;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a:t>
            </a:r>
            <a:r>
              <a:rPr lang="en-US" altLang="en-US" sz="1100" b="1" dirty="0" err="1">
                <a:latin typeface="Courier New" panose="02070309020205020404" pitchFamily="49" charset="0"/>
                <a:cs typeface="Courier New" panose="02070309020205020404" pitchFamily="49" charset="0"/>
              </a:rPr>
              <a:t>Powerslave</a:t>
            </a:r>
            <a:r>
              <a:rPr lang="en-US" altLang="en-US" sz="1100" b="1" dirty="0">
                <a:latin typeface="Courier New" panose="02070309020205020404" pitchFamily="49" charset="0"/>
                <a:cs typeface="Courier New" panose="02070309020205020404" pitchFamily="49" charset="0"/>
              </a:rPr>
              <a:t>&lt;/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&gt;1984&lt;/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&lt;genre&gt;Hard Rock&lt;/genre&gt;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&gt;Somewhere in Time&lt;/</a:t>
            </a:r>
            <a:r>
              <a:rPr lang="en-US" altLang="en-US" sz="1100" b="1" dirty="0" err="1">
                <a:latin typeface="Courier New" panose="02070309020205020404" pitchFamily="49" charset="0"/>
                <a:cs typeface="Courier New" panose="02070309020205020404" pitchFamily="49" charset="0"/>
              </a:rPr>
              <a:t>albumname</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&gt;1986&lt;/</a:t>
            </a:r>
            <a:r>
              <a:rPr lang="en-US" altLang="en-US" sz="1100" b="1" dirty="0" err="1">
                <a:latin typeface="Courier New" panose="02070309020205020404" pitchFamily="49" charset="0"/>
                <a:cs typeface="Courier New" panose="02070309020205020404" pitchFamily="49" charset="0"/>
              </a:rPr>
              <a:t>datereleased</a:t>
            </a:r>
            <a:r>
              <a:rPr lang="en-US" altLang="en-US" sz="1100" b="1" dirty="0">
                <a:latin typeface="Courier New" panose="02070309020205020404" pitchFamily="49" charset="0"/>
                <a:cs typeface="Courier New" panose="02070309020205020404" pitchFamily="49" charset="0"/>
              </a:rPr>
              <a:t>&gt;</a:t>
            </a:r>
          </a:p>
          <a:p>
            <a:r>
              <a:rPr lang="en-US" altLang="en-US" sz="1100" b="1" dirty="0">
                <a:latin typeface="Courier New" panose="02070309020205020404" pitchFamily="49" charset="0"/>
                <a:cs typeface="Courier New" panose="02070309020205020404" pitchFamily="49" charset="0"/>
              </a:rPr>
              <a:t>       &lt;genre&gt;Hard Rock&lt;/genre&gt;</a:t>
            </a:r>
          </a:p>
          <a:p>
            <a:r>
              <a:rPr lang="en-US" altLang="en-US" sz="1100" b="1" dirty="0">
                <a:latin typeface="Courier New" panose="02070309020205020404" pitchFamily="49" charset="0"/>
                <a:cs typeface="Courier New" panose="02070309020205020404" pitchFamily="49" charset="0"/>
              </a:rPr>
              <a:t>     &lt;/album&gt;</a:t>
            </a:r>
          </a:p>
          <a:p>
            <a:r>
              <a:rPr lang="en-US" altLang="en-US" sz="1100" b="1" dirty="0">
                <a:latin typeface="Courier New" panose="02070309020205020404" pitchFamily="49" charset="0"/>
                <a:cs typeface="Courier New" panose="02070309020205020404" pitchFamily="49" charset="0"/>
              </a:rPr>
              <a:t>   &lt;/albums&gt;</a:t>
            </a:r>
          </a:p>
          <a:p>
            <a:r>
              <a:rPr lang="en-US" altLang="en-US" sz="1100" b="1" dirty="0">
                <a:latin typeface="Courier New" panose="02070309020205020404" pitchFamily="49" charset="0"/>
                <a:cs typeface="Courier New" panose="02070309020205020404" pitchFamily="49" charset="0"/>
              </a:rPr>
              <a:t> &lt;/artist&gt;</a:t>
            </a:r>
          </a:p>
        </p:txBody>
      </p:sp>
      <p:sp>
        <p:nvSpPr>
          <p:cNvPr id="31746" name="Title 1">
            <a:extLst>
              <a:ext uri="{FF2B5EF4-FFF2-40B4-BE49-F238E27FC236}">
                <a16:creationId xmlns:a16="http://schemas.microsoft.com/office/drawing/2014/main" id="{EB1B2C55-D64E-3B47-B4A3-3A98697F21FF}"/>
              </a:ext>
            </a:extLst>
          </p:cNvPr>
          <p:cNvSpPr>
            <a:spLocks noGrp="1" noChangeArrowheads="1"/>
          </p:cNvSpPr>
          <p:nvPr>
            <p:ph type="title"/>
          </p:nvPr>
        </p:nvSpPr>
        <p:spPr/>
        <p:txBody>
          <a:bodyPr/>
          <a:lstStyle/>
          <a:p>
            <a:r>
              <a:rPr lang="en-US" altLang="en-US" dirty="0"/>
              <a:t>XML Document</a:t>
            </a:r>
          </a:p>
        </p:txBody>
      </p:sp>
      <p:sp>
        <p:nvSpPr>
          <p:cNvPr id="31747" name="Slide Number Placeholder 4">
            <a:extLst>
              <a:ext uri="{FF2B5EF4-FFF2-40B4-BE49-F238E27FC236}">
                <a16:creationId xmlns:a16="http://schemas.microsoft.com/office/drawing/2014/main" id="{C887DED5-59BC-2042-9E20-1575D4203EC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B7DE239-5C55-9348-870D-51EF99DB5A32}" type="slidenum">
              <a:rPr lang="en-US" altLang="en-US"/>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06B4F81B-AA7A-D943-B90B-33BBFE603FDF}"/>
              </a:ext>
            </a:extLst>
          </p:cNvPr>
          <p:cNvSpPr>
            <a:spLocks noGrp="1" noChangeArrowheads="1"/>
          </p:cNvSpPr>
          <p:nvPr>
            <p:ph type="title"/>
          </p:nvPr>
        </p:nvSpPr>
        <p:spPr/>
        <p:txBody>
          <a:bodyPr/>
          <a:lstStyle/>
          <a:p>
            <a:r>
              <a:rPr lang="en-US" altLang="en-US"/>
              <a:t>JSON Document</a:t>
            </a:r>
          </a:p>
        </p:txBody>
      </p:sp>
      <p:sp>
        <p:nvSpPr>
          <p:cNvPr id="32770" name="Slide Number Placeholder 4">
            <a:extLst>
              <a:ext uri="{FF2B5EF4-FFF2-40B4-BE49-F238E27FC236}">
                <a16:creationId xmlns:a16="http://schemas.microsoft.com/office/drawing/2014/main" id="{9878C862-DACA-BE4A-B8D8-17B798086DF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020056-5A96-B544-BED0-F6F4B9337801}" type="slidenum">
              <a:rPr lang="en-US" altLang="en-US"/>
              <a:pPr/>
              <a:t>4</a:t>
            </a:fld>
            <a:endParaRPr lang="en-US" altLang="en-US"/>
          </a:p>
        </p:txBody>
      </p:sp>
      <p:sp>
        <p:nvSpPr>
          <p:cNvPr id="32771" name="TextBox 5">
            <a:extLst>
              <a:ext uri="{FF2B5EF4-FFF2-40B4-BE49-F238E27FC236}">
                <a16:creationId xmlns:a16="http://schemas.microsoft.com/office/drawing/2014/main" id="{3448F512-C3CC-014A-9C39-384C92D1BAB7}"/>
              </a:ext>
            </a:extLst>
          </p:cNvPr>
          <p:cNvSpPr txBox="1">
            <a:spLocks noChangeArrowheads="1"/>
          </p:cNvSpPr>
          <p:nvPr/>
        </p:nvSpPr>
        <p:spPr bwMode="auto">
          <a:xfrm>
            <a:off x="3205784" y="2021080"/>
            <a:ext cx="446147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dirty="0">
                <a:latin typeface="Courier New" panose="02070309020205020404" pitchFamily="49" charset="0"/>
                <a:cs typeface="Courier New" panose="02070309020205020404" pitchFamily="49" charset="0"/>
              </a:rPr>
              <a:t>{</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artistName</a:t>
            </a:r>
            <a:r>
              <a:rPr lang="en-US" altLang="en-US" sz="1200" b="1" dirty="0">
                <a:latin typeface="Courier New" panose="02070309020205020404" pitchFamily="49" charset="0"/>
                <a:cs typeface="Courier New" panose="02070309020205020404" pitchFamily="49" charset="0"/>
              </a:rPr>
              <a:t>" : "Iron Maiden",</a:t>
            </a:r>
          </a:p>
          <a:p>
            <a:r>
              <a:rPr lang="en-US" altLang="en-US" sz="1200" b="1" dirty="0">
                <a:latin typeface="Courier New" panose="02070309020205020404" pitchFamily="49" charset="0"/>
                <a:cs typeface="Courier New" panose="02070309020205020404" pitchFamily="49" charset="0"/>
              </a:rPr>
              <a:t>    "albums" : [</a:t>
            </a:r>
          </a:p>
          <a:p>
            <a:r>
              <a:rPr lang="en-US" altLang="en-US" sz="1200" b="1" dirty="0">
                <a:latin typeface="Courier New" panose="02070309020205020404" pitchFamily="49" charset="0"/>
                <a:cs typeface="Courier New" panose="02070309020205020404" pitchFamily="49" charset="0"/>
              </a:rPr>
              <a:t>        {</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albumname</a:t>
            </a:r>
            <a:r>
              <a:rPr lang="en-US" altLang="en-US" sz="1200" b="1" dirty="0">
                <a:latin typeface="Courier New" panose="02070309020205020404" pitchFamily="49" charset="0"/>
                <a:cs typeface="Courier New" panose="02070309020205020404" pitchFamily="49" charset="0"/>
              </a:rPr>
              <a:t>" : "The Book of Souls",</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datereleased</a:t>
            </a:r>
            <a:r>
              <a:rPr lang="en-US" altLang="en-US" sz="1200" b="1" dirty="0">
                <a:latin typeface="Courier New" panose="02070309020205020404" pitchFamily="49" charset="0"/>
                <a:cs typeface="Courier New" panose="02070309020205020404" pitchFamily="49" charset="0"/>
              </a:rPr>
              <a:t>" : 2015,</a:t>
            </a:r>
          </a:p>
          <a:p>
            <a:r>
              <a:rPr lang="en-US" altLang="en-US" sz="1200" b="1" dirty="0">
                <a:latin typeface="Courier New" panose="02070309020205020404" pitchFamily="49" charset="0"/>
                <a:cs typeface="Courier New" panose="02070309020205020404" pitchFamily="49" charset="0"/>
              </a:rPr>
              <a:t>            "genre" : "Hard Rock"</a:t>
            </a:r>
          </a:p>
          <a:p>
            <a:r>
              <a:rPr lang="en-US" altLang="en-US" sz="1200" b="1" dirty="0">
                <a:latin typeface="Courier New" panose="02070309020205020404" pitchFamily="49" charset="0"/>
                <a:cs typeface="Courier New" panose="02070309020205020404" pitchFamily="49" charset="0"/>
              </a:rPr>
              <a:t>        }, {</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albumname</a:t>
            </a:r>
            <a:r>
              <a:rPr lang="en-US" altLang="en-US" sz="1200" b="1" dirty="0">
                <a:latin typeface="Courier New" panose="02070309020205020404" pitchFamily="49" charset="0"/>
                <a:cs typeface="Courier New" panose="02070309020205020404" pitchFamily="49" charset="0"/>
              </a:rPr>
              <a:t>" : "Killers",</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datereleased</a:t>
            </a:r>
            <a:r>
              <a:rPr lang="en-US" altLang="en-US" sz="1200" b="1" dirty="0">
                <a:latin typeface="Courier New" panose="02070309020205020404" pitchFamily="49" charset="0"/>
                <a:cs typeface="Courier New" panose="02070309020205020404" pitchFamily="49" charset="0"/>
              </a:rPr>
              <a:t>" : 1981,</a:t>
            </a:r>
          </a:p>
          <a:p>
            <a:r>
              <a:rPr lang="en-US" altLang="en-US" sz="1200" b="1" dirty="0">
                <a:latin typeface="Courier New" panose="02070309020205020404" pitchFamily="49" charset="0"/>
                <a:cs typeface="Courier New" panose="02070309020205020404" pitchFamily="49" charset="0"/>
              </a:rPr>
              <a:t>            "genre" : "Hard Rock"</a:t>
            </a:r>
          </a:p>
          <a:p>
            <a:r>
              <a:rPr lang="en-US" altLang="en-US" sz="1200" b="1" dirty="0">
                <a:latin typeface="Courier New" panose="02070309020205020404" pitchFamily="49" charset="0"/>
                <a:cs typeface="Courier New" panose="02070309020205020404" pitchFamily="49" charset="0"/>
              </a:rPr>
              <a:t>        }, {</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albumname</a:t>
            </a:r>
            <a:r>
              <a:rPr lang="en-US" altLang="en-US" sz="1200" b="1" dirty="0">
                <a:latin typeface="Courier New" panose="02070309020205020404" pitchFamily="49" charset="0"/>
                <a:cs typeface="Courier New" panose="02070309020205020404" pitchFamily="49" charset="0"/>
              </a:rPr>
              <a:t>" : "</a:t>
            </a:r>
            <a:r>
              <a:rPr lang="en-US" altLang="en-US" sz="1200" b="1" dirty="0" err="1">
                <a:latin typeface="Courier New" panose="02070309020205020404" pitchFamily="49" charset="0"/>
                <a:cs typeface="Courier New" panose="02070309020205020404" pitchFamily="49" charset="0"/>
              </a:rPr>
              <a:t>Powerslave</a:t>
            </a:r>
            <a:r>
              <a:rPr lang="en-US" altLang="en-US" sz="1200" b="1" dirty="0">
                <a:latin typeface="Courier New" panose="02070309020205020404" pitchFamily="49" charset="0"/>
                <a:cs typeface="Courier New" panose="02070309020205020404" pitchFamily="49" charset="0"/>
              </a:rPr>
              <a:t>",</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datereleased</a:t>
            </a:r>
            <a:r>
              <a:rPr lang="en-US" altLang="en-US" sz="1200" b="1" dirty="0">
                <a:latin typeface="Courier New" panose="02070309020205020404" pitchFamily="49" charset="0"/>
                <a:cs typeface="Courier New" panose="02070309020205020404" pitchFamily="49" charset="0"/>
              </a:rPr>
              <a:t>" : 1984,</a:t>
            </a:r>
          </a:p>
          <a:p>
            <a:r>
              <a:rPr lang="en-US" altLang="en-US" sz="1200" b="1" dirty="0">
                <a:latin typeface="Courier New" panose="02070309020205020404" pitchFamily="49" charset="0"/>
                <a:cs typeface="Courier New" panose="02070309020205020404" pitchFamily="49" charset="0"/>
              </a:rPr>
              <a:t>            "genre" : "Hard Rock"</a:t>
            </a:r>
          </a:p>
          <a:p>
            <a:r>
              <a:rPr lang="en-US" altLang="en-US" sz="1200" b="1" dirty="0">
                <a:latin typeface="Courier New" panose="02070309020205020404" pitchFamily="49" charset="0"/>
                <a:cs typeface="Courier New" panose="02070309020205020404" pitchFamily="49" charset="0"/>
              </a:rPr>
              <a:t>        }, {</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albumname</a:t>
            </a:r>
            <a:r>
              <a:rPr lang="en-US" altLang="en-US" sz="1200" b="1" dirty="0">
                <a:latin typeface="Courier New" panose="02070309020205020404" pitchFamily="49" charset="0"/>
                <a:cs typeface="Courier New" panose="02070309020205020404" pitchFamily="49" charset="0"/>
              </a:rPr>
              <a:t>" : "Somewhere in Time",</a:t>
            </a:r>
          </a:p>
          <a:p>
            <a:r>
              <a:rPr lang="en-US" altLang="en-US" sz="1200" b="1" dirty="0">
                <a:latin typeface="Courier New" panose="02070309020205020404" pitchFamily="49" charset="0"/>
                <a:cs typeface="Courier New" panose="02070309020205020404" pitchFamily="49" charset="0"/>
              </a:rPr>
              <a:t>            "</a:t>
            </a:r>
            <a:r>
              <a:rPr lang="en-US" altLang="en-US" sz="1200" b="1" dirty="0" err="1">
                <a:latin typeface="Courier New" panose="02070309020205020404" pitchFamily="49" charset="0"/>
                <a:cs typeface="Courier New" panose="02070309020205020404" pitchFamily="49" charset="0"/>
              </a:rPr>
              <a:t>datereleased</a:t>
            </a:r>
            <a:r>
              <a:rPr lang="en-US" altLang="en-US" sz="1200" b="1" dirty="0">
                <a:latin typeface="Courier New" panose="02070309020205020404" pitchFamily="49" charset="0"/>
                <a:cs typeface="Courier New" panose="02070309020205020404" pitchFamily="49" charset="0"/>
              </a:rPr>
              <a:t>" : 1986,</a:t>
            </a:r>
          </a:p>
          <a:p>
            <a:r>
              <a:rPr lang="en-US" altLang="en-US" sz="1200" b="1" dirty="0">
                <a:latin typeface="Courier New" panose="02070309020205020404" pitchFamily="49" charset="0"/>
                <a:cs typeface="Courier New" panose="02070309020205020404" pitchFamily="49" charset="0"/>
              </a:rPr>
              <a:t>            "genre" : "Hard Rock"</a:t>
            </a:r>
          </a:p>
          <a:p>
            <a:r>
              <a:rPr lang="en-US" altLang="en-US" sz="1200" b="1" dirty="0">
                <a:latin typeface="Courier New" panose="02070309020205020404" pitchFamily="49" charset="0"/>
                <a:cs typeface="Courier New" panose="02070309020205020404" pitchFamily="49" charset="0"/>
              </a:rPr>
              <a:t>        }</a:t>
            </a:r>
          </a:p>
          <a:p>
            <a:r>
              <a:rPr lang="en-US" altLang="en-US" sz="1200" b="1" dirty="0">
                <a:latin typeface="Courier New" panose="02070309020205020404" pitchFamily="49" charset="0"/>
                <a:cs typeface="Courier New" panose="02070309020205020404" pitchFamily="49" charset="0"/>
              </a:rPr>
              <a:t>    ]</a:t>
            </a:r>
          </a:p>
          <a:p>
            <a:r>
              <a:rPr lang="en-US" altLang="en-US" sz="1200" b="1" dirty="0">
                <a:latin typeface="Courier New" panose="02070309020205020404" pitchFamily="49" charset="0"/>
                <a:cs typeface="Courier New" panose="02070309020205020404" pitchFamily="49"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EF5EB8CF-B802-2240-A9E7-575215EA7432}"/>
              </a:ext>
            </a:extLst>
          </p:cNvPr>
          <p:cNvSpPr>
            <a:spLocks noGrp="1" noChangeArrowheads="1"/>
          </p:cNvSpPr>
          <p:nvPr>
            <p:ph type="title"/>
          </p:nvPr>
        </p:nvSpPr>
        <p:spPr/>
        <p:txBody>
          <a:bodyPr/>
          <a:lstStyle/>
          <a:p>
            <a:r>
              <a:rPr lang="en-US" altLang="en-US"/>
              <a:t>JSON Syntax</a:t>
            </a:r>
          </a:p>
        </p:txBody>
      </p:sp>
      <p:sp>
        <p:nvSpPr>
          <p:cNvPr id="3" name="Content Placeholder 2">
            <a:extLst>
              <a:ext uri="{FF2B5EF4-FFF2-40B4-BE49-F238E27FC236}">
                <a16:creationId xmlns:a16="http://schemas.microsoft.com/office/drawing/2014/main" id="{6B4AEA1C-216E-DF46-97D8-0EAF33D3ABE2}"/>
              </a:ext>
            </a:extLst>
          </p:cNvPr>
          <p:cNvSpPr>
            <a:spLocks noGrp="1"/>
          </p:cNvSpPr>
          <p:nvPr>
            <p:ph idx="1"/>
          </p:nvPr>
        </p:nvSpPr>
        <p:spPr/>
        <p:txBody>
          <a:bodyPr>
            <a:normAutofit/>
          </a:bodyPr>
          <a:lstStyle/>
          <a:p>
            <a:pPr>
              <a:defRPr/>
            </a:pPr>
            <a:r>
              <a:rPr lang="en-US" dirty="0"/>
              <a:t>Dictionaries</a:t>
            </a:r>
          </a:p>
          <a:p>
            <a:pPr lvl="1">
              <a:defRPr/>
            </a:pPr>
            <a:r>
              <a:rPr lang="en-US" sz="2000" b="1" dirty="0">
                <a:latin typeface="Courier New" panose="02070309020205020404" pitchFamily="49" charset="0"/>
                <a:cs typeface="Courier New" panose="02070309020205020404" pitchFamily="49" charset="0"/>
              </a:rPr>
              <a:t>{ &lt;key</a:t>
            </a:r>
            <a:r>
              <a:rPr lang="en-US" sz="2000" b="1" baseline="-25000" dirty="0">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&gt;: &lt;value</a:t>
            </a:r>
            <a:r>
              <a:rPr lang="en-US" sz="2000" b="1" baseline="-25000" dirty="0">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&gt;, … ,&lt;key</a:t>
            </a:r>
            <a:r>
              <a:rPr lang="en-US" sz="2000" b="1" baseline="-25000" dirty="0">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&gt;: &lt;value</a:t>
            </a:r>
            <a:r>
              <a:rPr lang="en-US" sz="2000" b="1" baseline="-25000" dirty="0">
                <a:latin typeface="Courier New" panose="02070309020205020404" pitchFamily="49" charset="0"/>
                <a:cs typeface="Courier New" panose="02070309020205020404" pitchFamily="49" charset="0"/>
              </a:rPr>
              <a:t>2</a:t>
            </a:r>
            <a:r>
              <a:rPr lang="en-US" sz="2000" b="1" dirty="0">
                <a:latin typeface="Courier New" panose="02070309020205020404" pitchFamily="49" charset="0"/>
                <a:cs typeface="Courier New" panose="02070309020205020404" pitchFamily="49" charset="0"/>
              </a:rPr>
              <a:t>&gt; }</a:t>
            </a:r>
          </a:p>
          <a:p>
            <a:pPr>
              <a:defRPr/>
            </a:pPr>
            <a:r>
              <a:rPr lang="en-US" dirty="0"/>
              <a:t>Lists</a:t>
            </a:r>
          </a:p>
          <a:p>
            <a:pPr lvl="1">
              <a:defRPr/>
            </a:pPr>
            <a:r>
              <a:rPr lang="en-US" sz="2000" b="1" dirty="0">
                <a:latin typeface="Courier New" panose="02070309020205020404" pitchFamily="49" charset="0"/>
                <a:cs typeface="Courier New" panose="02070309020205020404" pitchFamily="49" charset="0"/>
              </a:rPr>
              <a:t>[ &lt;value</a:t>
            </a:r>
            <a:r>
              <a:rPr lang="en-US" sz="2000" b="1" baseline="-25000" dirty="0">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&gt;, …, &lt;</a:t>
            </a:r>
            <a:r>
              <a:rPr lang="en-US" sz="2000" b="1" dirty="0" err="1">
                <a:latin typeface="Courier New" panose="02070309020205020404" pitchFamily="49" charset="0"/>
                <a:cs typeface="Courier New" panose="02070309020205020404" pitchFamily="49" charset="0"/>
              </a:rPr>
              <a:t>value</a:t>
            </a:r>
            <a:r>
              <a:rPr lang="en-US" sz="2000" b="1" baseline="-25000" dirty="0" err="1">
                <a:latin typeface="Courier New" panose="02070309020205020404" pitchFamily="49" charset="0"/>
                <a:cs typeface="Courier New" panose="02070309020205020404" pitchFamily="49" charset="0"/>
              </a:rPr>
              <a:t>n</a:t>
            </a:r>
            <a:r>
              <a:rPr lang="en-US" sz="2000" b="1" dirty="0">
                <a:latin typeface="Courier New" panose="02070309020205020404" pitchFamily="49" charset="0"/>
                <a:cs typeface="Courier New" panose="02070309020205020404" pitchFamily="49" charset="0"/>
              </a:rPr>
              <a:t>&gt; ]</a:t>
            </a:r>
            <a:endParaRPr lang="en-US" dirty="0"/>
          </a:p>
          <a:p>
            <a:pPr>
              <a:defRPr/>
            </a:pPr>
            <a:r>
              <a:rPr lang="en-US" dirty="0"/>
              <a:t>Strings, Numbers, Boolean, Null</a:t>
            </a:r>
          </a:p>
          <a:p>
            <a:pPr lvl="1">
              <a:defRPr/>
            </a:pPr>
            <a:r>
              <a:rPr lang="en-US" sz="2000" b="1" dirty="0">
                <a:latin typeface="Courier New" panose="02070309020205020404" pitchFamily="49" charset="0"/>
                <a:cs typeface="Courier New" panose="02070309020205020404" pitchFamily="49" charset="0"/>
              </a:rPr>
              <a:t>"string", 1, 5.6, true, null</a:t>
            </a:r>
          </a:p>
          <a:p>
            <a:pPr>
              <a:defRPr/>
            </a:pPr>
            <a:r>
              <a:rPr lang="en-US" dirty="0"/>
              <a:t>White-space is ignored</a:t>
            </a:r>
          </a:p>
          <a:p>
            <a:pPr lvl="1">
              <a:defRPr/>
            </a:pPr>
            <a:r>
              <a:rPr lang="en-US" dirty="0"/>
              <a:t>Newlines, spaces, tabs</a:t>
            </a:r>
          </a:p>
          <a:p>
            <a:pPr>
              <a:defRPr/>
            </a:pPr>
            <a:r>
              <a:rPr lang="en-US" dirty="0"/>
              <a:t>Maps directly to modern programming lang.</a:t>
            </a:r>
          </a:p>
          <a:p>
            <a:pPr marL="0" indent="0">
              <a:buNone/>
              <a:defRPr/>
            </a:pPr>
            <a:endParaRPr lang="en-US" sz="2400" b="1" dirty="0">
              <a:latin typeface="Courier New" panose="02070309020205020404" pitchFamily="49" charset="0"/>
              <a:cs typeface="Courier New" panose="02070309020205020404" pitchFamily="49" charset="0"/>
            </a:endParaRPr>
          </a:p>
        </p:txBody>
      </p:sp>
      <p:sp>
        <p:nvSpPr>
          <p:cNvPr id="33795" name="Slide Number Placeholder 4">
            <a:extLst>
              <a:ext uri="{FF2B5EF4-FFF2-40B4-BE49-F238E27FC236}">
                <a16:creationId xmlns:a16="http://schemas.microsoft.com/office/drawing/2014/main" id="{7769A523-63E4-B449-8FA3-E0887269112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265F2AA-1A22-D54F-8372-7E9E442582C0}" type="slidenum">
              <a:rPr lang="en-US" altLang="en-US"/>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14B4CAD3-7EA6-2E4C-B90F-E67BE58938C2}"/>
              </a:ext>
            </a:extLst>
          </p:cNvPr>
          <p:cNvSpPr>
            <a:spLocks noGrp="1" noChangeArrowheads="1"/>
          </p:cNvSpPr>
          <p:nvPr>
            <p:ph type="title"/>
          </p:nvPr>
        </p:nvSpPr>
        <p:spPr/>
        <p:txBody>
          <a:bodyPr/>
          <a:lstStyle/>
          <a:p>
            <a:r>
              <a:rPr lang="en-US" altLang="en-US"/>
              <a:t>Why Document Stores</a:t>
            </a:r>
          </a:p>
        </p:txBody>
      </p:sp>
      <p:sp>
        <p:nvSpPr>
          <p:cNvPr id="36866" name="Content Placeholder 2">
            <a:extLst>
              <a:ext uri="{FF2B5EF4-FFF2-40B4-BE49-F238E27FC236}">
                <a16:creationId xmlns:a16="http://schemas.microsoft.com/office/drawing/2014/main" id="{BC7A5886-0F80-C54D-8637-818E61FC1DC5}"/>
              </a:ext>
            </a:extLst>
          </p:cNvPr>
          <p:cNvSpPr>
            <a:spLocks noGrp="1" noChangeArrowheads="1"/>
          </p:cNvSpPr>
          <p:nvPr>
            <p:ph idx="1"/>
          </p:nvPr>
        </p:nvSpPr>
        <p:spPr/>
        <p:txBody>
          <a:bodyPr/>
          <a:lstStyle/>
          <a:p>
            <a:r>
              <a:rPr lang="en-US" altLang="en-US"/>
              <a:t>Documents can be partitioned across many commodity compute nodes</a:t>
            </a:r>
          </a:p>
          <a:p>
            <a:r>
              <a:rPr lang="en-US" altLang="en-US"/>
              <a:t>Query requests sent to each compute node, executed in parallel on data partition</a:t>
            </a:r>
          </a:p>
          <a:p>
            <a:r>
              <a:rPr lang="en-US" altLang="en-US"/>
              <a:t>Writes can be executed against any convenient node and in parallel</a:t>
            </a:r>
          </a:p>
          <a:p>
            <a:r>
              <a:rPr lang="en-US" altLang="en-US"/>
              <a:t>Data can be replicated for performance and robustness reasons</a:t>
            </a:r>
          </a:p>
          <a:p>
            <a:r>
              <a:rPr lang="en-US" altLang="en-US"/>
              <a:t>Flexible attributes can be determined later</a:t>
            </a:r>
          </a:p>
        </p:txBody>
      </p:sp>
      <p:sp>
        <p:nvSpPr>
          <p:cNvPr id="36867" name="Slide Number Placeholder 4">
            <a:extLst>
              <a:ext uri="{FF2B5EF4-FFF2-40B4-BE49-F238E27FC236}">
                <a16:creationId xmlns:a16="http://schemas.microsoft.com/office/drawing/2014/main" id="{FECEA2CF-141A-2544-81C3-B3509F8B4E2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1A745B-94EF-2F4F-89FB-D7E979753420}" type="slidenum">
              <a:rPr lang="en-US" altLang="en-US"/>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D09323A5-8252-2B4A-9EF1-855C5EEF6652}"/>
              </a:ext>
            </a:extLst>
          </p:cNvPr>
          <p:cNvSpPr>
            <a:spLocks noGrp="1" noChangeArrowheads="1"/>
          </p:cNvSpPr>
          <p:nvPr>
            <p:ph type="title"/>
          </p:nvPr>
        </p:nvSpPr>
        <p:spPr/>
        <p:txBody>
          <a:bodyPr/>
          <a:lstStyle/>
          <a:p>
            <a:r>
              <a:rPr lang="en-US" altLang="en-US"/>
              <a:t>Why Not Document Stores</a:t>
            </a:r>
          </a:p>
        </p:txBody>
      </p:sp>
      <p:sp>
        <p:nvSpPr>
          <p:cNvPr id="37890" name="Content Placeholder 2">
            <a:extLst>
              <a:ext uri="{FF2B5EF4-FFF2-40B4-BE49-F238E27FC236}">
                <a16:creationId xmlns:a16="http://schemas.microsoft.com/office/drawing/2014/main" id="{E227934A-500E-CC48-A76C-77F56D11F375}"/>
              </a:ext>
            </a:extLst>
          </p:cNvPr>
          <p:cNvSpPr>
            <a:spLocks noGrp="1" noChangeArrowheads="1"/>
          </p:cNvSpPr>
          <p:nvPr>
            <p:ph idx="1"/>
          </p:nvPr>
        </p:nvSpPr>
        <p:spPr>
          <a:xfrm>
            <a:off x="1097280" y="1907750"/>
            <a:ext cx="8229600" cy="4681537"/>
          </a:xfrm>
        </p:spPr>
        <p:txBody>
          <a:bodyPr/>
          <a:lstStyle/>
          <a:p>
            <a:r>
              <a:rPr lang="en-US" altLang="en-US" dirty="0"/>
              <a:t>No complex relational queries</a:t>
            </a:r>
          </a:p>
          <a:p>
            <a:r>
              <a:rPr lang="en-US" altLang="en-US" dirty="0"/>
              <a:t>Complex values can't be readily indexed.</a:t>
            </a:r>
          </a:p>
          <a:p>
            <a:r>
              <a:rPr lang="en-US" altLang="en-US" dirty="0"/>
              <a:t>Inconsistent keys can make the application logic convoluted</a:t>
            </a:r>
          </a:p>
          <a:p>
            <a:r>
              <a:rPr lang="en-US" altLang="en-US" dirty="0"/>
              <a:t>Flexible data-model can lead to ad-hoc and on-the-fly modeling decisions</a:t>
            </a:r>
          </a:p>
          <a:p>
            <a:pPr lvl="1"/>
            <a:r>
              <a:rPr lang="en-US" altLang="en-US" dirty="0"/>
              <a:t> Logical data-model is still needed, even if only "on paper," for application success</a:t>
            </a:r>
          </a:p>
          <a:p>
            <a:endParaRPr lang="en-US" altLang="en-US" dirty="0"/>
          </a:p>
        </p:txBody>
      </p:sp>
      <p:sp>
        <p:nvSpPr>
          <p:cNvPr id="37891" name="Slide Number Placeholder 4">
            <a:extLst>
              <a:ext uri="{FF2B5EF4-FFF2-40B4-BE49-F238E27FC236}">
                <a16:creationId xmlns:a16="http://schemas.microsoft.com/office/drawing/2014/main" id="{C7631525-9350-6D4F-A7B3-CC8816817E6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D84B53A-E3F4-794A-9F0F-692A2880105E}" type="slidenum">
              <a:rPr lang="en-US" altLang="en-US"/>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DF77E-6FEE-4C46-A751-3D5686E849AB}"/>
              </a:ext>
            </a:extLst>
          </p:cNvPr>
          <p:cNvSpPr>
            <a:spLocks noGrp="1"/>
          </p:cNvSpPr>
          <p:nvPr>
            <p:ph type="title"/>
          </p:nvPr>
        </p:nvSpPr>
        <p:spPr/>
        <p:txBody>
          <a:bodyPr/>
          <a:lstStyle/>
          <a:p>
            <a:r>
              <a:rPr lang="en-US" dirty="0"/>
              <a:t>Document DBs and Key-Value Stores</a:t>
            </a:r>
          </a:p>
        </p:txBody>
      </p:sp>
      <p:sp>
        <p:nvSpPr>
          <p:cNvPr id="3" name="Content Placeholder 2">
            <a:extLst>
              <a:ext uri="{FF2B5EF4-FFF2-40B4-BE49-F238E27FC236}">
                <a16:creationId xmlns:a16="http://schemas.microsoft.com/office/drawing/2014/main" id="{4738C8E2-7956-DE48-9B11-E6720FE03A0F}"/>
              </a:ext>
            </a:extLst>
          </p:cNvPr>
          <p:cNvSpPr>
            <a:spLocks noGrp="1"/>
          </p:cNvSpPr>
          <p:nvPr>
            <p:ph idx="1"/>
          </p:nvPr>
        </p:nvSpPr>
        <p:spPr/>
        <p:txBody>
          <a:bodyPr/>
          <a:lstStyle/>
          <a:p>
            <a:r>
              <a:rPr lang="en-US" dirty="0"/>
              <a:t>Document databases are an evolutionary step from Key-Value stores</a:t>
            </a:r>
          </a:p>
          <a:p>
            <a:pPr lvl="1"/>
            <a:r>
              <a:rPr lang="en-US" dirty="0"/>
              <a:t>Added structure </a:t>
            </a:r>
          </a:p>
          <a:p>
            <a:pPr lvl="1"/>
            <a:r>
              <a:rPr lang="en-US" dirty="0"/>
              <a:t>Added functionality based on that structure</a:t>
            </a:r>
          </a:p>
          <a:p>
            <a:r>
              <a:rPr lang="en-US" dirty="0"/>
              <a:t>Like relational tables, Document DBs organize related attributes into a single object</a:t>
            </a:r>
          </a:p>
          <a:p>
            <a:pPr lvl="1"/>
            <a:r>
              <a:rPr lang="en-US" dirty="0"/>
              <a:t>Key-Value database may have many keys and key lookups</a:t>
            </a:r>
          </a:p>
          <a:p>
            <a:r>
              <a:rPr lang="en-US" dirty="0"/>
              <a:t>Query language is more expressive</a:t>
            </a:r>
          </a:p>
          <a:p>
            <a:pPr lvl="1"/>
            <a:r>
              <a:rPr lang="en-US" dirty="0"/>
              <a:t>Because of defined structure, DB can look into the document</a:t>
            </a:r>
          </a:p>
          <a:p>
            <a:r>
              <a:rPr lang="en-US" dirty="0"/>
              <a:t>Still have flexibility in the design of the data</a:t>
            </a:r>
          </a:p>
          <a:p>
            <a:pPr lvl="1"/>
            <a:r>
              <a:rPr lang="en-US" dirty="0"/>
              <a:t>Each document can be different </a:t>
            </a:r>
          </a:p>
        </p:txBody>
      </p:sp>
    </p:spTree>
    <p:extLst>
      <p:ext uri="{BB962C8B-B14F-4D97-AF65-F5344CB8AC3E}">
        <p14:creationId xmlns:p14="http://schemas.microsoft.com/office/powerpoint/2010/main" val="1162872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ED07F-6780-C34A-A98A-E70421A07614}"/>
              </a:ext>
            </a:extLst>
          </p:cNvPr>
          <p:cNvSpPr>
            <a:spLocks noGrp="1"/>
          </p:cNvSpPr>
          <p:nvPr>
            <p:ph type="title"/>
          </p:nvPr>
        </p:nvSpPr>
        <p:spPr/>
        <p:txBody>
          <a:bodyPr/>
          <a:lstStyle/>
          <a:p>
            <a:r>
              <a:rPr lang="en-US" dirty="0"/>
              <a:t>Embedded Documents</a:t>
            </a:r>
          </a:p>
        </p:txBody>
      </p:sp>
      <p:sp>
        <p:nvSpPr>
          <p:cNvPr id="3" name="Content Placeholder 2">
            <a:extLst>
              <a:ext uri="{FF2B5EF4-FFF2-40B4-BE49-F238E27FC236}">
                <a16:creationId xmlns:a16="http://schemas.microsoft.com/office/drawing/2014/main" id="{F3A5DF2C-E222-0D42-81BF-B3AAC6A2CBCC}"/>
              </a:ext>
            </a:extLst>
          </p:cNvPr>
          <p:cNvSpPr>
            <a:spLocks noGrp="1"/>
          </p:cNvSpPr>
          <p:nvPr>
            <p:ph idx="1"/>
          </p:nvPr>
        </p:nvSpPr>
        <p:spPr/>
        <p:txBody>
          <a:bodyPr/>
          <a:lstStyle/>
          <a:p>
            <a:r>
              <a:rPr lang="en-US" dirty="0"/>
              <a:t>Documents within documents</a:t>
            </a:r>
          </a:p>
          <a:p>
            <a:r>
              <a:rPr lang="en-US" dirty="0"/>
              <a:t>Store data that is frequently used together</a:t>
            </a:r>
          </a:p>
          <a:p>
            <a:r>
              <a:rPr lang="en-US" dirty="0"/>
              <a:t>Store relationships within the document</a:t>
            </a:r>
          </a:p>
          <a:p>
            <a:r>
              <a:rPr lang="en-US" dirty="0"/>
              <a:t>Can eliminate joins</a:t>
            </a:r>
          </a:p>
        </p:txBody>
      </p:sp>
      <p:pic>
        <p:nvPicPr>
          <p:cNvPr id="7170" name="Picture 2" descr="Image">
            <a:extLst>
              <a:ext uri="{FF2B5EF4-FFF2-40B4-BE49-F238E27FC236}">
                <a16:creationId xmlns:a16="http://schemas.microsoft.com/office/drawing/2014/main" id="{DBFB3603-306B-9C44-9D91-D6CE8DAD23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8130" y="2032787"/>
            <a:ext cx="4111025" cy="4087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6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A2AFF-F573-734B-9369-272CF24A1654}"/>
              </a:ext>
            </a:extLst>
          </p:cNvPr>
          <p:cNvSpPr>
            <a:spLocks noGrp="1"/>
          </p:cNvSpPr>
          <p:nvPr>
            <p:ph type="title"/>
          </p:nvPr>
        </p:nvSpPr>
        <p:spPr/>
        <p:txBody>
          <a:bodyPr/>
          <a:lstStyle/>
          <a:p>
            <a:r>
              <a:rPr lang="en-US" dirty="0" err="1"/>
              <a:t>Schemaless</a:t>
            </a:r>
            <a:endParaRPr lang="en-US" dirty="0"/>
          </a:p>
        </p:txBody>
      </p:sp>
      <p:sp>
        <p:nvSpPr>
          <p:cNvPr id="3" name="Content Placeholder 2">
            <a:extLst>
              <a:ext uri="{FF2B5EF4-FFF2-40B4-BE49-F238E27FC236}">
                <a16:creationId xmlns:a16="http://schemas.microsoft.com/office/drawing/2014/main" id="{DC463FAE-C8E6-9B4F-AE82-84496C10603A}"/>
              </a:ext>
            </a:extLst>
          </p:cNvPr>
          <p:cNvSpPr>
            <a:spLocks noGrp="1"/>
          </p:cNvSpPr>
          <p:nvPr>
            <p:ph idx="1"/>
          </p:nvPr>
        </p:nvSpPr>
        <p:spPr/>
        <p:txBody>
          <a:bodyPr>
            <a:normAutofit fontScale="92500"/>
          </a:bodyPr>
          <a:lstStyle/>
          <a:p>
            <a:r>
              <a:rPr lang="en-US" dirty="0"/>
              <a:t>Document databases do not require data modelers to formally specify the structure of documents.</a:t>
            </a:r>
          </a:p>
          <a:p>
            <a:r>
              <a:rPr lang="en-US" dirty="0"/>
              <a:t>No specification of structure is required</a:t>
            </a:r>
          </a:p>
          <a:p>
            <a:endParaRPr lang="en-US" dirty="0"/>
          </a:p>
          <a:p>
            <a:r>
              <a:rPr lang="en-US" dirty="0"/>
              <a:t>With great power comes great responsibility</a:t>
            </a:r>
          </a:p>
          <a:p>
            <a:r>
              <a:rPr lang="en-US" dirty="0" err="1"/>
              <a:t>Schemaless</a:t>
            </a:r>
            <a:r>
              <a:rPr lang="en-US" dirty="0"/>
              <a:t> databases are something of a double-edged sword</a:t>
            </a:r>
          </a:p>
          <a:p>
            <a:pPr lvl="1"/>
            <a:r>
              <a:rPr lang="en-US" dirty="0"/>
              <a:t>the flexibility of working without a schema makes it easy to accommodate differences in document structures. </a:t>
            </a:r>
          </a:p>
          <a:p>
            <a:pPr lvl="1"/>
            <a:r>
              <a:rPr lang="en-US" dirty="0"/>
              <a:t>the document database management cannot enforce rules based on structure. Because there is no way to indicate that a key-value pair should always exist in a document, the document database management system will not check for it.</a:t>
            </a:r>
          </a:p>
          <a:p>
            <a:r>
              <a:rPr lang="en-US" dirty="0"/>
              <a:t>If the database management system does not enforce rules about data, what will? The answer is your application code.</a:t>
            </a:r>
          </a:p>
        </p:txBody>
      </p:sp>
    </p:spTree>
    <p:extLst>
      <p:ext uri="{BB962C8B-B14F-4D97-AF65-F5344CB8AC3E}">
        <p14:creationId xmlns:p14="http://schemas.microsoft.com/office/powerpoint/2010/main" val="1770807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4C42F-014E-AB41-B09A-69F491DAA4DF}"/>
              </a:ext>
            </a:extLst>
          </p:cNvPr>
          <p:cNvSpPr>
            <a:spLocks noGrp="1"/>
          </p:cNvSpPr>
          <p:nvPr>
            <p:ph type="title"/>
          </p:nvPr>
        </p:nvSpPr>
        <p:spPr/>
        <p:txBody>
          <a:bodyPr/>
          <a:lstStyle/>
          <a:p>
            <a:r>
              <a:rPr lang="en-US" dirty="0"/>
              <a:t>Collections</a:t>
            </a:r>
          </a:p>
        </p:txBody>
      </p:sp>
      <p:sp>
        <p:nvSpPr>
          <p:cNvPr id="3" name="Content Placeholder 2">
            <a:extLst>
              <a:ext uri="{FF2B5EF4-FFF2-40B4-BE49-F238E27FC236}">
                <a16:creationId xmlns:a16="http://schemas.microsoft.com/office/drawing/2014/main" id="{308D048C-0B59-1A47-911D-AFC9B8E70B8D}"/>
              </a:ext>
            </a:extLst>
          </p:cNvPr>
          <p:cNvSpPr>
            <a:spLocks noGrp="1"/>
          </p:cNvSpPr>
          <p:nvPr>
            <p:ph idx="1"/>
          </p:nvPr>
        </p:nvSpPr>
        <p:spPr/>
        <p:txBody>
          <a:bodyPr/>
          <a:lstStyle/>
          <a:p>
            <a:r>
              <a:rPr lang="en-US" dirty="0"/>
              <a:t>Sets of similar documents</a:t>
            </a:r>
          </a:p>
          <a:p>
            <a:pPr lvl="1"/>
            <a:r>
              <a:rPr lang="en-US" dirty="0"/>
              <a:t>Share common structure – doesn’t have to be all the same</a:t>
            </a:r>
          </a:p>
          <a:p>
            <a:pPr lvl="1"/>
            <a:r>
              <a:rPr lang="en-US" dirty="0"/>
              <a:t>Should store documents about the same type of entity</a:t>
            </a:r>
          </a:p>
          <a:p>
            <a:endParaRPr lang="en-US" dirty="0"/>
          </a:p>
        </p:txBody>
      </p:sp>
      <p:pic>
        <p:nvPicPr>
          <p:cNvPr id="4" name="Picture 3">
            <a:extLst>
              <a:ext uri="{FF2B5EF4-FFF2-40B4-BE49-F238E27FC236}">
                <a16:creationId xmlns:a16="http://schemas.microsoft.com/office/drawing/2014/main" id="{4B47A40C-C273-864E-AA7B-E64415EED86D}"/>
              </a:ext>
            </a:extLst>
          </p:cNvPr>
          <p:cNvPicPr>
            <a:picLocks noChangeAspect="1"/>
          </p:cNvPicPr>
          <p:nvPr/>
        </p:nvPicPr>
        <p:blipFill>
          <a:blip r:embed="rId2"/>
          <a:stretch>
            <a:fillRect/>
          </a:stretch>
        </p:blipFill>
        <p:spPr>
          <a:xfrm>
            <a:off x="757367" y="3090734"/>
            <a:ext cx="4152900" cy="2628900"/>
          </a:xfrm>
          <a:prstGeom prst="rect">
            <a:avLst/>
          </a:prstGeom>
        </p:spPr>
      </p:pic>
      <p:pic>
        <p:nvPicPr>
          <p:cNvPr id="7" name="Picture 6">
            <a:extLst>
              <a:ext uri="{FF2B5EF4-FFF2-40B4-BE49-F238E27FC236}">
                <a16:creationId xmlns:a16="http://schemas.microsoft.com/office/drawing/2014/main" id="{CF91B833-9856-3945-8841-1CFC1C305945}"/>
              </a:ext>
            </a:extLst>
          </p:cNvPr>
          <p:cNvPicPr>
            <a:picLocks noChangeAspect="1"/>
          </p:cNvPicPr>
          <p:nvPr/>
        </p:nvPicPr>
        <p:blipFill rotWithShape="1">
          <a:blip r:embed="rId3"/>
          <a:srcRect t="44586"/>
          <a:stretch/>
        </p:blipFill>
        <p:spPr>
          <a:xfrm>
            <a:off x="6800026" y="2673951"/>
            <a:ext cx="5029200" cy="3462466"/>
          </a:xfrm>
          <a:prstGeom prst="rect">
            <a:avLst/>
          </a:prstGeom>
        </p:spPr>
      </p:pic>
    </p:spTree>
    <p:extLst>
      <p:ext uri="{BB962C8B-B14F-4D97-AF65-F5344CB8AC3E}">
        <p14:creationId xmlns:p14="http://schemas.microsoft.com/office/powerpoint/2010/main" val="1203164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2D996-240C-9843-BEA0-D7C84B2F2483}"/>
              </a:ext>
            </a:extLst>
          </p:cNvPr>
          <p:cNvSpPr>
            <a:spLocks noGrp="1"/>
          </p:cNvSpPr>
          <p:nvPr>
            <p:ph type="title"/>
          </p:nvPr>
        </p:nvSpPr>
        <p:spPr/>
        <p:txBody>
          <a:bodyPr/>
          <a:lstStyle/>
          <a:p>
            <a:r>
              <a:rPr lang="en-US" dirty="0"/>
              <a:t>Collections</a:t>
            </a:r>
          </a:p>
        </p:txBody>
      </p:sp>
      <p:sp>
        <p:nvSpPr>
          <p:cNvPr id="3" name="Content Placeholder 2">
            <a:extLst>
              <a:ext uri="{FF2B5EF4-FFF2-40B4-BE49-F238E27FC236}">
                <a16:creationId xmlns:a16="http://schemas.microsoft.com/office/drawing/2014/main" id="{1A24589A-38C7-1944-9157-3A5B7D819962}"/>
              </a:ext>
            </a:extLst>
          </p:cNvPr>
          <p:cNvSpPr>
            <a:spLocks noGrp="1"/>
          </p:cNvSpPr>
          <p:nvPr>
            <p:ph idx="1"/>
          </p:nvPr>
        </p:nvSpPr>
        <p:spPr/>
        <p:txBody>
          <a:bodyPr/>
          <a:lstStyle/>
          <a:p>
            <a:r>
              <a:rPr lang="en-US" dirty="0"/>
              <a:t>Can be very flexible, but…</a:t>
            </a:r>
          </a:p>
          <a:p>
            <a:pPr lvl="1"/>
            <a:r>
              <a:rPr lang="en-US" dirty="0"/>
              <a:t>If documents are too dissimilar, it makes it difficult to search</a:t>
            </a:r>
          </a:p>
          <a:p>
            <a:pPr lvl="1"/>
            <a:r>
              <a:rPr lang="en-US" dirty="0"/>
              <a:t>Probably end up adding a type field </a:t>
            </a:r>
            <a:r>
              <a:rPr lang="en-US" dirty="0">
                <a:sym typeface="Wingdings" pitchFamily="2" charset="2"/>
              </a:rPr>
              <a:t> put them in a different collection</a:t>
            </a:r>
            <a:endParaRPr lang="en-US" dirty="0"/>
          </a:p>
        </p:txBody>
      </p:sp>
      <p:pic>
        <p:nvPicPr>
          <p:cNvPr id="4" name="Picture 3">
            <a:extLst>
              <a:ext uri="{FF2B5EF4-FFF2-40B4-BE49-F238E27FC236}">
                <a16:creationId xmlns:a16="http://schemas.microsoft.com/office/drawing/2014/main" id="{9C282630-C657-D042-B0EC-24446137DBBD}"/>
              </a:ext>
            </a:extLst>
          </p:cNvPr>
          <p:cNvPicPr>
            <a:picLocks noChangeAspect="1"/>
          </p:cNvPicPr>
          <p:nvPr/>
        </p:nvPicPr>
        <p:blipFill>
          <a:blip r:embed="rId2"/>
          <a:stretch>
            <a:fillRect/>
          </a:stretch>
        </p:blipFill>
        <p:spPr>
          <a:xfrm>
            <a:off x="677562" y="3362131"/>
            <a:ext cx="5059680" cy="2659575"/>
          </a:xfrm>
          <a:prstGeom prst="rect">
            <a:avLst/>
          </a:prstGeom>
        </p:spPr>
      </p:pic>
      <p:pic>
        <p:nvPicPr>
          <p:cNvPr id="5" name="Picture 4">
            <a:extLst>
              <a:ext uri="{FF2B5EF4-FFF2-40B4-BE49-F238E27FC236}">
                <a16:creationId xmlns:a16="http://schemas.microsoft.com/office/drawing/2014/main" id="{EAF42218-834B-EF46-8513-4CBA3FFC9FE5}"/>
              </a:ext>
            </a:extLst>
          </p:cNvPr>
          <p:cNvPicPr>
            <a:picLocks noChangeAspect="1"/>
          </p:cNvPicPr>
          <p:nvPr/>
        </p:nvPicPr>
        <p:blipFill>
          <a:blip r:embed="rId3"/>
          <a:stretch>
            <a:fillRect/>
          </a:stretch>
        </p:blipFill>
        <p:spPr>
          <a:xfrm>
            <a:off x="6932140" y="3309534"/>
            <a:ext cx="4582298" cy="2712172"/>
          </a:xfrm>
          <a:prstGeom prst="rect">
            <a:avLst/>
          </a:prstGeom>
        </p:spPr>
      </p:pic>
    </p:spTree>
    <p:extLst>
      <p:ext uri="{BB962C8B-B14F-4D97-AF65-F5344CB8AC3E}">
        <p14:creationId xmlns:p14="http://schemas.microsoft.com/office/powerpoint/2010/main" val="403954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C86CE-72FC-B842-814B-91579CF6D74A}"/>
              </a:ext>
            </a:extLst>
          </p:cNvPr>
          <p:cNvSpPr>
            <a:spLocks noGrp="1"/>
          </p:cNvSpPr>
          <p:nvPr>
            <p:ph type="title"/>
          </p:nvPr>
        </p:nvSpPr>
        <p:spPr/>
        <p:txBody>
          <a:bodyPr/>
          <a:lstStyle/>
          <a:p>
            <a:r>
              <a:rPr lang="en-US" dirty="0"/>
              <a:t>Collections</a:t>
            </a:r>
          </a:p>
        </p:txBody>
      </p:sp>
      <p:sp>
        <p:nvSpPr>
          <p:cNvPr id="3" name="Content Placeholder 2">
            <a:extLst>
              <a:ext uri="{FF2B5EF4-FFF2-40B4-BE49-F238E27FC236}">
                <a16:creationId xmlns:a16="http://schemas.microsoft.com/office/drawing/2014/main" id="{00333ED3-5597-164E-B904-E26D45D39508}"/>
              </a:ext>
            </a:extLst>
          </p:cNvPr>
          <p:cNvSpPr>
            <a:spLocks noGrp="1"/>
          </p:cNvSpPr>
          <p:nvPr>
            <p:ph idx="1"/>
          </p:nvPr>
        </p:nvSpPr>
        <p:spPr/>
        <p:txBody>
          <a:bodyPr/>
          <a:lstStyle/>
          <a:p>
            <a:r>
              <a:rPr lang="en-US" dirty="0"/>
              <a:t>Avoid overly abstract document types. If you find yourself writing separate code to process different document subtypes, you should consider separating the types into different collections. Poor collection design can adversely affect performance and slow your application. There are cases where it makes sense to group somewhat dissimilar objects (for example, small kitchen appliances and books) if they are treated as similar (for example, they are all products) in your application.</a:t>
            </a:r>
          </a:p>
          <a:p>
            <a:r>
              <a:rPr lang="en-US" dirty="0"/>
              <a:t>But…</a:t>
            </a:r>
          </a:p>
          <a:p>
            <a:r>
              <a:rPr lang="en-US" dirty="0"/>
              <a:t>Document databases are designed to accommodate variations in documents within a collection. Because any document could be different from all previously inserted documents, it does not make sense to require data modelers to specify all possible document fields prior to building and populating the database. This freedom from the need to predefine the database structure is captured in the term often used to describe document databases: </a:t>
            </a:r>
            <a:r>
              <a:rPr lang="en-US" dirty="0" err="1"/>
              <a:t>schemaless</a:t>
            </a:r>
            <a:r>
              <a:rPr lang="en-US" dirty="0"/>
              <a:t>.</a:t>
            </a:r>
          </a:p>
        </p:txBody>
      </p:sp>
    </p:spTree>
    <p:extLst>
      <p:ext uri="{BB962C8B-B14F-4D97-AF65-F5344CB8AC3E}">
        <p14:creationId xmlns:p14="http://schemas.microsoft.com/office/powerpoint/2010/main" val="2016798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2C278-71BB-AA4E-8C20-485586F56DC5}"/>
              </a:ext>
            </a:extLst>
          </p:cNvPr>
          <p:cNvSpPr>
            <a:spLocks noGrp="1"/>
          </p:cNvSpPr>
          <p:nvPr>
            <p:ph type="title"/>
          </p:nvPr>
        </p:nvSpPr>
        <p:spPr/>
        <p:txBody>
          <a:bodyPr/>
          <a:lstStyle/>
          <a:p>
            <a:r>
              <a:rPr lang="en-US" dirty="0"/>
              <a:t>Normalization vs Denormalization</a:t>
            </a:r>
          </a:p>
        </p:txBody>
      </p:sp>
      <p:sp>
        <p:nvSpPr>
          <p:cNvPr id="3" name="Content Placeholder 2">
            <a:extLst>
              <a:ext uri="{FF2B5EF4-FFF2-40B4-BE49-F238E27FC236}">
                <a16:creationId xmlns:a16="http://schemas.microsoft.com/office/drawing/2014/main" id="{91736911-80B3-C94F-BCE0-EDB9F0ADECCB}"/>
              </a:ext>
            </a:extLst>
          </p:cNvPr>
          <p:cNvSpPr>
            <a:spLocks noGrp="1"/>
          </p:cNvSpPr>
          <p:nvPr>
            <p:ph idx="1"/>
          </p:nvPr>
        </p:nvSpPr>
        <p:spPr/>
        <p:txBody>
          <a:bodyPr/>
          <a:lstStyle/>
          <a:p>
            <a:r>
              <a:rPr lang="en-US" dirty="0"/>
              <a:t>Normalization vs Denormalization</a:t>
            </a:r>
          </a:p>
          <a:p>
            <a:r>
              <a:rPr lang="en-US" dirty="0"/>
              <a:t>Normalization is all about eliminating redundancy which can cause anomalies</a:t>
            </a:r>
          </a:p>
          <a:p>
            <a:r>
              <a:rPr lang="en-US" dirty="0"/>
              <a:t>Normalization may reduce performance</a:t>
            </a:r>
          </a:p>
          <a:p>
            <a:pPr lvl="1"/>
            <a:r>
              <a:rPr lang="en-US" dirty="0"/>
              <a:t>Separates data </a:t>
            </a:r>
            <a:r>
              <a:rPr lang="en-US" dirty="0">
                <a:sym typeface="Wingdings" pitchFamily="2" charset="2"/>
              </a:rPr>
              <a:t> requires joins</a:t>
            </a:r>
          </a:p>
          <a:p>
            <a:endParaRPr lang="en-US" dirty="0">
              <a:sym typeface="Wingdings" pitchFamily="2" charset="2"/>
            </a:endParaRPr>
          </a:p>
          <a:p>
            <a:r>
              <a:rPr lang="en-US" dirty="0">
                <a:sym typeface="Wingdings" pitchFamily="2" charset="2"/>
              </a:rPr>
              <a:t>Denormalization keeps data together</a:t>
            </a:r>
          </a:p>
          <a:p>
            <a:pPr lvl="1"/>
            <a:r>
              <a:rPr lang="en-US" dirty="0">
                <a:sym typeface="Wingdings" pitchFamily="2" charset="2"/>
              </a:rPr>
              <a:t>Example: A contact and all their phone numbers</a:t>
            </a:r>
          </a:p>
          <a:p>
            <a:r>
              <a:rPr lang="en-US" dirty="0">
                <a:sym typeface="Wingdings" pitchFamily="2" charset="2"/>
              </a:rPr>
              <a:t>Denormalization can reduce lookups</a:t>
            </a:r>
          </a:p>
          <a:p>
            <a:pPr lvl="1"/>
            <a:r>
              <a:rPr lang="en-US" dirty="0">
                <a:sym typeface="Wingdings" pitchFamily="2" charset="2"/>
              </a:rPr>
              <a:t>All in the same document</a:t>
            </a:r>
            <a:endParaRPr lang="en-US" dirty="0"/>
          </a:p>
        </p:txBody>
      </p:sp>
    </p:spTree>
    <p:extLst>
      <p:ext uri="{BB962C8B-B14F-4D97-AF65-F5344CB8AC3E}">
        <p14:creationId xmlns:p14="http://schemas.microsoft.com/office/powerpoint/2010/main" val="1377941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9A03-ADD2-FA42-87D8-F4C3186F4564}"/>
              </a:ext>
            </a:extLst>
          </p:cNvPr>
          <p:cNvSpPr>
            <a:spLocks noGrp="1"/>
          </p:cNvSpPr>
          <p:nvPr>
            <p:ph type="title"/>
          </p:nvPr>
        </p:nvSpPr>
        <p:spPr/>
        <p:txBody>
          <a:bodyPr/>
          <a:lstStyle/>
          <a:p>
            <a:r>
              <a:rPr lang="en-US" dirty="0"/>
              <a:t>Denormalization</a:t>
            </a:r>
          </a:p>
        </p:txBody>
      </p:sp>
      <p:sp>
        <p:nvSpPr>
          <p:cNvPr id="3" name="Content Placeholder 2">
            <a:extLst>
              <a:ext uri="{FF2B5EF4-FFF2-40B4-BE49-F238E27FC236}">
                <a16:creationId xmlns:a16="http://schemas.microsoft.com/office/drawing/2014/main" id="{EED950D4-9DD0-114D-A161-9F8DE91D5226}"/>
              </a:ext>
            </a:extLst>
          </p:cNvPr>
          <p:cNvSpPr>
            <a:spLocks noGrp="1"/>
          </p:cNvSpPr>
          <p:nvPr>
            <p:ph idx="1"/>
          </p:nvPr>
        </p:nvSpPr>
        <p:spPr/>
        <p:txBody>
          <a:bodyPr/>
          <a:lstStyle/>
          <a:p>
            <a:r>
              <a:rPr lang="en-US" dirty="0"/>
              <a:t>Keep data that is frequently used together in the same document</a:t>
            </a:r>
          </a:p>
          <a:p>
            <a:r>
              <a:rPr lang="en-US" dirty="0"/>
              <a:t>But be careful!</a:t>
            </a:r>
          </a:p>
          <a:p>
            <a:pPr lvl="1"/>
            <a:r>
              <a:rPr lang="en-US" dirty="0"/>
              <a:t>Don’t want to allow too much extraneous data to creep into your documents</a:t>
            </a:r>
          </a:p>
          <a:p>
            <a:endParaRPr lang="en-US" dirty="0"/>
          </a:p>
          <a:p>
            <a:r>
              <a:rPr lang="en-US" dirty="0"/>
              <a:t>Let your queries be your guide!</a:t>
            </a:r>
          </a:p>
          <a:p>
            <a:endParaRPr lang="en-US" dirty="0"/>
          </a:p>
          <a:p>
            <a:r>
              <a:rPr lang="en-US" dirty="0"/>
              <a:t>Joins are generally not supported, but you can write programs that essentially do the joins</a:t>
            </a:r>
          </a:p>
          <a:p>
            <a:pPr lvl="1"/>
            <a:r>
              <a:rPr lang="en-US" dirty="0"/>
              <a:t>Expensive</a:t>
            </a:r>
          </a:p>
          <a:p>
            <a:pPr lvl="1"/>
            <a:r>
              <a:rPr lang="en-US" dirty="0"/>
              <a:t>Consider putting the data in the document – even if it may be duplicated data</a:t>
            </a:r>
          </a:p>
          <a:p>
            <a:pPr lvl="2"/>
            <a:r>
              <a:rPr lang="en-US" dirty="0"/>
              <a:t>Be careful</a:t>
            </a:r>
          </a:p>
        </p:txBody>
      </p:sp>
    </p:spTree>
    <p:extLst>
      <p:ext uri="{BB962C8B-B14F-4D97-AF65-F5344CB8AC3E}">
        <p14:creationId xmlns:p14="http://schemas.microsoft.com/office/powerpoint/2010/main" val="2722932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8CA63-906E-4A4C-AABC-17377DC235C5}"/>
              </a:ext>
            </a:extLst>
          </p:cNvPr>
          <p:cNvSpPr>
            <a:spLocks noGrp="1"/>
          </p:cNvSpPr>
          <p:nvPr>
            <p:ph type="title"/>
          </p:nvPr>
        </p:nvSpPr>
        <p:spPr/>
        <p:txBody>
          <a:bodyPr/>
          <a:lstStyle/>
          <a:p>
            <a:r>
              <a:rPr lang="en-US" dirty="0"/>
              <a:t>One to Many Relations</a:t>
            </a:r>
          </a:p>
        </p:txBody>
      </p:sp>
      <p:sp>
        <p:nvSpPr>
          <p:cNvPr id="3" name="Content Placeholder 2">
            <a:extLst>
              <a:ext uri="{FF2B5EF4-FFF2-40B4-BE49-F238E27FC236}">
                <a16:creationId xmlns:a16="http://schemas.microsoft.com/office/drawing/2014/main" id="{6C8E68E8-4315-1E48-A07D-4F1C9708B0F4}"/>
              </a:ext>
            </a:extLst>
          </p:cNvPr>
          <p:cNvSpPr>
            <a:spLocks noGrp="1"/>
          </p:cNvSpPr>
          <p:nvPr>
            <p:ph idx="1"/>
          </p:nvPr>
        </p:nvSpPr>
        <p:spPr/>
        <p:txBody>
          <a:bodyPr/>
          <a:lstStyle/>
          <a:p>
            <a:r>
              <a:rPr lang="en-US" dirty="0"/>
              <a:t>Document embedding</a:t>
            </a:r>
          </a:p>
          <a:p>
            <a:r>
              <a:rPr lang="en-US" dirty="0"/>
              <a:t>The “one” entity is the primary document</a:t>
            </a:r>
          </a:p>
          <a:p>
            <a:r>
              <a:rPr lang="en-US" dirty="0"/>
              <a:t>The “many” entities are embedded</a:t>
            </a:r>
          </a:p>
          <a:p>
            <a:endParaRPr lang="en-US" dirty="0"/>
          </a:p>
          <a:p>
            <a:r>
              <a:rPr lang="en-US" dirty="0"/>
              <a:t>Be aware of ”how many” and “how often”</a:t>
            </a:r>
          </a:p>
        </p:txBody>
      </p:sp>
      <p:pic>
        <p:nvPicPr>
          <p:cNvPr id="4" name="Picture 3">
            <a:extLst>
              <a:ext uri="{FF2B5EF4-FFF2-40B4-BE49-F238E27FC236}">
                <a16:creationId xmlns:a16="http://schemas.microsoft.com/office/drawing/2014/main" id="{AD1A706A-2174-8242-82E1-CC16BA92A710}"/>
              </a:ext>
            </a:extLst>
          </p:cNvPr>
          <p:cNvPicPr>
            <a:picLocks noChangeAspect="1"/>
          </p:cNvPicPr>
          <p:nvPr/>
        </p:nvPicPr>
        <p:blipFill>
          <a:blip r:embed="rId2"/>
          <a:stretch>
            <a:fillRect/>
          </a:stretch>
        </p:blipFill>
        <p:spPr>
          <a:xfrm>
            <a:off x="6096000" y="2187364"/>
            <a:ext cx="5715000" cy="3340100"/>
          </a:xfrm>
          <a:prstGeom prst="rect">
            <a:avLst/>
          </a:prstGeom>
        </p:spPr>
      </p:pic>
    </p:spTree>
    <p:extLst>
      <p:ext uri="{BB962C8B-B14F-4D97-AF65-F5344CB8AC3E}">
        <p14:creationId xmlns:p14="http://schemas.microsoft.com/office/powerpoint/2010/main" val="2041333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47A2-55AF-9E4F-A0FB-3A1A23AB7210}"/>
              </a:ext>
            </a:extLst>
          </p:cNvPr>
          <p:cNvSpPr>
            <a:spLocks noGrp="1"/>
          </p:cNvSpPr>
          <p:nvPr>
            <p:ph type="title"/>
          </p:nvPr>
        </p:nvSpPr>
        <p:spPr/>
        <p:txBody>
          <a:bodyPr/>
          <a:lstStyle/>
          <a:p>
            <a:r>
              <a:rPr lang="en-US" dirty="0"/>
              <a:t>Many to Many Relations</a:t>
            </a:r>
          </a:p>
        </p:txBody>
      </p:sp>
      <p:sp>
        <p:nvSpPr>
          <p:cNvPr id="3" name="Content Placeholder 2">
            <a:extLst>
              <a:ext uri="{FF2B5EF4-FFF2-40B4-BE49-F238E27FC236}">
                <a16:creationId xmlns:a16="http://schemas.microsoft.com/office/drawing/2014/main" id="{8C3694B3-396F-714D-B46C-04D62B64A820}"/>
              </a:ext>
            </a:extLst>
          </p:cNvPr>
          <p:cNvSpPr>
            <a:spLocks noGrp="1"/>
          </p:cNvSpPr>
          <p:nvPr>
            <p:ph idx="1"/>
          </p:nvPr>
        </p:nvSpPr>
        <p:spPr/>
        <p:txBody>
          <a:bodyPr/>
          <a:lstStyle/>
          <a:p>
            <a:r>
              <a:rPr lang="en-US" dirty="0"/>
              <a:t>Still uses embedded documents/data</a:t>
            </a:r>
          </a:p>
          <a:p>
            <a:r>
              <a:rPr lang="en-US" dirty="0"/>
              <a:t>Duplicated information</a:t>
            </a:r>
          </a:p>
          <a:p>
            <a:r>
              <a:rPr lang="en-US" dirty="0"/>
              <a:t>Remember there are no constraints enforced</a:t>
            </a:r>
          </a:p>
          <a:p>
            <a:pPr lvl="1"/>
            <a:r>
              <a:rPr lang="en-US" dirty="0"/>
              <a:t>You must enforce them</a:t>
            </a:r>
          </a:p>
        </p:txBody>
      </p:sp>
      <p:pic>
        <p:nvPicPr>
          <p:cNvPr id="4" name="Picture 3">
            <a:extLst>
              <a:ext uri="{FF2B5EF4-FFF2-40B4-BE49-F238E27FC236}">
                <a16:creationId xmlns:a16="http://schemas.microsoft.com/office/drawing/2014/main" id="{7A02D175-399F-E148-A04C-3384E5E3395F}"/>
              </a:ext>
            </a:extLst>
          </p:cNvPr>
          <p:cNvPicPr>
            <a:picLocks noChangeAspect="1"/>
          </p:cNvPicPr>
          <p:nvPr/>
        </p:nvPicPr>
        <p:blipFill>
          <a:blip r:embed="rId2"/>
          <a:stretch>
            <a:fillRect/>
          </a:stretch>
        </p:blipFill>
        <p:spPr>
          <a:xfrm>
            <a:off x="6736796" y="2412121"/>
            <a:ext cx="5059477" cy="3456973"/>
          </a:xfrm>
          <a:prstGeom prst="rect">
            <a:avLst/>
          </a:prstGeom>
        </p:spPr>
      </p:pic>
      <p:pic>
        <p:nvPicPr>
          <p:cNvPr id="5" name="Picture 4">
            <a:extLst>
              <a:ext uri="{FF2B5EF4-FFF2-40B4-BE49-F238E27FC236}">
                <a16:creationId xmlns:a16="http://schemas.microsoft.com/office/drawing/2014/main" id="{6B01D6B4-C434-7A4F-A361-2BEE3DEC9D9B}"/>
              </a:ext>
            </a:extLst>
          </p:cNvPr>
          <p:cNvPicPr>
            <a:picLocks noChangeAspect="1"/>
          </p:cNvPicPr>
          <p:nvPr/>
        </p:nvPicPr>
        <p:blipFill>
          <a:blip r:embed="rId3"/>
          <a:stretch>
            <a:fillRect/>
          </a:stretch>
        </p:blipFill>
        <p:spPr>
          <a:xfrm>
            <a:off x="1371600" y="3976706"/>
            <a:ext cx="3443417" cy="2000762"/>
          </a:xfrm>
          <a:prstGeom prst="rect">
            <a:avLst/>
          </a:prstGeom>
        </p:spPr>
      </p:pic>
    </p:spTree>
    <p:extLst>
      <p:ext uri="{BB962C8B-B14F-4D97-AF65-F5344CB8AC3E}">
        <p14:creationId xmlns:p14="http://schemas.microsoft.com/office/powerpoint/2010/main" val="1694360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085B4-4D24-4044-8A20-6D736527457B}"/>
              </a:ext>
            </a:extLst>
          </p:cNvPr>
          <p:cNvSpPr>
            <a:spLocks noGrp="1"/>
          </p:cNvSpPr>
          <p:nvPr>
            <p:ph type="title"/>
          </p:nvPr>
        </p:nvSpPr>
        <p:spPr/>
        <p:txBody>
          <a:bodyPr/>
          <a:lstStyle/>
          <a:p>
            <a:r>
              <a:rPr lang="en-US" dirty="0"/>
              <a:t>Modeling Hierarchies</a:t>
            </a:r>
          </a:p>
        </p:txBody>
      </p:sp>
      <p:sp>
        <p:nvSpPr>
          <p:cNvPr id="3" name="Content Placeholder 2">
            <a:extLst>
              <a:ext uri="{FF2B5EF4-FFF2-40B4-BE49-F238E27FC236}">
                <a16:creationId xmlns:a16="http://schemas.microsoft.com/office/drawing/2014/main" id="{D1842206-4850-D443-82CA-4DD915B5C300}"/>
              </a:ext>
            </a:extLst>
          </p:cNvPr>
          <p:cNvSpPr>
            <a:spLocks noGrp="1"/>
          </p:cNvSpPr>
          <p:nvPr>
            <p:ph idx="1"/>
          </p:nvPr>
        </p:nvSpPr>
        <p:spPr/>
        <p:txBody>
          <a:bodyPr/>
          <a:lstStyle/>
          <a:p>
            <a:r>
              <a:rPr lang="en-US" dirty="0"/>
              <a:t>Use document references or document ids</a:t>
            </a:r>
          </a:p>
          <a:p>
            <a:r>
              <a:rPr lang="en-US" dirty="0"/>
              <a:t>Your application will have to do the join</a:t>
            </a:r>
          </a:p>
          <a:p>
            <a:r>
              <a:rPr lang="en-US" dirty="0"/>
              <a:t>Parent ID’s</a:t>
            </a:r>
          </a:p>
          <a:p>
            <a:r>
              <a:rPr lang="en-US" dirty="0"/>
              <a:t>List of Children ID’s</a:t>
            </a:r>
          </a:p>
          <a:p>
            <a:r>
              <a:rPr lang="en-US" dirty="0"/>
              <a:t>Depending on queries, you could keep more info</a:t>
            </a:r>
          </a:p>
          <a:p>
            <a:pPr lvl="1"/>
            <a:r>
              <a:rPr lang="en-US" dirty="0"/>
              <a:t>Full ancestor list, etc.</a:t>
            </a:r>
          </a:p>
          <a:p>
            <a:endParaRPr lang="en-US" dirty="0"/>
          </a:p>
        </p:txBody>
      </p:sp>
      <p:pic>
        <p:nvPicPr>
          <p:cNvPr id="4" name="Picture 3">
            <a:extLst>
              <a:ext uri="{FF2B5EF4-FFF2-40B4-BE49-F238E27FC236}">
                <a16:creationId xmlns:a16="http://schemas.microsoft.com/office/drawing/2014/main" id="{A58958F0-9CEE-1347-B923-02A5BE23EB8D}"/>
              </a:ext>
            </a:extLst>
          </p:cNvPr>
          <p:cNvPicPr>
            <a:picLocks noChangeAspect="1"/>
          </p:cNvPicPr>
          <p:nvPr/>
        </p:nvPicPr>
        <p:blipFill>
          <a:blip r:embed="rId2"/>
          <a:stretch>
            <a:fillRect/>
          </a:stretch>
        </p:blipFill>
        <p:spPr>
          <a:xfrm>
            <a:off x="301917" y="4423945"/>
            <a:ext cx="5396402" cy="1680317"/>
          </a:xfrm>
          <a:prstGeom prst="rect">
            <a:avLst/>
          </a:prstGeom>
        </p:spPr>
      </p:pic>
      <p:pic>
        <p:nvPicPr>
          <p:cNvPr id="5" name="Picture 4">
            <a:extLst>
              <a:ext uri="{FF2B5EF4-FFF2-40B4-BE49-F238E27FC236}">
                <a16:creationId xmlns:a16="http://schemas.microsoft.com/office/drawing/2014/main" id="{8BD8BA9A-C5A4-E84F-947D-03BFC74D8CFC}"/>
              </a:ext>
            </a:extLst>
          </p:cNvPr>
          <p:cNvPicPr>
            <a:picLocks noChangeAspect="1"/>
          </p:cNvPicPr>
          <p:nvPr/>
        </p:nvPicPr>
        <p:blipFill>
          <a:blip r:embed="rId3"/>
          <a:stretch>
            <a:fillRect/>
          </a:stretch>
        </p:blipFill>
        <p:spPr>
          <a:xfrm>
            <a:off x="6493682" y="4439094"/>
            <a:ext cx="5199621" cy="1665168"/>
          </a:xfrm>
          <a:prstGeom prst="rect">
            <a:avLst/>
          </a:prstGeom>
        </p:spPr>
      </p:pic>
      <p:pic>
        <p:nvPicPr>
          <p:cNvPr id="8194" name="Picture 2" descr="Image">
            <a:extLst>
              <a:ext uri="{FF2B5EF4-FFF2-40B4-BE49-F238E27FC236}">
                <a16:creationId xmlns:a16="http://schemas.microsoft.com/office/drawing/2014/main" id="{A463933F-8BCE-8742-A3C8-AC16C02B8B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2270" y="1845734"/>
            <a:ext cx="5501033" cy="2278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33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B5510-C5EB-A54C-95B1-AD6BC413F34F}"/>
              </a:ext>
            </a:extLst>
          </p:cNvPr>
          <p:cNvSpPr>
            <a:spLocks noGrp="1"/>
          </p:cNvSpPr>
          <p:nvPr>
            <p:ph type="title"/>
          </p:nvPr>
        </p:nvSpPr>
        <p:spPr/>
        <p:txBody>
          <a:bodyPr/>
          <a:lstStyle/>
          <a:p>
            <a:r>
              <a:rPr lang="en-US" dirty="0"/>
              <a:t>Designing for Document Databases</a:t>
            </a:r>
          </a:p>
        </p:txBody>
      </p:sp>
      <p:sp>
        <p:nvSpPr>
          <p:cNvPr id="3" name="Content Placeholder 2">
            <a:extLst>
              <a:ext uri="{FF2B5EF4-FFF2-40B4-BE49-F238E27FC236}">
                <a16:creationId xmlns:a16="http://schemas.microsoft.com/office/drawing/2014/main" id="{9D9D6827-ACA7-AB4E-8933-679CF3860787}"/>
              </a:ext>
            </a:extLst>
          </p:cNvPr>
          <p:cNvSpPr>
            <a:spLocks noGrp="1"/>
          </p:cNvSpPr>
          <p:nvPr>
            <p:ph idx="1"/>
          </p:nvPr>
        </p:nvSpPr>
        <p:spPr/>
        <p:txBody>
          <a:bodyPr/>
          <a:lstStyle/>
          <a:p>
            <a:r>
              <a:rPr lang="en-US" dirty="0"/>
              <a:t>Consider use cases</a:t>
            </a:r>
          </a:p>
          <a:p>
            <a:pPr lvl="1"/>
            <a:r>
              <a:rPr lang="en-US" dirty="0"/>
              <a:t>User stories</a:t>
            </a:r>
          </a:p>
          <a:p>
            <a:pPr lvl="1"/>
            <a:endParaRPr lang="en-US" dirty="0"/>
          </a:p>
          <a:p>
            <a:r>
              <a:rPr lang="en-US" dirty="0"/>
              <a:t>Consider the design patterns</a:t>
            </a:r>
          </a:p>
          <a:p>
            <a:endParaRPr lang="en-US" dirty="0"/>
          </a:p>
          <a:p>
            <a:r>
              <a:rPr lang="en-US" dirty="0"/>
              <a:t>Let your queries be your guide!</a:t>
            </a:r>
          </a:p>
          <a:p>
            <a:pPr lvl="1"/>
            <a:r>
              <a:rPr lang="en-US" dirty="0" err="1"/>
              <a:t>Denormalize</a:t>
            </a:r>
            <a:r>
              <a:rPr lang="en-US" dirty="0"/>
              <a:t> where needed</a:t>
            </a:r>
          </a:p>
          <a:p>
            <a:pPr lvl="1"/>
            <a:r>
              <a:rPr lang="en-US" dirty="0"/>
              <a:t>Embed data where needed</a:t>
            </a:r>
          </a:p>
          <a:p>
            <a:endParaRPr lang="en-US" dirty="0"/>
          </a:p>
        </p:txBody>
      </p:sp>
    </p:spTree>
    <p:extLst>
      <p:ext uri="{BB962C8B-B14F-4D97-AF65-F5344CB8AC3E}">
        <p14:creationId xmlns:p14="http://schemas.microsoft.com/office/powerpoint/2010/main" val="581622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265B8E-9D98-B648-B280-58CBB240D327}"/>
              </a:ext>
            </a:extLst>
          </p:cNvPr>
          <p:cNvSpPr>
            <a:spLocks noGrp="1"/>
          </p:cNvSpPr>
          <p:nvPr>
            <p:ph type="ctrTitle"/>
          </p:nvPr>
        </p:nvSpPr>
        <p:spPr/>
        <p:txBody>
          <a:bodyPr/>
          <a:lstStyle/>
          <a:p>
            <a:r>
              <a:rPr lang="en-US" dirty="0"/>
              <a:t>MongoDB	</a:t>
            </a:r>
          </a:p>
        </p:txBody>
      </p:sp>
      <p:sp>
        <p:nvSpPr>
          <p:cNvPr id="5" name="Subtitle 4">
            <a:extLst>
              <a:ext uri="{FF2B5EF4-FFF2-40B4-BE49-F238E27FC236}">
                <a16:creationId xmlns:a16="http://schemas.microsoft.com/office/drawing/2014/main" id="{4B31CD1C-7C6E-4748-A758-4F71361C3D99}"/>
              </a:ext>
            </a:extLst>
          </p:cNvPr>
          <p:cNvSpPr>
            <a:spLocks noGrp="1"/>
          </p:cNvSpPr>
          <p:nvPr>
            <p:ph type="subTitle" idx="1"/>
          </p:nvPr>
        </p:nvSpPr>
        <p:spPr/>
        <p:txBody>
          <a:bodyPr/>
          <a:lstStyle/>
          <a:p>
            <a:r>
              <a:rPr lang="en-US" dirty="0"/>
              <a:t>Basic operations</a:t>
            </a:r>
          </a:p>
        </p:txBody>
      </p:sp>
    </p:spTree>
    <p:extLst>
      <p:ext uri="{BB962C8B-B14F-4D97-AF65-F5344CB8AC3E}">
        <p14:creationId xmlns:p14="http://schemas.microsoft.com/office/powerpoint/2010/main" val="1837994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What is MongoDB?</a:t>
            </a:r>
          </a:p>
        </p:txBody>
      </p:sp>
      <p:sp>
        <p:nvSpPr>
          <p:cNvPr id="3" name="Pladsholder til indhold 2"/>
          <p:cNvSpPr>
            <a:spLocks noGrp="1"/>
          </p:cNvSpPr>
          <p:nvPr>
            <p:ph idx="1"/>
          </p:nvPr>
        </p:nvSpPr>
        <p:spPr/>
        <p:txBody>
          <a:bodyPr/>
          <a:lstStyle/>
          <a:p>
            <a:r>
              <a:rPr lang="en-US" dirty="0"/>
              <a:t>The name</a:t>
            </a:r>
          </a:p>
          <a:p>
            <a:pPr lvl="1"/>
            <a:r>
              <a:rPr lang="en-US" dirty="0"/>
              <a:t>Mongo is derived from Humongous</a:t>
            </a:r>
          </a:p>
          <a:p>
            <a:pPr lvl="1"/>
            <a:r>
              <a:rPr lang="en-US" dirty="0"/>
              <a:t>To say that MongoDB can handle a humongous amount of data</a:t>
            </a:r>
          </a:p>
          <a:p>
            <a:r>
              <a:rPr lang="en-US" dirty="0"/>
              <a:t>Document database</a:t>
            </a:r>
          </a:p>
          <a:p>
            <a:pPr lvl="1"/>
            <a:r>
              <a:rPr lang="en-US" dirty="0"/>
              <a:t>In mongo you store documents</a:t>
            </a:r>
          </a:p>
          <a:p>
            <a:pPr lvl="2"/>
            <a:r>
              <a:rPr lang="en-US" dirty="0"/>
              <a:t>Each document is identified by a key</a:t>
            </a:r>
          </a:p>
          <a:p>
            <a:pPr lvl="3"/>
            <a:r>
              <a:rPr lang="en-US" dirty="0"/>
              <a:t>(key, document)</a:t>
            </a:r>
          </a:p>
          <a:p>
            <a:pPr lvl="1"/>
            <a:r>
              <a:rPr lang="en-US" dirty="0"/>
              <a:t>Documents are written using BSON</a:t>
            </a:r>
          </a:p>
          <a:p>
            <a:pPr lvl="2"/>
            <a:r>
              <a:rPr lang="en-US" dirty="0"/>
              <a:t>BSON is an extension of JSON (JavaScript Object Notation)</a:t>
            </a:r>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21</a:t>
            </a:fld>
            <a:endParaRPr lang="en-US" dirty="0"/>
          </a:p>
        </p:txBody>
      </p:sp>
    </p:spTree>
    <p:extLst>
      <p:ext uri="{BB962C8B-B14F-4D97-AF65-F5344CB8AC3E}">
        <p14:creationId xmlns:p14="http://schemas.microsoft.com/office/powerpoint/2010/main" val="3485089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Example BSON document</a:t>
            </a:r>
          </a:p>
        </p:txBody>
      </p:sp>
      <p:sp>
        <p:nvSpPr>
          <p:cNvPr id="5" name="Pladsholder til indhold 4"/>
          <p:cNvSpPr>
            <a:spLocks noGrp="1"/>
          </p:cNvSpPr>
          <p:nvPr>
            <p:ph sz="half" idx="2"/>
          </p:nvPr>
        </p:nvSpPr>
        <p:spPr/>
        <p:txBody>
          <a:bodyPr>
            <a:normAutofit/>
          </a:bodyPr>
          <a:lstStyle/>
          <a:p>
            <a:r>
              <a:rPr lang="en-US" dirty="0"/>
              <a:t>{ …. } </a:t>
            </a:r>
          </a:p>
          <a:p>
            <a:pPr lvl="1"/>
            <a:r>
              <a:rPr lang="en-US" dirty="0"/>
              <a:t>Curly braces encloses a document</a:t>
            </a:r>
          </a:p>
          <a:p>
            <a:r>
              <a:rPr lang="en-US" dirty="0"/>
              <a:t>Name : value     Field</a:t>
            </a:r>
          </a:p>
          <a:p>
            <a:pPr lvl="1"/>
            <a:r>
              <a:rPr lang="en-US" dirty="0"/>
              <a:t>Names are optionally quoted</a:t>
            </a:r>
          </a:p>
          <a:p>
            <a:r>
              <a:rPr lang="en-US" dirty="0"/>
              <a:t>_id</a:t>
            </a:r>
          </a:p>
          <a:p>
            <a:pPr lvl="1"/>
            <a:r>
              <a:rPr lang="en-US" dirty="0"/>
              <a:t>The object id</a:t>
            </a:r>
          </a:p>
          <a:p>
            <a:pPr lvl="1"/>
            <a:r>
              <a:rPr lang="en-US" dirty="0"/>
              <a:t>Automatically generated</a:t>
            </a:r>
          </a:p>
          <a:p>
            <a:r>
              <a:rPr lang="en-US" dirty="0"/>
              <a:t>[ … ]</a:t>
            </a:r>
          </a:p>
          <a:p>
            <a:pPr lvl="1"/>
            <a:r>
              <a:rPr lang="en-US" dirty="0"/>
              <a:t>Array of documents / objects.</a:t>
            </a:r>
          </a:p>
          <a:p>
            <a:pPr lvl="1"/>
            <a:r>
              <a:rPr lang="en-US" dirty="0"/>
              <a:t>Heterogeneous array</a:t>
            </a:r>
          </a:p>
          <a:p>
            <a:pPr lvl="2"/>
            <a:r>
              <a:rPr lang="en-US" dirty="0"/>
              <a:t>May contain documents of different types</a:t>
            </a:r>
          </a:p>
        </p:txBody>
      </p:sp>
      <p:pic>
        <p:nvPicPr>
          <p:cNvPr id="7" name="Pladsholder til indhold 6"/>
          <p:cNvPicPr>
            <a:picLocks noGrp="1" noChangeAspect="1"/>
          </p:cNvPicPr>
          <p:nvPr>
            <p:ph sz="half" idx="1"/>
          </p:nvPr>
        </p:nvPicPr>
        <p:blipFill>
          <a:blip r:embed="rId2"/>
          <a:stretch>
            <a:fillRect/>
          </a:stretch>
        </p:blipFill>
        <p:spPr>
          <a:xfrm>
            <a:off x="446314" y="1924164"/>
            <a:ext cx="5453743" cy="3991348"/>
          </a:xfrm>
          <a:prstGeom prst="rect">
            <a:avLst/>
          </a:prstGeom>
        </p:spPr>
      </p:pic>
      <p:sp>
        <p:nvSpPr>
          <p:cNvPr id="3" name="Pladsholder til sidefod 2"/>
          <p:cNvSpPr>
            <a:spLocks noGrp="1"/>
          </p:cNvSpPr>
          <p:nvPr>
            <p:ph type="ftr" sz="quarter" idx="11"/>
          </p:nvPr>
        </p:nvSpPr>
        <p:spPr/>
        <p:txBody>
          <a:bodyPr/>
          <a:lstStyle/>
          <a:p>
            <a:r>
              <a:rPr lang="en-US" dirty="0"/>
              <a:t>MongoDB, an introduction</a:t>
            </a:r>
          </a:p>
        </p:txBody>
      </p:sp>
      <p:sp>
        <p:nvSpPr>
          <p:cNvPr id="4" name="Pladsholder til slidenummer 3"/>
          <p:cNvSpPr>
            <a:spLocks noGrp="1"/>
          </p:cNvSpPr>
          <p:nvPr>
            <p:ph type="sldNum" sz="quarter" idx="12"/>
          </p:nvPr>
        </p:nvSpPr>
        <p:spPr/>
        <p:txBody>
          <a:bodyPr/>
          <a:lstStyle/>
          <a:p>
            <a:fld id="{EB0FFA4F-9984-4F5F-820D-2E497FFB00D5}" type="slidenum">
              <a:rPr lang="en-US" smtClean="0"/>
              <a:t>22</a:t>
            </a:fld>
            <a:endParaRPr lang="en-US" dirty="0"/>
          </a:p>
        </p:txBody>
      </p:sp>
    </p:spTree>
    <p:extLst>
      <p:ext uri="{BB962C8B-B14F-4D97-AF65-F5344CB8AC3E}">
        <p14:creationId xmlns:p14="http://schemas.microsoft.com/office/powerpoint/2010/main" val="3059301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Some BSON data types</a:t>
            </a:r>
          </a:p>
        </p:txBody>
      </p:sp>
      <p:sp>
        <p:nvSpPr>
          <p:cNvPr id="3" name="Pladsholder til indhold 2"/>
          <p:cNvSpPr>
            <a:spLocks noGrp="1"/>
          </p:cNvSpPr>
          <p:nvPr>
            <p:ph sz="half" idx="1"/>
          </p:nvPr>
        </p:nvSpPr>
        <p:spPr/>
        <p:txBody>
          <a:bodyPr>
            <a:normAutofit fontScale="85000" lnSpcReduction="20000"/>
          </a:bodyPr>
          <a:lstStyle/>
          <a:p>
            <a:r>
              <a:rPr lang="en-US" dirty="0"/>
              <a:t>Double</a:t>
            </a:r>
          </a:p>
          <a:p>
            <a:r>
              <a:rPr lang="en-US" dirty="0"/>
              <a:t>String</a:t>
            </a:r>
          </a:p>
          <a:p>
            <a:r>
              <a:rPr lang="en-US" dirty="0"/>
              <a:t>Object</a:t>
            </a:r>
          </a:p>
          <a:p>
            <a:r>
              <a:rPr lang="en-US" dirty="0"/>
              <a:t>Array</a:t>
            </a:r>
          </a:p>
          <a:p>
            <a:r>
              <a:rPr lang="en-US" dirty="0"/>
              <a:t>Binary data</a:t>
            </a:r>
          </a:p>
          <a:p>
            <a:r>
              <a:rPr lang="en-US" dirty="0"/>
              <a:t>Object id</a:t>
            </a:r>
          </a:p>
          <a:p>
            <a:r>
              <a:rPr lang="en-US" dirty="0"/>
              <a:t>Boolean</a:t>
            </a:r>
          </a:p>
          <a:p>
            <a:pPr lvl="1"/>
            <a:r>
              <a:rPr lang="en-US" dirty="0"/>
              <a:t>True or False</a:t>
            </a:r>
          </a:p>
          <a:p>
            <a:r>
              <a:rPr lang="en-US" dirty="0"/>
              <a:t>Null</a:t>
            </a:r>
          </a:p>
          <a:p>
            <a:r>
              <a:rPr lang="en-US" dirty="0"/>
              <a:t>Integer, 32 bit</a:t>
            </a:r>
          </a:p>
          <a:p>
            <a:r>
              <a:rPr lang="en-US" dirty="0"/>
              <a:t>Integer, 64 bit</a:t>
            </a:r>
          </a:p>
          <a:p>
            <a:pPr marL="0" indent="0">
              <a:buNone/>
            </a:pPr>
            <a:endParaRPr lang="en-US" dirty="0"/>
          </a:p>
        </p:txBody>
      </p:sp>
      <p:sp>
        <p:nvSpPr>
          <p:cNvPr id="4" name="Pladsholder til indhold 3"/>
          <p:cNvSpPr>
            <a:spLocks noGrp="1"/>
          </p:cNvSpPr>
          <p:nvPr>
            <p:ph sz="half" idx="2"/>
          </p:nvPr>
        </p:nvSpPr>
        <p:spPr/>
        <p:txBody>
          <a:bodyPr>
            <a:normAutofit fontScale="85000" lnSpcReduction="20000"/>
          </a:bodyPr>
          <a:lstStyle/>
          <a:p>
            <a:r>
              <a:rPr lang="en-US" dirty="0"/>
              <a:t>Date	</a:t>
            </a:r>
          </a:p>
          <a:p>
            <a:pPr lvl="1"/>
            <a:r>
              <a:rPr lang="en-US" dirty="0"/>
              <a:t>64 bit Integer</a:t>
            </a:r>
          </a:p>
          <a:p>
            <a:pPr lvl="1"/>
            <a:r>
              <a:rPr lang="en-US" dirty="0"/>
              <a:t>Number of milliseconds since Jan 1, 1970</a:t>
            </a:r>
          </a:p>
          <a:p>
            <a:pPr lvl="2"/>
            <a:r>
              <a:rPr lang="en-US" dirty="0"/>
              <a:t>Unix birthday!</a:t>
            </a:r>
          </a:p>
          <a:p>
            <a:pPr lvl="1"/>
            <a:r>
              <a:rPr lang="da-DK" dirty="0"/>
              <a:t>Date() is </a:t>
            </a:r>
            <a:r>
              <a:rPr lang="da-DK" dirty="0" err="1"/>
              <a:t>now</a:t>
            </a:r>
            <a:endParaRPr lang="da-DK" dirty="0"/>
          </a:p>
          <a:p>
            <a:pPr lvl="1"/>
            <a:r>
              <a:rPr lang="da-DK" dirty="0" err="1"/>
              <a:t>ISODate</a:t>
            </a:r>
            <a:r>
              <a:rPr lang="da-DK" dirty="0"/>
              <a:t>(”2012-07-05T01:45:20+01:00”)</a:t>
            </a:r>
          </a:p>
          <a:p>
            <a:pPr lvl="2"/>
            <a:r>
              <a:rPr lang="da-DK" dirty="0"/>
              <a:t>+01 is </a:t>
            </a:r>
            <a:r>
              <a:rPr lang="da-DK" dirty="0" err="1"/>
              <a:t>distrance</a:t>
            </a:r>
            <a:r>
              <a:rPr lang="da-DK" dirty="0"/>
              <a:t> from UTC/GMT</a:t>
            </a:r>
          </a:p>
          <a:p>
            <a:pPr lvl="2"/>
            <a:r>
              <a:rPr lang="en-US" dirty="0"/>
              <a:t>http://en.wikipedia.org/wiki/ISO_8601</a:t>
            </a:r>
          </a:p>
          <a:p>
            <a:r>
              <a:rPr lang="en-US" dirty="0"/>
              <a:t>Regular expression</a:t>
            </a:r>
          </a:p>
          <a:p>
            <a:r>
              <a:rPr lang="en-US" dirty="0"/>
              <a:t>JavaScript</a:t>
            </a:r>
          </a:p>
          <a:p>
            <a:r>
              <a:rPr lang="en-US" dirty="0"/>
              <a:t>Reference</a:t>
            </a:r>
          </a:p>
          <a:p>
            <a:pPr lvl="1"/>
            <a:r>
              <a:rPr lang="en-US" dirty="0"/>
              <a:t>http://docs.mongodb.org/manual/reference/bson-types/</a:t>
            </a:r>
          </a:p>
          <a:p>
            <a:endParaRPr lang="en-US" dirty="0"/>
          </a:p>
        </p:txBody>
      </p:sp>
      <p:sp>
        <p:nvSpPr>
          <p:cNvPr id="5" name="Pladsholder til sidefod 4"/>
          <p:cNvSpPr>
            <a:spLocks noGrp="1"/>
          </p:cNvSpPr>
          <p:nvPr>
            <p:ph type="ftr" sz="quarter" idx="11"/>
          </p:nvPr>
        </p:nvSpPr>
        <p:spPr/>
        <p:txBody>
          <a:bodyPr/>
          <a:lstStyle/>
          <a:p>
            <a:r>
              <a:rPr lang="en-US" dirty="0"/>
              <a:t>MongoDB, an introduction</a:t>
            </a:r>
          </a:p>
        </p:txBody>
      </p:sp>
      <p:sp>
        <p:nvSpPr>
          <p:cNvPr id="6" name="Pladsholder til slidenummer 5"/>
          <p:cNvSpPr>
            <a:spLocks noGrp="1"/>
          </p:cNvSpPr>
          <p:nvPr>
            <p:ph type="sldNum" sz="quarter" idx="12"/>
          </p:nvPr>
        </p:nvSpPr>
        <p:spPr/>
        <p:txBody>
          <a:bodyPr/>
          <a:lstStyle/>
          <a:p>
            <a:fld id="{EB0FFA4F-9984-4F5F-820D-2E497FFB00D5}" type="slidenum">
              <a:rPr lang="en-US" smtClean="0"/>
              <a:t>23</a:t>
            </a:fld>
            <a:endParaRPr lang="en-US" dirty="0"/>
          </a:p>
        </p:txBody>
      </p:sp>
      <p:sp>
        <p:nvSpPr>
          <p:cNvPr id="10" name="Rectangle 4"/>
          <p:cNvSpPr>
            <a:spLocks noChangeArrowheads="1"/>
          </p:cNvSpPr>
          <p:nvPr/>
        </p:nvSpPr>
        <p:spPr bwMode="auto">
          <a:xfrm>
            <a:off x="457200" y="547300"/>
            <a:ext cx="65" cy="27699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8816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The ObjectId data type</a:t>
            </a:r>
          </a:p>
        </p:txBody>
      </p:sp>
      <p:sp>
        <p:nvSpPr>
          <p:cNvPr id="6" name="Pladsholder til indhold 5"/>
          <p:cNvSpPr>
            <a:spLocks noGrp="1"/>
          </p:cNvSpPr>
          <p:nvPr>
            <p:ph idx="1"/>
          </p:nvPr>
        </p:nvSpPr>
        <p:spPr/>
        <p:txBody>
          <a:bodyPr/>
          <a:lstStyle/>
          <a:p>
            <a:r>
              <a:rPr lang="en-US" dirty="0"/>
              <a:t>12 bytes, often written using hexadecimal [0-9a-f]</a:t>
            </a:r>
          </a:p>
          <a:p>
            <a:pPr lvl="1"/>
            <a:r>
              <a:rPr lang="en-US" dirty="0"/>
              <a:t>4 bytes timestamp (time for object creation)</a:t>
            </a:r>
          </a:p>
          <a:p>
            <a:pPr lvl="1"/>
            <a:r>
              <a:rPr lang="en-US" dirty="0"/>
              <a:t>3 bytes machine identifier</a:t>
            </a:r>
          </a:p>
          <a:p>
            <a:pPr lvl="1"/>
            <a:r>
              <a:rPr lang="en-US" dirty="0"/>
              <a:t>2 bytes process identifier</a:t>
            </a:r>
          </a:p>
          <a:p>
            <a:pPr lvl="1"/>
            <a:r>
              <a:rPr lang="en-US" dirty="0"/>
              <a:t>3 byte counter</a:t>
            </a:r>
          </a:p>
          <a:p>
            <a:r>
              <a:rPr lang="en-US" dirty="0"/>
              <a:t>Reference</a:t>
            </a:r>
          </a:p>
          <a:p>
            <a:pPr lvl="1"/>
            <a:r>
              <a:rPr lang="en-US" dirty="0"/>
              <a:t>http://docs.mongodb.org/manual/reference/object-id/</a:t>
            </a:r>
          </a:p>
        </p:txBody>
      </p:sp>
      <p:sp>
        <p:nvSpPr>
          <p:cNvPr id="2" name="Pladsholder til sidefod 1"/>
          <p:cNvSpPr>
            <a:spLocks noGrp="1"/>
          </p:cNvSpPr>
          <p:nvPr>
            <p:ph type="ftr" sz="quarter" idx="11"/>
          </p:nvPr>
        </p:nvSpPr>
        <p:spPr/>
        <p:txBody>
          <a:bodyPr/>
          <a:lstStyle/>
          <a:p>
            <a:r>
              <a:rPr lang="en-US" dirty="0"/>
              <a:t>MongoDB, an introduction</a:t>
            </a:r>
          </a:p>
        </p:txBody>
      </p:sp>
      <p:sp>
        <p:nvSpPr>
          <p:cNvPr id="3" name="Pladsholder til slidenummer 2"/>
          <p:cNvSpPr>
            <a:spLocks noGrp="1"/>
          </p:cNvSpPr>
          <p:nvPr>
            <p:ph type="sldNum" sz="quarter" idx="12"/>
          </p:nvPr>
        </p:nvSpPr>
        <p:spPr/>
        <p:txBody>
          <a:bodyPr/>
          <a:lstStyle/>
          <a:p>
            <a:fld id="{EB0FFA4F-9984-4F5F-820D-2E497FFB00D5}" type="slidenum">
              <a:rPr lang="en-US" smtClean="0"/>
              <a:t>24</a:t>
            </a:fld>
            <a:endParaRPr lang="en-US" dirty="0"/>
          </a:p>
        </p:txBody>
      </p:sp>
    </p:spTree>
    <p:extLst>
      <p:ext uri="{BB962C8B-B14F-4D97-AF65-F5344CB8AC3E}">
        <p14:creationId xmlns:p14="http://schemas.microsoft.com/office/powerpoint/2010/main" val="2189310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MongoDB terms</a:t>
            </a:r>
            <a:endParaRPr lang="en-US" dirty="0"/>
          </a:p>
        </p:txBody>
      </p:sp>
      <p:sp>
        <p:nvSpPr>
          <p:cNvPr id="3" name="Pladsholder til indhold 2"/>
          <p:cNvSpPr>
            <a:spLocks noGrp="1"/>
          </p:cNvSpPr>
          <p:nvPr>
            <p:ph idx="1"/>
          </p:nvPr>
        </p:nvSpPr>
        <p:spPr/>
        <p:txBody>
          <a:bodyPr>
            <a:normAutofit/>
          </a:bodyPr>
          <a:lstStyle/>
          <a:p>
            <a:r>
              <a:rPr lang="en-US" dirty="0"/>
              <a:t>Database</a:t>
            </a:r>
          </a:p>
          <a:p>
            <a:pPr lvl="1"/>
            <a:r>
              <a:rPr lang="en-US" dirty="0"/>
              <a:t>Holds of a </a:t>
            </a:r>
            <a:r>
              <a:rPr lang="en-US" i="1" dirty="0"/>
              <a:t>set</a:t>
            </a:r>
            <a:r>
              <a:rPr lang="en-US" dirty="0"/>
              <a:t> of </a:t>
            </a:r>
            <a:r>
              <a:rPr lang="en-US" i="1" dirty="0"/>
              <a:t>collections</a:t>
            </a:r>
            <a:endParaRPr lang="en-US" dirty="0"/>
          </a:p>
          <a:p>
            <a:pPr lvl="1"/>
            <a:r>
              <a:rPr lang="en-US" dirty="0"/>
              <a:t>Each database has a name</a:t>
            </a:r>
          </a:p>
          <a:p>
            <a:r>
              <a:rPr lang="da-DK" dirty="0"/>
              <a:t>Collection</a:t>
            </a:r>
            <a:endParaRPr lang="en-US" dirty="0"/>
          </a:p>
          <a:p>
            <a:pPr lvl="1"/>
            <a:r>
              <a:rPr lang="en-US" dirty="0"/>
              <a:t>Holds a </a:t>
            </a:r>
            <a:r>
              <a:rPr lang="en-US" i="1" dirty="0"/>
              <a:t>set</a:t>
            </a:r>
            <a:r>
              <a:rPr lang="en-US" dirty="0"/>
              <a:t> of </a:t>
            </a:r>
            <a:r>
              <a:rPr lang="en-US" i="1" dirty="0"/>
              <a:t>documents.</a:t>
            </a:r>
          </a:p>
          <a:p>
            <a:pPr lvl="1"/>
            <a:r>
              <a:rPr lang="en-US" dirty="0"/>
              <a:t>Dynamic schema / heterogeneous collection</a:t>
            </a:r>
          </a:p>
          <a:p>
            <a:pPr lvl="2"/>
            <a:r>
              <a:rPr lang="en-US" dirty="0"/>
              <a:t>A collection can hold documents with different structures</a:t>
            </a:r>
          </a:p>
          <a:p>
            <a:pPr lvl="1"/>
            <a:r>
              <a:rPr lang="en-US" dirty="0"/>
              <a:t>Each collection has a name</a:t>
            </a:r>
          </a:p>
          <a:p>
            <a:r>
              <a:rPr lang="da-DK" dirty="0"/>
              <a:t>Document</a:t>
            </a:r>
          </a:p>
          <a:p>
            <a:pPr lvl="1"/>
            <a:r>
              <a:rPr lang="en-US" dirty="0"/>
              <a:t>A set of (key, value) pairs</a:t>
            </a:r>
          </a:p>
          <a:p>
            <a:pPr lvl="1"/>
            <a:r>
              <a:rPr lang="en-US" dirty="0"/>
              <a:t>Each document has an ObjectId</a:t>
            </a:r>
          </a:p>
          <a:p>
            <a:pPr marL="0" indent="0">
              <a:buNone/>
            </a:pPr>
            <a:endParaRPr lang="da-DK"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25</a:t>
            </a:fld>
            <a:endParaRPr lang="en-US" dirty="0"/>
          </a:p>
        </p:txBody>
      </p:sp>
    </p:spTree>
    <p:extLst>
      <p:ext uri="{BB962C8B-B14F-4D97-AF65-F5344CB8AC3E}">
        <p14:creationId xmlns:p14="http://schemas.microsoft.com/office/powerpoint/2010/main" val="1156514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Capped collections</a:t>
            </a:r>
          </a:p>
        </p:txBody>
      </p:sp>
      <p:sp>
        <p:nvSpPr>
          <p:cNvPr id="3" name="Pladsholder til indhold 2"/>
          <p:cNvSpPr>
            <a:spLocks noGrp="1"/>
          </p:cNvSpPr>
          <p:nvPr>
            <p:ph idx="1"/>
          </p:nvPr>
        </p:nvSpPr>
        <p:spPr/>
        <p:txBody>
          <a:bodyPr/>
          <a:lstStyle/>
          <a:p>
            <a:r>
              <a:rPr lang="en-US" dirty="0"/>
              <a:t>Capped collection</a:t>
            </a:r>
          </a:p>
          <a:p>
            <a:pPr lvl="1"/>
            <a:r>
              <a:rPr lang="en-US" dirty="0"/>
              <a:t>Fixed size</a:t>
            </a:r>
          </a:p>
          <a:p>
            <a:pPr lvl="1"/>
            <a:r>
              <a:rPr lang="en-US" dirty="0"/>
              <a:t>Full: Make room for new document, by overwriting the oldest document</a:t>
            </a:r>
          </a:p>
          <a:p>
            <a:pPr lvl="2"/>
            <a:r>
              <a:rPr lang="en-US" dirty="0"/>
              <a:t>Like circular buffer</a:t>
            </a:r>
          </a:p>
          <a:p>
            <a:pPr lvl="2"/>
            <a:r>
              <a:rPr lang="en-US" dirty="0"/>
              <a:t>Insertion order is preserved</a:t>
            </a:r>
          </a:p>
          <a:p>
            <a:pPr lvl="1"/>
            <a:r>
              <a:rPr lang="en-US" dirty="0"/>
              <a:t>Usage example: Log</a:t>
            </a:r>
          </a:p>
          <a:p>
            <a:pPr lvl="1"/>
            <a:r>
              <a:rPr lang="en-US" dirty="0"/>
              <a:t>Creation</a:t>
            </a:r>
          </a:p>
          <a:p>
            <a:pPr lvl="2"/>
            <a:r>
              <a:rPr lang="en-US" dirty="0"/>
              <a:t>Db.createCollection(”log”, {capped: true, size:10000, max:1000} );</a:t>
            </a:r>
          </a:p>
          <a:p>
            <a:pPr lvl="1"/>
            <a:r>
              <a:rPr lang="en-US" dirty="0"/>
              <a:t>Source</a:t>
            </a:r>
          </a:p>
          <a:p>
            <a:pPr lvl="2"/>
            <a:r>
              <a:rPr lang="en-US" dirty="0"/>
              <a:t>http://docs.mongodb.org/manual/core/capped-collections/</a:t>
            </a:r>
          </a:p>
          <a:p>
            <a:endParaRPr lang="en-US"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26</a:t>
            </a:fld>
            <a:endParaRPr lang="en-US" dirty="0"/>
          </a:p>
        </p:txBody>
      </p:sp>
    </p:spTree>
    <p:extLst>
      <p:ext uri="{BB962C8B-B14F-4D97-AF65-F5344CB8AC3E}">
        <p14:creationId xmlns:p14="http://schemas.microsoft.com/office/powerpoint/2010/main" val="3465482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Atomic write operations</a:t>
            </a:r>
          </a:p>
        </p:txBody>
      </p:sp>
      <p:sp>
        <p:nvSpPr>
          <p:cNvPr id="3" name="Pladsholder til indhold 2"/>
          <p:cNvSpPr>
            <a:spLocks noGrp="1"/>
          </p:cNvSpPr>
          <p:nvPr>
            <p:ph idx="1"/>
          </p:nvPr>
        </p:nvSpPr>
        <p:spPr/>
        <p:txBody>
          <a:bodyPr/>
          <a:lstStyle/>
          <a:p>
            <a:r>
              <a:rPr lang="en-US" dirty="0"/>
              <a:t>Relational DBMS has transactions</a:t>
            </a:r>
          </a:p>
          <a:p>
            <a:pPr lvl="1"/>
            <a:r>
              <a:rPr lang="en-US" dirty="0"/>
              <a:t>ACID properties</a:t>
            </a:r>
          </a:p>
          <a:p>
            <a:r>
              <a:rPr lang="en-US" dirty="0"/>
              <a:t>MongoDB has atomic write operations</a:t>
            </a:r>
          </a:p>
          <a:p>
            <a:pPr lvl="1"/>
            <a:r>
              <a:rPr lang="en-US" dirty="0"/>
              <a:t>Only one process can update a single document at the same time</a:t>
            </a:r>
          </a:p>
          <a:p>
            <a:pPr lvl="1"/>
            <a:r>
              <a:rPr lang="en-US" dirty="0"/>
              <a:t>Updating a document + a referenced document is two writes</a:t>
            </a:r>
          </a:p>
          <a:p>
            <a:pPr lvl="2"/>
            <a:r>
              <a:rPr lang="en-US" dirty="0"/>
              <a:t>Not atomic</a:t>
            </a:r>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27</a:t>
            </a:fld>
            <a:endParaRPr lang="en-US" dirty="0"/>
          </a:p>
        </p:txBody>
      </p:sp>
    </p:spTree>
    <p:extLst>
      <p:ext uri="{BB962C8B-B14F-4D97-AF65-F5344CB8AC3E}">
        <p14:creationId xmlns:p14="http://schemas.microsoft.com/office/powerpoint/2010/main" val="2107436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Terms, MongoDB vs. Relational DBMS</a:t>
            </a:r>
          </a:p>
        </p:txBody>
      </p:sp>
      <p:graphicFrame>
        <p:nvGraphicFramePr>
          <p:cNvPr id="4" name="Pladsholder til indhold 3"/>
          <p:cNvGraphicFramePr>
            <a:graphicFrameLocks noGrp="1"/>
          </p:cNvGraphicFramePr>
          <p:nvPr>
            <p:ph idx="1"/>
          </p:nvPr>
        </p:nvGraphicFramePr>
        <p:xfrm>
          <a:off x="838200" y="1825625"/>
          <a:ext cx="10515600" cy="29667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dirty="0"/>
                        <a:t>MongoDB</a:t>
                      </a:r>
                    </a:p>
                  </a:txBody>
                  <a:tcPr/>
                </a:tc>
                <a:tc>
                  <a:txBody>
                    <a:bodyPr/>
                    <a:lstStyle/>
                    <a:p>
                      <a:r>
                        <a:rPr lang="en-US" dirty="0"/>
                        <a:t>Relational</a:t>
                      </a:r>
                      <a:r>
                        <a:rPr lang="en-US" baseline="0" dirty="0"/>
                        <a:t> DBMS</a:t>
                      </a:r>
                      <a:endParaRPr lang="en-US" dirty="0"/>
                    </a:p>
                  </a:txBody>
                  <a:tcPr/>
                </a:tc>
                <a:extLst>
                  <a:ext uri="{0D108BD9-81ED-4DB2-BD59-A6C34878D82A}">
                    <a16:rowId xmlns:a16="http://schemas.microsoft.com/office/drawing/2014/main" val="10000"/>
                  </a:ext>
                </a:extLst>
              </a:tr>
              <a:tr h="370840">
                <a:tc>
                  <a:txBody>
                    <a:bodyPr/>
                    <a:lstStyle/>
                    <a:p>
                      <a:r>
                        <a:rPr lang="en-US" dirty="0"/>
                        <a:t>Collection</a:t>
                      </a:r>
                    </a:p>
                  </a:txBody>
                  <a:tcPr/>
                </a:tc>
                <a:tc>
                  <a:txBody>
                    <a:bodyPr/>
                    <a:lstStyle/>
                    <a:p>
                      <a:r>
                        <a:rPr lang="en-US" dirty="0"/>
                        <a:t>Table</a:t>
                      </a:r>
                    </a:p>
                  </a:txBody>
                  <a:tcPr/>
                </a:tc>
                <a:extLst>
                  <a:ext uri="{0D108BD9-81ED-4DB2-BD59-A6C34878D82A}">
                    <a16:rowId xmlns:a16="http://schemas.microsoft.com/office/drawing/2014/main" val="10001"/>
                  </a:ext>
                </a:extLst>
              </a:tr>
              <a:tr h="370840">
                <a:tc>
                  <a:txBody>
                    <a:bodyPr/>
                    <a:lstStyle/>
                    <a:p>
                      <a:r>
                        <a:rPr lang="en-US" dirty="0"/>
                        <a:t>BSON document</a:t>
                      </a:r>
                    </a:p>
                  </a:txBody>
                  <a:tcPr/>
                </a:tc>
                <a:tc>
                  <a:txBody>
                    <a:bodyPr/>
                    <a:lstStyle/>
                    <a:p>
                      <a:r>
                        <a:rPr lang="en-US" dirty="0"/>
                        <a:t>Row</a:t>
                      </a:r>
                    </a:p>
                  </a:txBody>
                  <a:tcPr/>
                </a:tc>
                <a:extLst>
                  <a:ext uri="{0D108BD9-81ED-4DB2-BD59-A6C34878D82A}">
                    <a16:rowId xmlns:a16="http://schemas.microsoft.com/office/drawing/2014/main" val="10002"/>
                  </a:ext>
                </a:extLst>
              </a:tr>
              <a:tr h="370840">
                <a:tc>
                  <a:txBody>
                    <a:bodyPr/>
                    <a:lstStyle/>
                    <a:p>
                      <a:r>
                        <a:rPr lang="en-US" dirty="0"/>
                        <a:t>BSON field</a:t>
                      </a:r>
                    </a:p>
                  </a:txBody>
                  <a:tcPr/>
                </a:tc>
                <a:tc>
                  <a:txBody>
                    <a:bodyPr/>
                    <a:lstStyle/>
                    <a:p>
                      <a:r>
                        <a:rPr lang="en-US" dirty="0"/>
                        <a:t>Column</a:t>
                      </a:r>
                    </a:p>
                  </a:txBody>
                  <a:tcPr/>
                </a:tc>
                <a:extLst>
                  <a:ext uri="{0D108BD9-81ED-4DB2-BD59-A6C34878D82A}">
                    <a16:rowId xmlns:a16="http://schemas.microsoft.com/office/drawing/2014/main" val="10003"/>
                  </a:ext>
                </a:extLst>
              </a:tr>
              <a:tr h="370840">
                <a:tc>
                  <a:txBody>
                    <a:bodyPr/>
                    <a:lstStyle/>
                    <a:p>
                      <a:r>
                        <a:rPr lang="en-US" dirty="0"/>
                        <a:t>Index</a:t>
                      </a:r>
                    </a:p>
                  </a:txBody>
                  <a:tcPr/>
                </a:tc>
                <a:tc>
                  <a:txBody>
                    <a:bodyPr/>
                    <a:lstStyle/>
                    <a:p>
                      <a:r>
                        <a:rPr lang="en-US" dirty="0"/>
                        <a:t>Index</a:t>
                      </a:r>
                    </a:p>
                  </a:txBody>
                  <a:tcPr/>
                </a:tc>
                <a:extLst>
                  <a:ext uri="{0D108BD9-81ED-4DB2-BD59-A6C34878D82A}">
                    <a16:rowId xmlns:a16="http://schemas.microsoft.com/office/drawing/2014/main" val="10004"/>
                  </a:ext>
                </a:extLst>
              </a:tr>
              <a:tr h="370840">
                <a:tc>
                  <a:txBody>
                    <a:bodyPr/>
                    <a:lstStyle/>
                    <a:p>
                      <a:r>
                        <a:rPr lang="en-US" dirty="0"/>
                        <a:t>Embedded document</a:t>
                      </a:r>
                    </a:p>
                  </a:txBody>
                  <a:tcPr/>
                </a:tc>
                <a:tc>
                  <a:txBody>
                    <a:bodyPr/>
                    <a:lstStyle/>
                    <a:p>
                      <a:r>
                        <a:rPr lang="en-US" dirty="0"/>
                        <a:t>Join</a:t>
                      </a:r>
                    </a:p>
                  </a:txBody>
                  <a:tcPr/>
                </a:tc>
                <a:extLst>
                  <a:ext uri="{0D108BD9-81ED-4DB2-BD59-A6C34878D82A}">
                    <a16:rowId xmlns:a16="http://schemas.microsoft.com/office/drawing/2014/main" val="10005"/>
                  </a:ext>
                </a:extLst>
              </a:tr>
              <a:tr h="370840">
                <a:tc>
                  <a:txBody>
                    <a:bodyPr/>
                    <a:lstStyle/>
                    <a:p>
                      <a:r>
                        <a:rPr lang="en-US" dirty="0"/>
                        <a:t>Shard</a:t>
                      </a:r>
                    </a:p>
                  </a:txBody>
                  <a:tcPr/>
                </a:tc>
                <a:tc>
                  <a:txBody>
                    <a:bodyPr/>
                    <a:lstStyle/>
                    <a:p>
                      <a:r>
                        <a:rPr lang="en-US" dirty="0"/>
                        <a:t>Partition</a:t>
                      </a:r>
                    </a:p>
                  </a:txBody>
                  <a:tcPr/>
                </a:tc>
                <a:extLst>
                  <a:ext uri="{0D108BD9-81ED-4DB2-BD59-A6C34878D82A}">
                    <a16:rowId xmlns:a16="http://schemas.microsoft.com/office/drawing/2014/main" val="10006"/>
                  </a:ext>
                </a:extLst>
              </a:tr>
              <a:tr h="370840">
                <a:tc>
                  <a:txBody>
                    <a:bodyPr/>
                    <a:lstStyle/>
                    <a:p>
                      <a:r>
                        <a:rPr lang="en-US" dirty="0"/>
                        <a:t>Shard key</a:t>
                      </a:r>
                    </a:p>
                  </a:txBody>
                  <a:tcPr/>
                </a:tc>
                <a:tc>
                  <a:txBody>
                    <a:bodyPr/>
                    <a:lstStyle/>
                    <a:p>
                      <a:r>
                        <a:rPr lang="en-US" dirty="0"/>
                        <a:t>Partition key</a:t>
                      </a:r>
                    </a:p>
                  </a:txBody>
                  <a:tcPr/>
                </a:tc>
                <a:extLst>
                  <a:ext uri="{0D108BD9-81ED-4DB2-BD59-A6C34878D82A}">
                    <a16:rowId xmlns:a16="http://schemas.microsoft.com/office/drawing/2014/main" val="10007"/>
                  </a:ext>
                </a:extLst>
              </a:tr>
            </a:tbl>
          </a:graphicData>
        </a:graphic>
      </p:graphicFrame>
      <p:sp>
        <p:nvSpPr>
          <p:cNvPr id="3" name="Pladsholder til sidefod 2"/>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28</a:t>
            </a:fld>
            <a:endParaRPr lang="en-US" dirty="0"/>
          </a:p>
        </p:txBody>
      </p:sp>
    </p:spTree>
    <p:extLst>
      <p:ext uri="{BB962C8B-B14F-4D97-AF65-F5344CB8AC3E}">
        <p14:creationId xmlns:p14="http://schemas.microsoft.com/office/powerpoint/2010/main" val="103387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Query language / API</a:t>
            </a:r>
          </a:p>
        </p:txBody>
      </p:sp>
      <p:sp>
        <p:nvSpPr>
          <p:cNvPr id="3" name="Pladsholder til indhold 2"/>
          <p:cNvSpPr>
            <a:spLocks noGrp="1"/>
          </p:cNvSpPr>
          <p:nvPr>
            <p:ph idx="1"/>
          </p:nvPr>
        </p:nvSpPr>
        <p:spPr/>
        <p:txBody>
          <a:bodyPr>
            <a:normAutofit/>
          </a:bodyPr>
          <a:lstStyle/>
          <a:p>
            <a:r>
              <a:rPr lang="en-US" dirty="0"/>
              <a:t>Find documents in a collection</a:t>
            </a:r>
          </a:p>
          <a:p>
            <a:pPr lvl="1"/>
            <a:r>
              <a:rPr lang="en-US" dirty="0"/>
              <a:t>db.books.find(…)</a:t>
            </a:r>
          </a:p>
          <a:p>
            <a:r>
              <a:rPr lang="en-US" dirty="0"/>
              <a:t>Save documents to a collection</a:t>
            </a:r>
          </a:p>
          <a:p>
            <a:pPr lvl="1"/>
            <a:r>
              <a:rPr lang="en-US" dirty="0"/>
              <a:t>Db.collection.save(…)</a:t>
            </a:r>
          </a:p>
          <a:p>
            <a:pPr lvl="1"/>
            <a:r>
              <a:rPr lang="en-US" dirty="0"/>
              <a:t>Db.collection.insert(…)</a:t>
            </a:r>
          </a:p>
          <a:p>
            <a:r>
              <a:rPr lang="en-US" dirty="0"/>
              <a:t>Update documents in a collection</a:t>
            </a:r>
          </a:p>
          <a:p>
            <a:pPr lvl="1"/>
            <a:r>
              <a:rPr lang="en-US" dirty="0"/>
              <a:t>Db.collection.update(…)</a:t>
            </a:r>
          </a:p>
          <a:p>
            <a:r>
              <a:rPr lang="en-US" dirty="0"/>
              <a:t>Remove documents from a collection</a:t>
            </a:r>
          </a:p>
          <a:p>
            <a:pPr lvl="1"/>
            <a:r>
              <a:rPr lang="en-US" dirty="0"/>
              <a:t>Db.collection.remove(…)</a:t>
            </a:r>
          </a:p>
          <a:p>
            <a:pPr lvl="1"/>
            <a:endParaRPr lang="en-US"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29</a:t>
            </a:fld>
            <a:endParaRPr lang="en-US" dirty="0"/>
          </a:p>
        </p:txBody>
      </p:sp>
    </p:spTree>
    <p:extLst>
      <p:ext uri="{BB962C8B-B14F-4D97-AF65-F5344CB8AC3E}">
        <p14:creationId xmlns:p14="http://schemas.microsoft.com/office/powerpoint/2010/main" val="736071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Save(…) vs. insert(…)</a:t>
            </a:r>
          </a:p>
        </p:txBody>
      </p:sp>
      <p:sp>
        <p:nvSpPr>
          <p:cNvPr id="3" name="Pladsholder til indhold 2"/>
          <p:cNvSpPr>
            <a:spLocks noGrp="1"/>
          </p:cNvSpPr>
          <p:nvPr>
            <p:ph sz="half" idx="1"/>
          </p:nvPr>
        </p:nvSpPr>
        <p:spPr>
          <a:xfrm>
            <a:off x="838200" y="1887354"/>
            <a:ext cx="5181600" cy="4598534"/>
          </a:xfrm>
        </p:spPr>
        <p:txBody>
          <a:bodyPr>
            <a:normAutofit fontScale="85000" lnSpcReduction="20000"/>
          </a:bodyPr>
          <a:lstStyle/>
          <a:p>
            <a:r>
              <a:rPr lang="en-US" dirty="0"/>
              <a:t>Db.collection.save(document)</a:t>
            </a:r>
          </a:p>
          <a:p>
            <a:pPr lvl="1"/>
            <a:r>
              <a:rPr lang="en-US" dirty="0"/>
              <a:t>Saves a document to the collection.</a:t>
            </a:r>
          </a:p>
          <a:p>
            <a:r>
              <a:rPr lang="en-US" dirty="0"/>
              <a:t>Example, without _id</a:t>
            </a:r>
          </a:p>
          <a:p>
            <a:pPr marL="457200" lvl="1" indent="0">
              <a:buNone/>
            </a:pPr>
            <a:r>
              <a:rPr lang="en-US" dirty="0"/>
              <a:t>db.books.save( {</a:t>
            </a:r>
          </a:p>
          <a:p>
            <a:pPr marL="457200" lvl="1" indent="0">
              <a:buNone/>
            </a:pPr>
            <a:r>
              <a:rPr lang="en-US" dirty="0"/>
              <a:t>    title: "Beginning Android 4",</a:t>
            </a:r>
          </a:p>
          <a:p>
            <a:pPr marL="457200" lvl="1" indent="0">
              <a:buNone/>
            </a:pPr>
            <a:r>
              <a:rPr lang="en-US" dirty="0"/>
              <a:t>    pages : 531</a:t>
            </a:r>
          </a:p>
          <a:p>
            <a:pPr marL="457200" lvl="1" indent="0">
              <a:buNone/>
            </a:pPr>
            <a:r>
              <a:rPr lang="en-US" dirty="0"/>
              <a:t>});</a:t>
            </a:r>
          </a:p>
          <a:p>
            <a:pPr lvl="1"/>
            <a:r>
              <a:rPr lang="en-US" dirty="0"/>
              <a:t>The DBMS create a value for the _id field</a:t>
            </a:r>
          </a:p>
          <a:p>
            <a:r>
              <a:rPr lang="en-US" dirty="0"/>
              <a:t>Example, with _id</a:t>
            </a:r>
          </a:p>
          <a:p>
            <a:pPr marL="457200" lvl="1" indent="0">
              <a:buNone/>
            </a:pPr>
            <a:r>
              <a:rPr lang="en-US" dirty="0"/>
              <a:t>db.books.save( {</a:t>
            </a:r>
          </a:p>
          <a:p>
            <a:pPr marL="457200" lvl="1" indent="0">
              <a:buNone/>
            </a:pPr>
            <a:r>
              <a:rPr lang="en-US" dirty="0"/>
              <a:t>    _id : 123,</a:t>
            </a:r>
          </a:p>
          <a:p>
            <a:pPr marL="457200" lvl="1" indent="0">
              <a:buNone/>
            </a:pPr>
            <a:r>
              <a:rPr lang="en-US" dirty="0"/>
              <a:t>    title: "Oracle PL/SQL Programming"</a:t>
            </a:r>
          </a:p>
          <a:p>
            <a:pPr marL="457200" lvl="1" indent="0">
              <a:buNone/>
            </a:pPr>
            <a:r>
              <a:rPr lang="en-US" dirty="0"/>
              <a:t>});</a:t>
            </a:r>
          </a:p>
          <a:p>
            <a:pPr lvl="1"/>
            <a:r>
              <a:rPr lang="en-US" dirty="0">
                <a:solidFill>
                  <a:srgbClr val="C00000"/>
                </a:solidFill>
              </a:rPr>
              <a:t>If the _id:123 exists the new document will replace the old document</a:t>
            </a:r>
          </a:p>
          <a:p>
            <a:r>
              <a:rPr lang="en-US" dirty="0"/>
              <a:t>Source</a:t>
            </a:r>
          </a:p>
          <a:p>
            <a:pPr lvl="1"/>
            <a:r>
              <a:rPr lang="en-US" dirty="0"/>
              <a:t>http://docs.mongodb.org/manual/reference/method/db.collection.save/</a:t>
            </a:r>
          </a:p>
          <a:p>
            <a:pPr lvl="1"/>
            <a:endParaRPr lang="en-US" dirty="0"/>
          </a:p>
        </p:txBody>
      </p:sp>
      <p:sp>
        <p:nvSpPr>
          <p:cNvPr id="4" name="Pladsholder til indhold 3"/>
          <p:cNvSpPr>
            <a:spLocks noGrp="1"/>
          </p:cNvSpPr>
          <p:nvPr>
            <p:ph sz="half" idx="2"/>
          </p:nvPr>
        </p:nvSpPr>
        <p:spPr>
          <a:xfrm>
            <a:off x="6172200" y="1999613"/>
            <a:ext cx="5181600" cy="4486275"/>
          </a:xfrm>
        </p:spPr>
        <p:txBody>
          <a:bodyPr>
            <a:normAutofit fontScale="85000" lnSpcReduction="20000"/>
          </a:bodyPr>
          <a:lstStyle/>
          <a:p>
            <a:r>
              <a:rPr lang="en-US" dirty="0"/>
              <a:t>Db.collection.insert(document)</a:t>
            </a:r>
          </a:p>
          <a:p>
            <a:pPr lvl="1"/>
            <a:r>
              <a:rPr lang="en-US" dirty="0"/>
              <a:t>Inserts a document into the collection</a:t>
            </a:r>
          </a:p>
          <a:p>
            <a:r>
              <a:rPr lang="en-US" dirty="0"/>
              <a:t>Example, without _id</a:t>
            </a:r>
          </a:p>
          <a:p>
            <a:pPr marL="457200" lvl="1" indent="0">
              <a:buNone/>
            </a:pPr>
            <a:r>
              <a:rPr lang="en-US" dirty="0"/>
              <a:t>db.books.insert( {</a:t>
            </a:r>
          </a:p>
          <a:p>
            <a:pPr marL="457200" lvl="1" indent="0">
              <a:buNone/>
            </a:pPr>
            <a:r>
              <a:rPr lang="en-US" dirty="0"/>
              <a:t>     title: "Oracle PL/SQL Programming"</a:t>
            </a:r>
          </a:p>
          <a:p>
            <a:pPr marL="457200" lvl="1" indent="0">
              <a:buNone/>
            </a:pPr>
            <a:r>
              <a:rPr lang="en-US" dirty="0"/>
              <a:t>});</a:t>
            </a:r>
          </a:p>
          <a:p>
            <a:pPr lvl="1"/>
            <a:r>
              <a:rPr lang="en-US" dirty="0"/>
              <a:t>The DBMS create a value for the _id field</a:t>
            </a:r>
          </a:p>
          <a:p>
            <a:r>
              <a:rPr lang="en-US" dirty="0"/>
              <a:t>Example, with _id</a:t>
            </a:r>
          </a:p>
          <a:p>
            <a:pPr marL="457200" lvl="1" indent="0">
              <a:buNone/>
            </a:pPr>
            <a:r>
              <a:rPr lang="en-US" dirty="0"/>
              <a:t>db.books.insert( {</a:t>
            </a:r>
          </a:p>
          <a:p>
            <a:pPr marL="457200" lvl="1" indent="0">
              <a:buNone/>
            </a:pPr>
            <a:r>
              <a:rPr lang="en-US" dirty="0"/>
              <a:t>    _id: 123,</a:t>
            </a:r>
          </a:p>
          <a:p>
            <a:pPr marL="457200" lvl="1" indent="0">
              <a:buNone/>
            </a:pPr>
            <a:r>
              <a:rPr lang="en-US" dirty="0"/>
              <a:t>    title: "Mastering Oracle SQL"</a:t>
            </a:r>
          </a:p>
          <a:p>
            <a:pPr marL="457200" lvl="1" indent="0">
              <a:buNone/>
            </a:pPr>
            <a:r>
              <a:rPr lang="en-US" dirty="0"/>
              <a:t>});</a:t>
            </a:r>
          </a:p>
          <a:p>
            <a:pPr lvl="1"/>
            <a:r>
              <a:rPr lang="en-US" dirty="0">
                <a:solidFill>
                  <a:srgbClr val="C00000"/>
                </a:solidFill>
              </a:rPr>
              <a:t>If the _id:123 exists the new document will be </a:t>
            </a:r>
            <a:r>
              <a:rPr lang="en-US" i="1" dirty="0">
                <a:solidFill>
                  <a:srgbClr val="C00000"/>
                </a:solidFill>
              </a:rPr>
              <a:t>rejected</a:t>
            </a:r>
            <a:r>
              <a:rPr lang="en-US" dirty="0">
                <a:solidFill>
                  <a:srgbClr val="C00000"/>
                </a:solidFill>
              </a:rPr>
              <a:t>.</a:t>
            </a:r>
          </a:p>
          <a:p>
            <a:pPr lvl="2"/>
            <a:r>
              <a:rPr lang="en-US" dirty="0">
                <a:solidFill>
                  <a:srgbClr val="C00000"/>
                </a:solidFill>
              </a:rPr>
              <a:t>… duplicate key error …</a:t>
            </a:r>
          </a:p>
          <a:p>
            <a:r>
              <a:rPr lang="en-US" dirty="0"/>
              <a:t>Source</a:t>
            </a:r>
          </a:p>
          <a:p>
            <a:pPr lvl="1"/>
            <a:r>
              <a:rPr lang="en-US" dirty="0"/>
              <a:t>http://docs.mongodb.org/manual/reference/method/db.collection.insert/</a:t>
            </a:r>
          </a:p>
          <a:p>
            <a:pPr lvl="1"/>
            <a:endParaRPr lang="en-US" dirty="0"/>
          </a:p>
          <a:p>
            <a:pPr lvl="1"/>
            <a:endParaRPr lang="en-US" dirty="0"/>
          </a:p>
        </p:txBody>
      </p:sp>
      <p:sp>
        <p:nvSpPr>
          <p:cNvPr id="5" name="Pladsholder til sidefod 4"/>
          <p:cNvSpPr>
            <a:spLocks noGrp="1"/>
          </p:cNvSpPr>
          <p:nvPr>
            <p:ph type="ftr" sz="quarter" idx="11"/>
          </p:nvPr>
        </p:nvSpPr>
        <p:spPr/>
        <p:txBody>
          <a:bodyPr/>
          <a:lstStyle/>
          <a:p>
            <a:r>
              <a:rPr lang="en-US" dirty="0"/>
              <a:t>MongoDB, an introduction</a:t>
            </a:r>
          </a:p>
        </p:txBody>
      </p:sp>
      <p:sp>
        <p:nvSpPr>
          <p:cNvPr id="6" name="Pladsholder til slidenummer 5"/>
          <p:cNvSpPr>
            <a:spLocks noGrp="1"/>
          </p:cNvSpPr>
          <p:nvPr>
            <p:ph type="sldNum" sz="quarter" idx="12"/>
          </p:nvPr>
        </p:nvSpPr>
        <p:spPr/>
        <p:txBody>
          <a:bodyPr/>
          <a:lstStyle/>
          <a:p>
            <a:fld id="{EB0FFA4F-9984-4F5F-820D-2E497FFB00D5}" type="slidenum">
              <a:rPr lang="en-US" smtClean="0"/>
              <a:t>30</a:t>
            </a:fld>
            <a:endParaRPr lang="en-US" dirty="0"/>
          </a:p>
        </p:txBody>
      </p:sp>
    </p:spTree>
    <p:extLst>
      <p:ext uri="{BB962C8B-B14F-4D97-AF65-F5344CB8AC3E}">
        <p14:creationId xmlns:p14="http://schemas.microsoft.com/office/powerpoint/2010/main" val="3061413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Update(…)</a:t>
            </a:r>
          </a:p>
        </p:txBody>
      </p:sp>
      <p:sp>
        <p:nvSpPr>
          <p:cNvPr id="6" name="Pladsholder til indhold 5"/>
          <p:cNvSpPr>
            <a:spLocks noGrp="1"/>
          </p:cNvSpPr>
          <p:nvPr>
            <p:ph sz="half" idx="1"/>
          </p:nvPr>
        </p:nvSpPr>
        <p:spPr/>
        <p:txBody>
          <a:bodyPr>
            <a:normAutofit/>
          </a:bodyPr>
          <a:lstStyle/>
          <a:p>
            <a:r>
              <a:rPr lang="en-US" dirty="0"/>
              <a:t>Update one or more documents in a collection</a:t>
            </a:r>
          </a:p>
          <a:p>
            <a:pPr lvl="1"/>
            <a:r>
              <a:rPr lang="en-US" dirty="0"/>
              <a:t>… or replace document(s)</a:t>
            </a:r>
          </a:p>
          <a:p>
            <a:r>
              <a:rPr lang="en-US" dirty="0"/>
              <a:t>General syntax</a:t>
            </a:r>
          </a:p>
          <a:p>
            <a:pPr lvl="1"/>
            <a:r>
              <a:rPr lang="en-US" dirty="0"/>
              <a:t>Db.collection.update(query, update, options)</a:t>
            </a:r>
          </a:p>
          <a:p>
            <a:pPr lvl="1"/>
            <a:r>
              <a:rPr lang="en-US" dirty="0"/>
              <a:t>Query: selection criteria for the update</a:t>
            </a:r>
          </a:p>
          <a:p>
            <a:pPr lvl="2"/>
            <a:r>
              <a:rPr lang="en-US" dirty="0"/>
              <a:t>Which documents are updated</a:t>
            </a:r>
          </a:p>
          <a:p>
            <a:pPr lvl="1"/>
            <a:r>
              <a:rPr lang="en-US" dirty="0"/>
              <a:t>Update: The updates to apply</a:t>
            </a:r>
          </a:p>
          <a:p>
            <a:r>
              <a:rPr lang="en-US" dirty="0"/>
              <a:t>Source</a:t>
            </a:r>
          </a:p>
          <a:p>
            <a:pPr lvl="1"/>
            <a:r>
              <a:rPr lang="en-US" dirty="0"/>
              <a:t>http://docs.mongodb.org/manual/reference/method/db.collection.update/</a:t>
            </a:r>
          </a:p>
          <a:p>
            <a:pPr lvl="1"/>
            <a:endParaRPr lang="en-US" dirty="0"/>
          </a:p>
        </p:txBody>
      </p:sp>
      <p:sp>
        <p:nvSpPr>
          <p:cNvPr id="11" name="Pladsholder til indhold 10"/>
          <p:cNvSpPr>
            <a:spLocks noGrp="1"/>
          </p:cNvSpPr>
          <p:nvPr>
            <p:ph sz="half" idx="2"/>
          </p:nvPr>
        </p:nvSpPr>
        <p:spPr>
          <a:xfrm>
            <a:off x="6172199" y="1825625"/>
            <a:ext cx="5606143" cy="4351338"/>
          </a:xfrm>
        </p:spPr>
        <p:txBody>
          <a:bodyPr>
            <a:normAutofit/>
          </a:bodyPr>
          <a:lstStyle/>
          <a:p>
            <a:r>
              <a:rPr lang="en-US" dirty="0"/>
              <a:t>Example</a:t>
            </a:r>
          </a:p>
          <a:p>
            <a:pPr marL="457200" lvl="1" indent="0">
              <a:buNone/>
            </a:pPr>
            <a:r>
              <a:rPr lang="en-US" dirty="0"/>
              <a:t>db.books.update( </a:t>
            </a:r>
          </a:p>
          <a:p>
            <a:pPr marL="457200" lvl="1" indent="0">
              <a:buNone/>
            </a:pPr>
            <a:r>
              <a:rPr lang="en-US" dirty="0"/>
              <a:t>  { title: "Beginning Android 4“ }, </a:t>
            </a:r>
          </a:p>
          <a:p>
            <a:pPr marL="457200" lvl="1" indent="0">
              <a:buNone/>
            </a:pPr>
            <a:r>
              <a:rPr lang="en-US" dirty="0"/>
              <a:t>  {</a:t>
            </a:r>
          </a:p>
          <a:p>
            <a:pPr marL="457200" lvl="1" indent="0">
              <a:buNone/>
            </a:pPr>
            <a:r>
              <a:rPr lang="en-US" dirty="0"/>
              <a:t>      title: "Beginning Android 4 Apps",</a:t>
            </a:r>
          </a:p>
          <a:p>
            <a:pPr marL="457200" lvl="1" indent="0">
              <a:buNone/>
            </a:pPr>
            <a:r>
              <a:rPr lang="en-US" dirty="0"/>
              <a:t>      publisher: "Wrox"</a:t>
            </a:r>
          </a:p>
          <a:p>
            <a:pPr marL="457200" lvl="1" indent="0">
              <a:buNone/>
            </a:pPr>
            <a:r>
              <a:rPr lang="en-US" dirty="0"/>
              <a:t>  },</a:t>
            </a:r>
          </a:p>
          <a:p>
            <a:pPr marL="457200" lvl="1" indent="0">
              <a:buNone/>
            </a:pPr>
            <a:r>
              <a:rPr lang="en-US" dirty="0"/>
              <a:t>  {</a:t>
            </a:r>
          </a:p>
          <a:p>
            <a:pPr marL="457200" lvl="1" indent="0">
              <a:buNone/>
            </a:pPr>
            <a:r>
              <a:rPr lang="en-US" dirty="0"/>
              <a:t>      upsert: false // no match, no update</a:t>
            </a:r>
          </a:p>
          <a:p>
            <a:pPr marL="457200" lvl="1" indent="0">
              <a:buNone/>
            </a:pPr>
            <a:r>
              <a:rPr lang="en-US" dirty="0"/>
              <a:t>  }</a:t>
            </a:r>
          </a:p>
          <a:p>
            <a:pPr marL="457200" lvl="1" indent="0">
              <a:buNone/>
            </a:pPr>
            <a:r>
              <a:rPr lang="en-US" dirty="0"/>
              <a:t>);</a:t>
            </a:r>
          </a:p>
          <a:p>
            <a:pPr lvl="1"/>
            <a:endParaRPr lang="en-US" dirty="0"/>
          </a:p>
        </p:txBody>
      </p:sp>
      <p:sp>
        <p:nvSpPr>
          <p:cNvPr id="12" name="Pladsholder til sidefod 11"/>
          <p:cNvSpPr>
            <a:spLocks noGrp="1"/>
          </p:cNvSpPr>
          <p:nvPr>
            <p:ph type="ftr" sz="quarter" idx="11"/>
          </p:nvPr>
        </p:nvSpPr>
        <p:spPr/>
        <p:txBody>
          <a:bodyPr/>
          <a:lstStyle/>
          <a:p>
            <a:r>
              <a:rPr lang="en-US" dirty="0"/>
              <a:t>MongoDB, an introduction</a:t>
            </a:r>
          </a:p>
        </p:txBody>
      </p:sp>
      <p:sp>
        <p:nvSpPr>
          <p:cNvPr id="13" name="Pladsholder til slidenummer 12"/>
          <p:cNvSpPr>
            <a:spLocks noGrp="1"/>
          </p:cNvSpPr>
          <p:nvPr>
            <p:ph type="sldNum" sz="quarter" idx="12"/>
          </p:nvPr>
        </p:nvSpPr>
        <p:spPr/>
        <p:txBody>
          <a:bodyPr/>
          <a:lstStyle/>
          <a:p>
            <a:fld id="{EB0FFA4F-9984-4F5F-820D-2E497FFB00D5}" type="slidenum">
              <a:rPr lang="en-US" smtClean="0"/>
              <a:t>31</a:t>
            </a:fld>
            <a:endParaRPr lang="en-US" dirty="0"/>
          </a:p>
        </p:txBody>
      </p:sp>
    </p:spTree>
    <p:extLst>
      <p:ext uri="{BB962C8B-B14F-4D97-AF65-F5344CB8AC3E}">
        <p14:creationId xmlns:p14="http://schemas.microsoft.com/office/powerpoint/2010/main" val="2594555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Remove(…)</a:t>
            </a:r>
          </a:p>
        </p:txBody>
      </p:sp>
      <p:sp>
        <p:nvSpPr>
          <p:cNvPr id="3" name="Pladsholder til indhold 2"/>
          <p:cNvSpPr>
            <a:spLocks noGrp="1"/>
          </p:cNvSpPr>
          <p:nvPr>
            <p:ph idx="1"/>
          </p:nvPr>
        </p:nvSpPr>
        <p:spPr/>
        <p:txBody>
          <a:bodyPr>
            <a:normAutofit fontScale="92500" lnSpcReduction="10000"/>
          </a:bodyPr>
          <a:lstStyle/>
          <a:p>
            <a:r>
              <a:rPr lang="en-US" dirty="0"/>
              <a:t>General syntax</a:t>
            </a:r>
          </a:p>
          <a:p>
            <a:pPr lvl="1"/>
            <a:r>
              <a:rPr lang="en-US" dirty="0"/>
              <a:t>Db.collections.remove(query, justOne)</a:t>
            </a:r>
          </a:p>
          <a:p>
            <a:pPr lvl="1"/>
            <a:r>
              <a:rPr lang="en-US" dirty="0"/>
              <a:t>Query: Query: selection criteria for the update</a:t>
            </a:r>
          </a:p>
          <a:p>
            <a:pPr lvl="2"/>
            <a:r>
              <a:rPr lang="en-US" dirty="0"/>
              <a:t>Which documents will be removed</a:t>
            </a:r>
          </a:p>
          <a:p>
            <a:pPr lvl="1"/>
            <a:r>
              <a:rPr lang="en-US" dirty="0"/>
              <a:t>justOne: Boolean</a:t>
            </a:r>
          </a:p>
          <a:p>
            <a:pPr lvl="2"/>
            <a:r>
              <a:rPr lang="en-US" dirty="0"/>
              <a:t>One or more documents to be removed</a:t>
            </a:r>
          </a:p>
          <a:p>
            <a:pPr lvl="2"/>
            <a:r>
              <a:rPr lang="en-US" dirty="0"/>
              <a:t>Optional. Default </a:t>
            </a:r>
            <a:r>
              <a:rPr lang="en-US" i="1" dirty="0"/>
              <a:t>false</a:t>
            </a:r>
          </a:p>
          <a:p>
            <a:r>
              <a:rPr lang="en-US" dirty="0"/>
              <a:t>Example</a:t>
            </a:r>
          </a:p>
          <a:p>
            <a:pPr lvl="1"/>
            <a:r>
              <a:rPr lang="en-US" dirty="0"/>
              <a:t>db.books.remove( {</a:t>
            </a:r>
          </a:p>
          <a:p>
            <a:pPr lvl="1"/>
            <a:r>
              <a:rPr lang="en-US" dirty="0"/>
              <a:t>    title: "Mastering Oracle SQL"</a:t>
            </a:r>
          </a:p>
          <a:p>
            <a:pPr lvl="1"/>
            <a:r>
              <a:rPr lang="en-US" dirty="0"/>
              <a:t>} )</a:t>
            </a:r>
          </a:p>
          <a:p>
            <a:r>
              <a:rPr lang="en-US" dirty="0"/>
              <a:t>Source</a:t>
            </a:r>
          </a:p>
          <a:p>
            <a:pPr lvl="1"/>
            <a:r>
              <a:rPr lang="en-US" dirty="0"/>
              <a:t>http://docs.mongodb.org/manual/reference/method/db.collection.remove/</a:t>
            </a:r>
          </a:p>
          <a:p>
            <a:pPr lvl="1"/>
            <a:endParaRPr lang="en-US" dirty="0"/>
          </a:p>
        </p:txBody>
      </p:sp>
      <p:sp>
        <p:nvSpPr>
          <p:cNvPr id="5" name="Pladsholder til sidefod 4"/>
          <p:cNvSpPr>
            <a:spLocks noGrp="1"/>
          </p:cNvSpPr>
          <p:nvPr>
            <p:ph type="ftr" sz="quarter" idx="11"/>
          </p:nvPr>
        </p:nvSpPr>
        <p:spPr/>
        <p:txBody>
          <a:bodyPr/>
          <a:lstStyle/>
          <a:p>
            <a:r>
              <a:rPr lang="en-US" dirty="0"/>
              <a:t>MongoDB, an introduction</a:t>
            </a:r>
          </a:p>
        </p:txBody>
      </p:sp>
      <p:sp>
        <p:nvSpPr>
          <p:cNvPr id="6" name="Pladsholder til slidenummer 5"/>
          <p:cNvSpPr>
            <a:spLocks noGrp="1"/>
          </p:cNvSpPr>
          <p:nvPr>
            <p:ph type="sldNum" sz="quarter" idx="12"/>
          </p:nvPr>
        </p:nvSpPr>
        <p:spPr/>
        <p:txBody>
          <a:bodyPr/>
          <a:lstStyle/>
          <a:p>
            <a:fld id="{EB0FFA4F-9984-4F5F-820D-2E497FFB00D5}" type="slidenum">
              <a:rPr lang="en-US" smtClean="0"/>
              <a:t>32</a:t>
            </a:fld>
            <a:endParaRPr lang="en-US" dirty="0"/>
          </a:p>
        </p:txBody>
      </p:sp>
    </p:spTree>
    <p:extLst>
      <p:ext uri="{BB962C8B-B14F-4D97-AF65-F5344CB8AC3E}">
        <p14:creationId xmlns:p14="http://schemas.microsoft.com/office/powerpoint/2010/main" val="2969494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find(…)</a:t>
            </a:r>
          </a:p>
        </p:txBody>
      </p:sp>
      <p:sp>
        <p:nvSpPr>
          <p:cNvPr id="3" name="Pladsholder til indhold 2"/>
          <p:cNvSpPr>
            <a:spLocks noGrp="1"/>
          </p:cNvSpPr>
          <p:nvPr>
            <p:ph idx="1"/>
          </p:nvPr>
        </p:nvSpPr>
        <p:spPr>
          <a:xfrm>
            <a:off x="1097280" y="1929320"/>
            <a:ext cx="10515600" cy="4642077"/>
          </a:xfrm>
        </p:spPr>
        <p:txBody>
          <a:bodyPr>
            <a:normAutofit fontScale="92500" lnSpcReduction="10000"/>
          </a:bodyPr>
          <a:lstStyle/>
          <a:p>
            <a:r>
              <a:rPr lang="en-US" dirty="0"/>
              <a:t>General syntax: db.collection.find(criteria, projection)</a:t>
            </a:r>
          </a:p>
          <a:p>
            <a:pPr lvl="1"/>
            <a:r>
              <a:rPr lang="en-US" dirty="0"/>
              <a:t>Criteria: optional</a:t>
            </a:r>
          </a:p>
          <a:p>
            <a:pPr lvl="2"/>
            <a:r>
              <a:rPr lang="en-US" dirty="0"/>
              <a:t>Selection criteria: Which documents do you want to get</a:t>
            </a:r>
          </a:p>
          <a:p>
            <a:pPr lvl="1"/>
            <a:r>
              <a:rPr lang="en-US" dirty="0"/>
              <a:t>Projection: optional</a:t>
            </a:r>
          </a:p>
          <a:p>
            <a:pPr lvl="2"/>
            <a:r>
              <a:rPr lang="en-US" dirty="0"/>
              <a:t>Projections operators: Which fields of the documents do you want to get</a:t>
            </a:r>
          </a:p>
          <a:p>
            <a:pPr lvl="1"/>
            <a:r>
              <a:rPr lang="en-US" dirty="0"/>
              <a:t>SQL analogy: SELECT </a:t>
            </a:r>
            <a:r>
              <a:rPr lang="en-US" i="1" dirty="0"/>
              <a:t>projection</a:t>
            </a:r>
            <a:r>
              <a:rPr lang="en-US" dirty="0"/>
              <a:t> FROM </a:t>
            </a:r>
            <a:r>
              <a:rPr lang="en-US" i="1" dirty="0"/>
              <a:t>table</a:t>
            </a:r>
            <a:r>
              <a:rPr lang="en-US" dirty="0"/>
              <a:t> WHERE </a:t>
            </a:r>
            <a:r>
              <a:rPr lang="en-US" i="1" dirty="0"/>
              <a:t>selection</a:t>
            </a:r>
          </a:p>
          <a:p>
            <a:r>
              <a:rPr lang="en-US" dirty="0"/>
              <a:t>Find all documents</a:t>
            </a:r>
          </a:p>
          <a:p>
            <a:pPr lvl="1"/>
            <a:r>
              <a:rPr lang="en-US" dirty="0"/>
              <a:t>Db.collection.find()</a:t>
            </a:r>
          </a:p>
          <a:p>
            <a:r>
              <a:rPr lang="en-US" dirty="0"/>
              <a:t>Find with criteria</a:t>
            </a:r>
          </a:p>
          <a:p>
            <a:pPr lvl="1"/>
            <a:r>
              <a:rPr lang="en-US" dirty="0"/>
              <a:t>db.books.find({ publicationYear: 2014 });</a:t>
            </a:r>
          </a:p>
          <a:p>
            <a:pPr lvl="2"/>
            <a:r>
              <a:rPr lang="en-US" dirty="0"/>
              <a:t>Books where the publicationYear fields has the value 2014</a:t>
            </a:r>
          </a:p>
          <a:p>
            <a:pPr lvl="1"/>
            <a:r>
              <a:rPr lang="en-US" dirty="0"/>
              <a:t>db.books.find({ pages: { $gt: 25 } });</a:t>
            </a:r>
          </a:p>
          <a:p>
            <a:pPr lvl="2"/>
            <a:r>
              <a:rPr lang="en-US" dirty="0"/>
              <a:t>Books where the pages field has a value </a:t>
            </a:r>
            <a:r>
              <a:rPr lang="en-US" i="1" dirty="0"/>
              <a:t>greater</a:t>
            </a:r>
            <a:r>
              <a:rPr lang="en-US" dirty="0"/>
              <a:t> than 25</a:t>
            </a:r>
          </a:p>
          <a:p>
            <a:r>
              <a:rPr lang="en-US" dirty="0"/>
              <a:t>Source</a:t>
            </a:r>
          </a:p>
          <a:p>
            <a:pPr lvl="1"/>
            <a:r>
              <a:rPr lang="en-US" dirty="0"/>
              <a:t>http://docs.mongodb.org/manual/reference/method/db.collection.find/</a:t>
            </a:r>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33</a:t>
            </a:fld>
            <a:endParaRPr lang="en-US" dirty="0"/>
          </a:p>
        </p:txBody>
      </p:sp>
    </p:spTree>
    <p:extLst>
      <p:ext uri="{BB962C8B-B14F-4D97-AF65-F5344CB8AC3E}">
        <p14:creationId xmlns:p14="http://schemas.microsoft.com/office/powerpoint/2010/main" val="2326524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Find(…) with </a:t>
            </a:r>
            <a:r>
              <a:rPr lang="en-US" i="1" dirty="0"/>
              <a:t>and</a:t>
            </a:r>
            <a:r>
              <a:rPr lang="en-US" dirty="0"/>
              <a:t> + </a:t>
            </a:r>
            <a:r>
              <a:rPr lang="en-US" i="1" dirty="0"/>
              <a:t>or</a:t>
            </a:r>
          </a:p>
        </p:txBody>
      </p:sp>
      <p:sp>
        <p:nvSpPr>
          <p:cNvPr id="3" name="Pladsholder til indhold 2"/>
          <p:cNvSpPr>
            <a:spLocks noGrp="1"/>
          </p:cNvSpPr>
          <p:nvPr>
            <p:ph idx="1"/>
          </p:nvPr>
        </p:nvSpPr>
        <p:spPr>
          <a:xfrm>
            <a:off x="1097280" y="1859110"/>
            <a:ext cx="10515600" cy="4998890"/>
          </a:xfrm>
        </p:spPr>
        <p:txBody>
          <a:bodyPr>
            <a:normAutofit/>
          </a:bodyPr>
          <a:lstStyle/>
          <a:p>
            <a:r>
              <a:rPr lang="en-US" sz="1800" dirty="0"/>
              <a:t>Find(…) with </a:t>
            </a:r>
            <a:r>
              <a:rPr lang="en-US" sz="1800" i="1" dirty="0"/>
              <a:t>and</a:t>
            </a:r>
            <a:r>
              <a:rPr lang="en-US" sz="1800" dirty="0"/>
              <a:t> criteria</a:t>
            </a:r>
          </a:p>
          <a:p>
            <a:pPr lvl="1"/>
            <a:r>
              <a:rPr lang="en-US" sz="1600" dirty="0"/>
              <a:t>db.books.find({publicationYear: 2015, title: /^Mongo/})</a:t>
            </a:r>
          </a:p>
          <a:p>
            <a:pPr lvl="1"/>
            <a:r>
              <a:rPr lang="en-US" sz="1600" dirty="0"/>
              <a:t>publicationYear = 2015 </a:t>
            </a:r>
            <a:r>
              <a:rPr lang="en-US" sz="1600" i="1" dirty="0"/>
              <a:t>AND</a:t>
            </a:r>
            <a:r>
              <a:rPr lang="en-US" sz="1600" dirty="0"/>
              <a:t> title starts with (^) Mongo</a:t>
            </a:r>
          </a:p>
          <a:p>
            <a:pPr lvl="2"/>
            <a:r>
              <a:rPr lang="en-US" sz="1200" dirty="0"/>
              <a:t>/^Mongo/ is a regular expression</a:t>
            </a:r>
          </a:p>
          <a:p>
            <a:r>
              <a:rPr lang="en-US" sz="1800" dirty="0"/>
              <a:t>Find(…) with </a:t>
            </a:r>
            <a:r>
              <a:rPr lang="en-US" sz="1800" i="1" dirty="0"/>
              <a:t>or</a:t>
            </a:r>
            <a:r>
              <a:rPr lang="en-US" sz="1800" dirty="0"/>
              <a:t> criteria</a:t>
            </a:r>
          </a:p>
          <a:p>
            <a:pPr lvl="1"/>
            <a:r>
              <a:rPr lang="en-US" sz="1600" dirty="0"/>
              <a:t>db.books.find({$or: [ {publicationYear: 2015}, {title: /^Mongo/}]})</a:t>
            </a:r>
          </a:p>
          <a:p>
            <a:pPr lvl="1"/>
            <a:r>
              <a:rPr lang="en-US" sz="1600" dirty="0"/>
              <a:t>publicationYear = 2015 </a:t>
            </a:r>
            <a:r>
              <a:rPr lang="en-US" sz="1600" i="1" dirty="0"/>
              <a:t>OR</a:t>
            </a:r>
            <a:r>
              <a:rPr lang="en-US" sz="1600" dirty="0"/>
              <a:t> title starts with Mongo</a:t>
            </a:r>
          </a:p>
          <a:p>
            <a:pPr lvl="1"/>
            <a:r>
              <a:rPr lang="en-US" sz="1600" dirty="0"/>
              <a:t>$or: [ … array of conditions … ]</a:t>
            </a:r>
          </a:p>
          <a:p>
            <a:pPr lvl="1"/>
            <a:r>
              <a:rPr lang="en-US" sz="1600" dirty="0"/>
              <a:t>db.books.find({$or: [ {publicationYear: 2015}, {publicationYear: {$exists: false}}]})</a:t>
            </a:r>
          </a:p>
          <a:p>
            <a:r>
              <a:rPr lang="en-US" sz="1800" dirty="0"/>
              <a:t>Find(…) with </a:t>
            </a:r>
            <a:r>
              <a:rPr lang="en-US" sz="1800" i="1" dirty="0"/>
              <a:t>and</a:t>
            </a:r>
            <a:r>
              <a:rPr lang="en-US" sz="1800" dirty="0"/>
              <a:t> criteria (a little more …)</a:t>
            </a:r>
          </a:p>
          <a:p>
            <a:pPr lvl="1"/>
            <a:r>
              <a:rPr lang="en-US" sz="1600" dirty="0"/>
              <a:t>$and: [ … array of conditions … ]</a:t>
            </a:r>
          </a:p>
          <a:p>
            <a:pPr lvl="2"/>
            <a:r>
              <a:rPr lang="en-US" sz="1200" dirty="0"/>
              <a:t>Find({cond, cond, .. }) works the same</a:t>
            </a:r>
          </a:p>
          <a:p>
            <a:pPr lvl="2"/>
            <a:r>
              <a:rPr lang="en-US" sz="1200" dirty="0"/>
              <a:t>However with $and: you can use the same attribute more than once</a:t>
            </a:r>
          </a:p>
          <a:p>
            <a:pPr lvl="1"/>
            <a:r>
              <a:rPr lang="en-US" sz="1600" dirty="0"/>
              <a:t>db.books.find({$and: [{publicationYear: {$ne:2014}}, {publicationYear: {$exists: true}}]})</a:t>
            </a:r>
          </a:p>
          <a:p>
            <a:pPr lvl="2"/>
            <a:r>
              <a:rPr lang="en-US" sz="1200" dirty="0"/>
              <a:t>publicationYear exists, but is not equal ($ne) to 2014</a:t>
            </a:r>
          </a:p>
          <a:p>
            <a:pPr lvl="2"/>
            <a:endParaRPr lang="en-US" sz="1200"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34</a:t>
            </a:fld>
            <a:endParaRPr lang="en-US" dirty="0"/>
          </a:p>
        </p:txBody>
      </p:sp>
    </p:spTree>
    <p:extLst>
      <p:ext uri="{BB962C8B-B14F-4D97-AF65-F5344CB8AC3E}">
        <p14:creationId xmlns:p14="http://schemas.microsoft.com/office/powerpoint/2010/main" val="2044482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Find(…), getting into sub-documents</a:t>
            </a:r>
          </a:p>
        </p:txBody>
      </p:sp>
      <p:sp>
        <p:nvSpPr>
          <p:cNvPr id="3" name="Pladsholder til indhold 2"/>
          <p:cNvSpPr>
            <a:spLocks noGrp="1"/>
          </p:cNvSpPr>
          <p:nvPr>
            <p:ph idx="1"/>
          </p:nvPr>
        </p:nvSpPr>
        <p:spPr/>
        <p:txBody>
          <a:bodyPr/>
          <a:lstStyle/>
          <a:p>
            <a:r>
              <a:rPr lang="en-US" dirty="0"/>
              <a:t>Use the dot (.) operator to get into sub-documents</a:t>
            </a:r>
          </a:p>
          <a:p>
            <a:r>
              <a:rPr lang="en-US" dirty="0"/>
              <a:t>db.books.find({"author.firstname" : "John"});</a:t>
            </a:r>
          </a:p>
          <a:p>
            <a:pPr lvl="1"/>
            <a:r>
              <a:rPr lang="en-US" dirty="0"/>
              <a:t>Documents with an author with the first name John</a:t>
            </a:r>
          </a:p>
          <a:p>
            <a:pPr lvl="1"/>
            <a:r>
              <a:rPr lang="en-US" dirty="0"/>
              <a:t>Note: Author is an array</a:t>
            </a:r>
          </a:p>
          <a:p>
            <a:pPr lvl="1"/>
            <a:r>
              <a:rPr lang="en-US" dirty="0"/>
              <a:t>Note 2: The name of the field (author.firstname) must be quoted</a:t>
            </a:r>
          </a:p>
          <a:p>
            <a:r>
              <a:rPr lang="en-US" dirty="0"/>
              <a:t>db.books.find( {$or: [ {"author.firstname" : "John"}, 						{"author.firstname" : "Brad"} ]  } );</a:t>
            </a:r>
          </a:p>
          <a:p>
            <a:endParaRPr lang="en-US" dirty="0"/>
          </a:p>
          <a:p>
            <a:endParaRPr lang="en-US"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35</a:t>
            </a:fld>
            <a:endParaRPr lang="en-US" dirty="0"/>
          </a:p>
        </p:txBody>
      </p:sp>
    </p:spTree>
    <p:extLst>
      <p:ext uri="{BB962C8B-B14F-4D97-AF65-F5344CB8AC3E}">
        <p14:creationId xmlns:p14="http://schemas.microsoft.com/office/powerpoint/2010/main" val="3692343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find(…), projections</a:t>
            </a:r>
          </a:p>
        </p:txBody>
      </p:sp>
      <p:sp>
        <p:nvSpPr>
          <p:cNvPr id="5" name="Pladsholder til indhold 4"/>
          <p:cNvSpPr>
            <a:spLocks noGrp="1"/>
          </p:cNvSpPr>
          <p:nvPr>
            <p:ph idx="1"/>
          </p:nvPr>
        </p:nvSpPr>
        <p:spPr/>
        <p:txBody>
          <a:bodyPr/>
          <a:lstStyle/>
          <a:p>
            <a:r>
              <a:rPr lang="en-US" dirty="0"/>
              <a:t>Include fields</a:t>
            </a:r>
          </a:p>
          <a:p>
            <a:pPr lvl="1"/>
            <a:r>
              <a:rPr lang="en-US" dirty="0"/>
              <a:t>db.books.find({}, {title: 1, publisher: 1});</a:t>
            </a:r>
          </a:p>
          <a:p>
            <a:pPr lvl="1"/>
            <a:r>
              <a:rPr lang="en-US" dirty="0"/>
              <a:t>{} no selection = all documents</a:t>
            </a:r>
          </a:p>
          <a:p>
            <a:pPr lvl="1"/>
            <a:r>
              <a:rPr lang="en-US" dirty="0"/>
              <a:t>Title, publisher (and _id) included in the output</a:t>
            </a:r>
          </a:p>
          <a:p>
            <a:r>
              <a:rPr lang="en-US" dirty="0"/>
              <a:t>Exclude fields</a:t>
            </a:r>
          </a:p>
          <a:p>
            <a:pPr lvl="1"/>
            <a:r>
              <a:rPr lang="en-US" dirty="0"/>
              <a:t>db.books.find({}, {title: 0});</a:t>
            </a:r>
          </a:p>
          <a:p>
            <a:pPr lvl="1"/>
            <a:r>
              <a:rPr lang="en-US" dirty="0"/>
              <a:t>All fields, but title, in the output</a:t>
            </a:r>
          </a:p>
        </p:txBody>
      </p:sp>
      <p:sp>
        <p:nvSpPr>
          <p:cNvPr id="3" name="Pladsholder til sidefod 2"/>
          <p:cNvSpPr>
            <a:spLocks noGrp="1"/>
          </p:cNvSpPr>
          <p:nvPr>
            <p:ph type="ftr" sz="quarter" idx="11"/>
          </p:nvPr>
        </p:nvSpPr>
        <p:spPr/>
        <p:txBody>
          <a:bodyPr/>
          <a:lstStyle/>
          <a:p>
            <a:r>
              <a:rPr lang="en-US" dirty="0"/>
              <a:t>MongoDB, an introduction</a:t>
            </a:r>
          </a:p>
        </p:txBody>
      </p:sp>
      <p:sp>
        <p:nvSpPr>
          <p:cNvPr id="4" name="Pladsholder til slidenummer 3"/>
          <p:cNvSpPr>
            <a:spLocks noGrp="1"/>
          </p:cNvSpPr>
          <p:nvPr>
            <p:ph type="sldNum" sz="quarter" idx="12"/>
          </p:nvPr>
        </p:nvSpPr>
        <p:spPr/>
        <p:txBody>
          <a:bodyPr/>
          <a:lstStyle/>
          <a:p>
            <a:fld id="{EB0FFA4F-9984-4F5F-820D-2E497FFB00D5}" type="slidenum">
              <a:rPr lang="en-US" smtClean="0"/>
              <a:t>36</a:t>
            </a:fld>
            <a:endParaRPr lang="en-US" dirty="0"/>
          </a:p>
        </p:txBody>
      </p:sp>
    </p:spTree>
    <p:extLst>
      <p:ext uri="{BB962C8B-B14F-4D97-AF65-F5344CB8AC3E}">
        <p14:creationId xmlns:p14="http://schemas.microsoft.com/office/powerpoint/2010/main" val="915050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Find() with sort(), limit(), and skip()</a:t>
            </a:r>
          </a:p>
        </p:txBody>
      </p:sp>
      <p:sp>
        <p:nvSpPr>
          <p:cNvPr id="3" name="Pladsholder til indhold 2"/>
          <p:cNvSpPr>
            <a:spLocks noGrp="1"/>
          </p:cNvSpPr>
          <p:nvPr>
            <p:ph idx="1"/>
          </p:nvPr>
        </p:nvSpPr>
        <p:spPr/>
        <p:txBody>
          <a:bodyPr/>
          <a:lstStyle/>
          <a:p>
            <a:r>
              <a:rPr lang="en-US" dirty="0"/>
              <a:t>The output can be sorted</a:t>
            </a:r>
          </a:p>
          <a:p>
            <a:pPr lvl="1"/>
            <a:r>
              <a:rPr lang="en-US" dirty="0"/>
              <a:t>db.books.find().sort({title: 1, publicationYear: 1});</a:t>
            </a:r>
          </a:p>
          <a:p>
            <a:pPr lvl="2"/>
            <a:r>
              <a:rPr lang="en-US" dirty="0"/>
              <a:t>Sort by 1. title, 2. publicationYear</a:t>
            </a:r>
          </a:p>
          <a:p>
            <a:r>
              <a:rPr lang="en-US" dirty="0"/>
              <a:t>The output can be limited</a:t>
            </a:r>
          </a:p>
          <a:p>
            <a:pPr lvl="1"/>
            <a:r>
              <a:rPr lang="en-US" dirty="0"/>
              <a:t>db.books.find().sort({title: 1}).limit(4);</a:t>
            </a:r>
          </a:p>
          <a:p>
            <a:pPr lvl="1"/>
            <a:r>
              <a:rPr lang="en-US" dirty="0"/>
              <a:t>Only the first 4 documents are included in the output</a:t>
            </a:r>
          </a:p>
          <a:p>
            <a:r>
              <a:rPr lang="en-US" dirty="0"/>
              <a:t>You can skip parts of the output</a:t>
            </a:r>
          </a:p>
          <a:p>
            <a:pPr lvl="1"/>
            <a:r>
              <a:rPr lang="en-US" dirty="0"/>
              <a:t>db.books.find().sort({title: 1}).skip(2).limit(3);</a:t>
            </a:r>
          </a:p>
          <a:p>
            <a:pPr lvl="1"/>
            <a:r>
              <a:rPr lang="en-US" dirty="0"/>
              <a:t>Two documents are skipped.</a:t>
            </a:r>
          </a:p>
          <a:p>
            <a:pPr lvl="1"/>
            <a:r>
              <a:rPr lang="en-US" dirty="0"/>
              <a:t>Next 3 documents are included in the output</a:t>
            </a:r>
          </a:p>
          <a:p>
            <a:pPr lvl="1"/>
            <a:endParaRPr lang="en-US"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37</a:t>
            </a:fld>
            <a:endParaRPr lang="en-US" dirty="0"/>
          </a:p>
        </p:txBody>
      </p:sp>
    </p:spTree>
    <p:extLst>
      <p:ext uri="{BB962C8B-B14F-4D97-AF65-F5344CB8AC3E}">
        <p14:creationId xmlns:p14="http://schemas.microsoft.com/office/powerpoint/2010/main" val="25099986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Counting documents</a:t>
            </a:r>
          </a:p>
        </p:txBody>
      </p:sp>
      <p:sp>
        <p:nvSpPr>
          <p:cNvPr id="3" name="Pladsholder til indhold 2"/>
          <p:cNvSpPr>
            <a:spLocks noGrp="1"/>
          </p:cNvSpPr>
          <p:nvPr>
            <p:ph idx="1"/>
          </p:nvPr>
        </p:nvSpPr>
        <p:spPr/>
        <p:txBody>
          <a:bodyPr/>
          <a:lstStyle/>
          <a:p>
            <a:r>
              <a:rPr lang="en-US" dirty="0"/>
              <a:t>You can count the number of documents in a collection</a:t>
            </a:r>
          </a:p>
          <a:p>
            <a:r>
              <a:rPr lang="en-US" dirty="0"/>
              <a:t>db.books.count()</a:t>
            </a:r>
          </a:p>
          <a:p>
            <a:pPr lvl="1"/>
            <a:r>
              <a:rPr lang="en-US" dirty="0"/>
              <a:t>Counts all documents in the books collection</a:t>
            </a:r>
          </a:p>
          <a:p>
            <a:r>
              <a:rPr lang="en-US" dirty="0"/>
              <a:t>db.books.count({title: /Mongo/});</a:t>
            </a:r>
          </a:p>
          <a:p>
            <a:pPr lvl="1"/>
            <a:r>
              <a:rPr lang="en-US" dirty="0"/>
              <a:t>Counts all document where the title contains “Mongo”</a:t>
            </a:r>
          </a:p>
          <a:p>
            <a:r>
              <a:rPr lang="en-US" dirty="0"/>
              <a:t>Source</a:t>
            </a:r>
          </a:p>
          <a:p>
            <a:pPr lvl="1"/>
            <a:r>
              <a:rPr lang="en-US" dirty="0"/>
              <a:t>http://docs.mongodb.org/manual/reference/method/db.collection.count/</a:t>
            </a:r>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38</a:t>
            </a:fld>
            <a:endParaRPr lang="en-US" dirty="0"/>
          </a:p>
        </p:txBody>
      </p:sp>
    </p:spTree>
    <p:extLst>
      <p:ext uri="{BB962C8B-B14F-4D97-AF65-F5344CB8AC3E}">
        <p14:creationId xmlns:p14="http://schemas.microsoft.com/office/powerpoint/2010/main" val="1173208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Distinct values</a:t>
            </a:r>
          </a:p>
        </p:txBody>
      </p:sp>
      <p:sp>
        <p:nvSpPr>
          <p:cNvPr id="3" name="Pladsholder til indhold 2"/>
          <p:cNvSpPr>
            <a:spLocks noGrp="1"/>
          </p:cNvSpPr>
          <p:nvPr>
            <p:ph idx="1"/>
          </p:nvPr>
        </p:nvSpPr>
        <p:spPr/>
        <p:txBody>
          <a:bodyPr/>
          <a:lstStyle/>
          <a:p>
            <a:r>
              <a:rPr lang="en-US" dirty="0"/>
              <a:t>Getting all the values of arrays in a collection</a:t>
            </a:r>
          </a:p>
          <a:p>
            <a:r>
              <a:rPr lang="en-US" dirty="0"/>
              <a:t>db.books.distinct("author.firstname")</a:t>
            </a:r>
          </a:p>
          <a:p>
            <a:pPr lvl="1"/>
            <a:r>
              <a:rPr lang="en-US" dirty="0"/>
              <a:t>All first names, from all books.</a:t>
            </a:r>
          </a:p>
          <a:p>
            <a:pPr lvl="1"/>
            <a:r>
              <a:rPr lang="en-US" dirty="0"/>
              <a:t>Distinct, means no duplicates</a:t>
            </a:r>
          </a:p>
          <a:p>
            <a:r>
              <a:rPr lang="en-US" dirty="0"/>
              <a:t>Can be combined with sorting</a:t>
            </a:r>
          </a:p>
          <a:p>
            <a:pPr lvl="1"/>
            <a:r>
              <a:rPr lang="en-US" dirty="0"/>
              <a:t>db.books.distinct("author.firstname").sort();</a:t>
            </a:r>
          </a:p>
          <a:p>
            <a:pPr lvl="1"/>
            <a:endParaRPr lang="en-US" dirty="0"/>
          </a:p>
        </p:txBody>
      </p:sp>
      <p:sp>
        <p:nvSpPr>
          <p:cNvPr id="4" name="Pladsholder til sidefod 3"/>
          <p:cNvSpPr>
            <a:spLocks noGrp="1"/>
          </p:cNvSpPr>
          <p:nvPr>
            <p:ph type="ftr" sz="quarter" idx="11"/>
          </p:nvPr>
        </p:nvSpPr>
        <p:spPr/>
        <p:txBody>
          <a:bodyPr/>
          <a:lstStyle/>
          <a:p>
            <a:r>
              <a:rPr lang="en-US" dirty="0"/>
              <a:t>MongoDB, an introduction</a:t>
            </a:r>
          </a:p>
        </p:txBody>
      </p:sp>
      <p:sp>
        <p:nvSpPr>
          <p:cNvPr id="5" name="Pladsholder til slidenummer 4"/>
          <p:cNvSpPr>
            <a:spLocks noGrp="1"/>
          </p:cNvSpPr>
          <p:nvPr>
            <p:ph type="sldNum" sz="quarter" idx="12"/>
          </p:nvPr>
        </p:nvSpPr>
        <p:spPr/>
        <p:txBody>
          <a:bodyPr/>
          <a:lstStyle/>
          <a:p>
            <a:fld id="{EB0FFA4F-9984-4F5F-820D-2E497FFB00D5}" type="slidenum">
              <a:rPr lang="en-US" smtClean="0"/>
              <a:t>39</a:t>
            </a:fld>
            <a:endParaRPr lang="en-US" dirty="0"/>
          </a:p>
        </p:txBody>
      </p:sp>
    </p:spTree>
    <p:extLst>
      <p:ext uri="{BB962C8B-B14F-4D97-AF65-F5344CB8AC3E}">
        <p14:creationId xmlns:p14="http://schemas.microsoft.com/office/powerpoint/2010/main" val="2649901838"/>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resentation2" id="{B8161CE3-1ECC-C945-B31E-724735EE6F50}" vid="{743CEF73-0D38-6542-AA38-B91A3FC662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73</TotalTime>
  <Words>2902</Words>
  <Application>Microsoft Macintosh PowerPoint</Application>
  <PresentationFormat>Widescreen</PresentationFormat>
  <Paragraphs>463</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Courier New</vt:lpstr>
      <vt:lpstr>Retrospect</vt:lpstr>
      <vt:lpstr>Document Databases</vt:lpstr>
      <vt:lpstr>NoSQL: Document Store</vt:lpstr>
      <vt:lpstr>XML Document</vt:lpstr>
      <vt:lpstr>JSON Document</vt:lpstr>
      <vt:lpstr>JSON Syntax</vt:lpstr>
      <vt:lpstr>Why Document Stores</vt:lpstr>
      <vt:lpstr>Why Not Document Stores</vt:lpstr>
      <vt:lpstr>Document DBs and Key-Value Stores</vt:lpstr>
      <vt:lpstr>Embedded Documents</vt:lpstr>
      <vt:lpstr>Schemaless</vt:lpstr>
      <vt:lpstr>Collections</vt:lpstr>
      <vt:lpstr>Collections</vt:lpstr>
      <vt:lpstr>Collections</vt:lpstr>
      <vt:lpstr>Normalization vs Denormalization</vt:lpstr>
      <vt:lpstr>Denormalization</vt:lpstr>
      <vt:lpstr>One to Many Relations</vt:lpstr>
      <vt:lpstr>Many to Many Relations</vt:lpstr>
      <vt:lpstr>Modeling Hierarchies</vt:lpstr>
      <vt:lpstr>Designing for Document Databases</vt:lpstr>
      <vt:lpstr>MongoDB </vt:lpstr>
      <vt:lpstr>What is MongoDB?</vt:lpstr>
      <vt:lpstr>Example BSON document</vt:lpstr>
      <vt:lpstr>Some BSON data types</vt:lpstr>
      <vt:lpstr>The ObjectId data type</vt:lpstr>
      <vt:lpstr>MongoDB terms</vt:lpstr>
      <vt:lpstr>Capped collections</vt:lpstr>
      <vt:lpstr>Atomic write operations</vt:lpstr>
      <vt:lpstr>Terms, MongoDB vs. Relational DBMS</vt:lpstr>
      <vt:lpstr>Query language / API</vt:lpstr>
      <vt:lpstr>Save(…) vs. insert(…)</vt:lpstr>
      <vt:lpstr>Update(…)</vt:lpstr>
      <vt:lpstr>Remove(…)</vt:lpstr>
      <vt:lpstr>find(…)</vt:lpstr>
      <vt:lpstr>Find(…) with and + or</vt:lpstr>
      <vt:lpstr>Find(…), getting into sub-documents</vt:lpstr>
      <vt:lpstr>find(…), projections</vt:lpstr>
      <vt:lpstr>Find() with sort(), limit(), and skip()</vt:lpstr>
      <vt:lpstr>Counting documents</vt:lpstr>
      <vt:lpstr>Distinct values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Databases</dc:title>
  <dc:creator>Quinn Snell</dc:creator>
  <cp:lastModifiedBy>Quinn Snell</cp:lastModifiedBy>
  <cp:revision>1</cp:revision>
  <dcterms:created xsi:type="dcterms:W3CDTF">2021-11-09T17:25:44Z</dcterms:created>
  <dcterms:modified xsi:type="dcterms:W3CDTF">2021-11-09T18:38:51Z</dcterms:modified>
</cp:coreProperties>
</file>