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1"/>
  </p:sldMasterIdLst>
  <p:notesMasterIdLst>
    <p:notesMasterId r:id="rId44"/>
  </p:notesMasterIdLst>
  <p:sldIdLst>
    <p:sldId id="256" r:id="rId2"/>
    <p:sldId id="258" r:id="rId3"/>
    <p:sldId id="259" r:id="rId4"/>
    <p:sldId id="265" r:id="rId5"/>
    <p:sldId id="266" r:id="rId6"/>
    <p:sldId id="267" r:id="rId7"/>
    <p:sldId id="268" r:id="rId8"/>
    <p:sldId id="269" r:id="rId9"/>
    <p:sldId id="270" r:id="rId10"/>
    <p:sldId id="271" r:id="rId11"/>
    <p:sldId id="272" r:id="rId12"/>
    <p:sldId id="273" r:id="rId13"/>
    <p:sldId id="274" r:id="rId14"/>
    <p:sldId id="275" r:id="rId15"/>
    <p:sldId id="276" r:id="rId16"/>
    <p:sldId id="277" r:id="rId17"/>
    <p:sldId id="257" r:id="rId18"/>
    <p:sldId id="278" r:id="rId19"/>
    <p:sldId id="279" r:id="rId20"/>
    <p:sldId id="260" r:id="rId21"/>
    <p:sldId id="261" r:id="rId22"/>
    <p:sldId id="262" r:id="rId23"/>
    <p:sldId id="264"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84"/>
    <p:restoredTop sz="96327"/>
  </p:normalViewPr>
  <p:slideViewPr>
    <p:cSldViewPr snapToGrid="0" snapToObjects="1">
      <p:cViewPr>
        <p:scale>
          <a:sx n="124" d="100"/>
          <a:sy n="124" d="100"/>
        </p:scale>
        <p:origin x="144" y="264"/>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3E686BE-5348-9E4C-B5DF-C6F17847F68D}" type="datetimeFigureOut">
              <a:rPr lang="en-US" smtClean="0"/>
              <a:t>11/1/21</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C5BE598-9299-8B4B-91ED-F9A52B2F87DB}" type="slidenum">
              <a:rPr lang="en-US" smtClean="0"/>
              <a:t>‹#›</a:t>
            </a:fld>
            <a:endParaRPr lang="en-US"/>
          </a:p>
        </p:txBody>
      </p:sp>
    </p:spTree>
    <p:extLst>
      <p:ext uri="{BB962C8B-B14F-4D97-AF65-F5344CB8AC3E}">
        <p14:creationId xmlns:p14="http://schemas.microsoft.com/office/powerpoint/2010/main" val="328982631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2E35366-9ADD-EB4E-BBBA-F0C9011757AA}" type="datetimeFigureOut">
              <a:rPr lang="en-US" smtClean="0"/>
              <a:t>11/1/21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9A8611-9EEC-9C40-B54D-4A508AF5313A}"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E35366-9ADD-EB4E-BBBA-F0C9011757AA}" type="datetimeFigureOut">
              <a:rPr lang="en-US" smtClean="0"/>
              <a:t>11/1/21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9A8611-9EEC-9C40-B54D-4A508AF5313A}"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E35366-9ADD-EB4E-BBBA-F0C9011757AA}" type="datetimeFigureOut">
              <a:rPr lang="en-US" smtClean="0"/>
              <a:t>11/1/21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9A8611-9EEC-9C40-B54D-4A508AF5313A}"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2E35366-9ADD-EB4E-BBBA-F0C9011757AA}" type="datetimeFigureOut">
              <a:rPr lang="en-US" smtClean="0"/>
              <a:t>11/1/21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9A8611-9EEC-9C40-B54D-4A508AF5313A}"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2E35366-9ADD-EB4E-BBBA-F0C9011757AA}" type="datetimeFigureOut">
              <a:rPr lang="en-US" smtClean="0"/>
              <a:t>11/1/21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F9A8611-9EEC-9C40-B54D-4A508AF5313A}"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2E35366-9ADD-EB4E-BBBA-F0C9011757AA}" type="datetimeFigureOut">
              <a:rPr lang="en-US" smtClean="0"/>
              <a:t>11/1/21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F9A8611-9EEC-9C40-B54D-4A508AF5313A}"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62E35366-9ADD-EB4E-BBBA-F0C9011757AA}" type="datetimeFigureOut">
              <a:rPr lang="en-US" smtClean="0"/>
              <a:t>11/1/21</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7F9A8611-9EEC-9C40-B54D-4A508AF5313A}"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62E35366-9ADD-EB4E-BBBA-F0C9011757AA}" type="datetimeFigureOut">
              <a:rPr lang="en-US" smtClean="0"/>
              <a:t>11/1/21</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7F9A8611-9EEC-9C40-B54D-4A508AF5313A}"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E35366-9ADD-EB4E-BBBA-F0C9011757AA}" type="datetimeFigureOut">
              <a:rPr lang="en-US" smtClean="0"/>
              <a:t>11/1/21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9A8611-9EEC-9C40-B54D-4A508AF5313A}"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E35366-9ADD-EB4E-BBBA-F0C9011757AA}" type="datetimeFigureOut">
              <a:rPr lang="en-US" smtClean="0"/>
              <a:t>11/1/21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9A8611-9EEC-9C40-B54D-4A508AF5313A}"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E35366-9ADD-EB4E-BBBA-F0C9011757AA}" type="datetimeFigureOut">
              <a:rPr lang="en-US" smtClean="0"/>
              <a:t>11/1/21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9A8611-9EEC-9C40-B54D-4A508AF5313A}"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62E35366-9ADD-EB4E-BBBA-F0C9011757AA}" type="datetimeFigureOut">
              <a:rPr lang="en-US" smtClean="0"/>
              <a:t>11/1/21</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7F9A8611-9EEC-9C40-B54D-4A508AF5313A}"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0872603"/>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5.jpeg"/></Relationships>
</file>

<file path=ppt/slides/_rels/slide1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www.allthingsdistributed.com/files/amazon-dynamo-sosp2007.pdf" TargetMode="Externa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2602A-ED97-2344-859B-1B62FB15F577}"/>
              </a:ext>
            </a:extLst>
          </p:cNvPr>
          <p:cNvSpPr>
            <a:spLocks noGrp="1"/>
          </p:cNvSpPr>
          <p:nvPr>
            <p:ph type="ctrTitle"/>
          </p:nvPr>
        </p:nvSpPr>
        <p:spPr/>
        <p:txBody>
          <a:bodyPr/>
          <a:lstStyle/>
          <a:p>
            <a:r>
              <a:rPr lang="en-US" dirty="0"/>
              <a:t>Key-Value Databases</a:t>
            </a:r>
          </a:p>
        </p:txBody>
      </p:sp>
      <p:sp>
        <p:nvSpPr>
          <p:cNvPr id="3" name="Subtitle 2">
            <a:extLst>
              <a:ext uri="{FF2B5EF4-FFF2-40B4-BE49-F238E27FC236}">
                <a16:creationId xmlns:a16="http://schemas.microsoft.com/office/drawing/2014/main" id="{609106F0-1916-F449-B5EC-16E5882D7632}"/>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7491949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AC7CD-F658-3C41-87F8-D4602A6AF896}"/>
              </a:ext>
            </a:extLst>
          </p:cNvPr>
          <p:cNvSpPr>
            <a:spLocks noGrp="1"/>
          </p:cNvSpPr>
          <p:nvPr>
            <p:ph type="title"/>
          </p:nvPr>
        </p:nvSpPr>
        <p:spPr/>
        <p:txBody>
          <a:bodyPr/>
          <a:lstStyle/>
          <a:p>
            <a:r>
              <a:rPr lang="en-US" dirty="0"/>
              <a:t>Keys and Values</a:t>
            </a:r>
          </a:p>
        </p:txBody>
      </p:sp>
      <p:sp>
        <p:nvSpPr>
          <p:cNvPr id="3" name="Content Placeholder 2">
            <a:extLst>
              <a:ext uri="{FF2B5EF4-FFF2-40B4-BE49-F238E27FC236}">
                <a16:creationId xmlns:a16="http://schemas.microsoft.com/office/drawing/2014/main" id="{A39B4083-CFC6-4A42-B1B2-ACB56F09DC09}"/>
              </a:ext>
            </a:extLst>
          </p:cNvPr>
          <p:cNvSpPr>
            <a:spLocks noGrp="1"/>
          </p:cNvSpPr>
          <p:nvPr>
            <p:ph idx="1"/>
          </p:nvPr>
        </p:nvSpPr>
        <p:spPr>
          <a:xfrm>
            <a:off x="1097280" y="1954834"/>
            <a:ext cx="10515600" cy="1325563"/>
          </a:xfrm>
        </p:spPr>
        <p:txBody>
          <a:bodyPr>
            <a:noAutofit/>
          </a:bodyPr>
          <a:lstStyle/>
          <a:p>
            <a:r>
              <a:rPr lang="en-US" sz="1600" dirty="0"/>
              <a:t>A variety of key-value databases are available to developers, and they all share three essential features:</a:t>
            </a:r>
          </a:p>
          <a:p>
            <a:pPr lvl="1"/>
            <a:r>
              <a:rPr lang="en-US" sz="1600" dirty="0"/>
              <a:t>Simplicity</a:t>
            </a:r>
          </a:p>
          <a:p>
            <a:pPr lvl="1"/>
            <a:r>
              <a:rPr lang="en-US" sz="1600" dirty="0"/>
              <a:t>Speed</a:t>
            </a:r>
          </a:p>
          <a:p>
            <a:pPr lvl="1"/>
            <a:r>
              <a:rPr lang="en-US" sz="1600" dirty="0"/>
              <a:t>Scalability</a:t>
            </a:r>
          </a:p>
          <a:p>
            <a:endParaRPr lang="en-US" sz="1600" dirty="0"/>
          </a:p>
          <a:p>
            <a:r>
              <a:rPr lang="en-US" sz="1600" dirty="0"/>
              <a:t>Applications require a variety of different values, but most operations only need primary key access to data</a:t>
            </a:r>
          </a:p>
          <a:p>
            <a:pPr lvl="1"/>
            <a:r>
              <a:rPr lang="en-US" sz="1600" dirty="0"/>
              <a:t>best seller lists, shopping carts, customer preferences, session management, sales rank, and product catalog</a:t>
            </a:r>
          </a:p>
          <a:p>
            <a:pPr lvl="1"/>
            <a:r>
              <a:rPr lang="en-US" sz="1600" dirty="0"/>
              <a:t>Database system doesn’t need to know about the data</a:t>
            </a:r>
          </a:p>
          <a:p>
            <a:pPr lvl="1"/>
            <a:r>
              <a:rPr lang="en-US" sz="1600" dirty="0"/>
              <a:t>Store anything you want in the data</a:t>
            </a:r>
          </a:p>
          <a:p>
            <a:endParaRPr lang="en-US" sz="1800" dirty="0"/>
          </a:p>
          <a:p>
            <a:r>
              <a:rPr lang="en-US" sz="1800" dirty="0"/>
              <a:t>Most systems use a hash function on the keys so the key can be more flexible</a:t>
            </a:r>
          </a:p>
          <a:p>
            <a:pPr lvl="1"/>
            <a:r>
              <a:rPr lang="en-US" sz="1600" dirty="0"/>
              <a:t>String, object, etc.</a:t>
            </a:r>
          </a:p>
          <a:p>
            <a:endParaRPr lang="en-US" sz="1600" dirty="0"/>
          </a:p>
          <a:p>
            <a:endParaRPr lang="en-US" sz="1600" dirty="0"/>
          </a:p>
        </p:txBody>
      </p:sp>
    </p:spTree>
    <p:extLst>
      <p:ext uri="{BB962C8B-B14F-4D97-AF65-F5344CB8AC3E}">
        <p14:creationId xmlns:p14="http://schemas.microsoft.com/office/powerpoint/2010/main" val="6343211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078AC-B9C4-2E46-AD61-F4C3FACC60FE}"/>
              </a:ext>
            </a:extLst>
          </p:cNvPr>
          <p:cNvSpPr>
            <a:spLocks noGrp="1"/>
          </p:cNvSpPr>
          <p:nvPr>
            <p:ph type="title"/>
          </p:nvPr>
        </p:nvSpPr>
        <p:spPr/>
        <p:txBody>
          <a:bodyPr/>
          <a:lstStyle/>
          <a:p>
            <a:r>
              <a:rPr lang="en-US" dirty="0"/>
              <a:t>Assumptions</a:t>
            </a:r>
          </a:p>
        </p:txBody>
      </p:sp>
      <p:sp>
        <p:nvSpPr>
          <p:cNvPr id="3" name="Content Placeholder 2">
            <a:extLst>
              <a:ext uri="{FF2B5EF4-FFF2-40B4-BE49-F238E27FC236}">
                <a16:creationId xmlns:a16="http://schemas.microsoft.com/office/drawing/2014/main" id="{A304489B-A495-884F-BB5A-3AA4901D0867}"/>
              </a:ext>
            </a:extLst>
          </p:cNvPr>
          <p:cNvSpPr>
            <a:spLocks noGrp="1"/>
          </p:cNvSpPr>
          <p:nvPr>
            <p:ph idx="1"/>
          </p:nvPr>
        </p:nvSpPr>
        <p:spPr/>
        <p:txBody>
          <a:bodyPr>
            <a:normAutofit fontScale="92500" lnSpcReduction="10000"/>
          </a:bodyPr>
          <a:lstStyle/>
          <a:p>
            <a:r>
              <a:rPr lang="en-US" dirty="0"/>
              <a:t>Query Model </a:t>
            </a:r>
          </a:p>
          <a:p>
            <a:pPr lvl="1"/>
            <a:r>
              <a:rPr lang="en-US" dirty="0"/>
              <a:t>Primary key access to blobs</a:t>
            </a:r>
          </a:p>
          <a:p>
            <a:pPr lvl="1"/>
            <a:r>
              <a:rPr lang="en-US" dirty="0"/>
              <a:t>No operations span multiple data items</a:t>
            </a:r>
          </a:p>
          <a:p>
            <a:pPr lvl="1"/>
            <a:r>
              <a:rPr lang="en-US" dirty="0"/>
              <a:t>Not relational</a:t>
            </a:r>
          </a:p>
          <a:p>
            <a:pPr lvl="1"/>
            <a:r>
              <a:rPr lang="en-US" dirty="0"/>
              <a:t>Relatively small</a:t>
            </a:r>
          </a:p>
          <a:p>
            <a:r>
              <a:rPr lang="en-US" dirty="0"/>
              <a:t>ACID</a:t>
            </a:r>
          </a:p>
          <a:p>
            <a:pPr lvl="1"/>
            <a:r>
              <a:rPr lang="en-US" dirty="0"/>
              <a:t>Systems that provide ACID guarantees tend to have poor availability</a:t>
            </a:r>
          </a:p>
          <a:p>
            <a:pPr lvl="1"/>
            <a:r>
              <a:rPr lang="en-US" dirty="0"/>
              <a:t>Key-Value databases generally target weaker consistency</a:t>
            </a:r>
          </a:p>
          <a:p>
            <a:pPr lvl="1"/>
            <a:r>
              <a:rPr lang="en-US" dirty="0"/>
              <a:t>No isolation guarantees</a:t>
            </a:r>
          </a:p>
          <a:p>
            <a:r>
              <a:rPr lang="en-US" dirty="0"/>
              <a:t>Efficiency</a:t>
            </a:r>
          </a:p>
          <a:p>
            <a:pPr lvl="1"/>
            <a:r>
              <a:rPr lang="en-US" dirty="0"/>
              <a:t>Commodity hardware </a:t>
            </a:r>
          </a:p>
          <a:p>
            <a:pPr lvl="1"/>
            <a:r>
              <a:rPr lang="en-US" dirty="0"/>
              <a:t>Stringent latency requirements</a:t>
            </a:r>
          </a:p>
          <a:p>
            <a:pPr lvl="1"/>
            <a:r>
              <a:rPr lang="en-US" dirty="0"/>
              <a:t>Consistently achieve latency and throughput requirements</a:t>
            </a:r>
          </a:p>
        </p:txBody>
      </p:sp>
    </p:spTree>
    <p:extLst>
      <p:ext uri="{BB962C8B-B14F-4D97-AF65-F5344CB8AC3E}">
        <p14:creationId xmlns:p14="http://schemas.microsoft.com/office/powerpoint/2010/main" val="19339277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3B541-BC3E-854D-ABBC-D558485CFD1A}"/>
              </a:ext>
            </a:extLst>
          </p:cNvPr>
          <p:cNvSpPr>
            <a:spLocks noGrp="1"/>
          </p:cNvSpPr>
          <p:nvPr>
            <p:ph type="title"/>
          </p:nvPr>
        </p:nvSpPr>
        <p:spPr/>
        <p:txBody>
          <a:bodyPr/>
          <a:lstStyle/>
          <a:p>
            <a:r>
              <a:rPr lang="en-US" dirty="0"/>
              <a:t>System Interface</a:t>
            </a:r>
          </a:p>
        </p:txBody>
      </p:sp>
      <p:sp>
        <p:nvSpPr>
          <p:cNvPr id="3" name="Content Placeholder 2">
            <a:extLst>
              <a:ext uri="{FF2B5EF4-FFF2-40B4-BE49-F238E27FC236}">
                <a16:creationId xmlns:a16="http://schemas.microsoft.com/office/drawing/2014/main" id="{33E6442D-CC2F-A142-90D9-AE06C999C5D4}"/>
              </a:ext>
            </a:extLst>
          </p:cNvPr>
          <p:cNvSpPr>
            <a:spLocks noGrp="1"/>
          </p:cNvSpPr>
          <p:nvPr>
            <p:ph idx="1"/>
          </p:nvPr>
        </p:nvSpPr>
        <p:spPr/>
        <p:txBody>
          <a:bodyPr>
            <a:normAutofit lnSpcReduction="10000"/>
          </a:bodyPr>
          <a:lstStyle/>
          <a:p>
            <a:r>
              <a:rPr lang="en-US" dirty="0"/>
              <a:t>Get(key)</a:t>
            </a:r>
          </a:p>
          <a:p>
            <a:pPr lvl="1"/>
            <a:r>
              <a:rPr lang="en-US" dirty="0"/>
              <a:t>Locate the object replicas</a:t>
            </a:r>
          </a:p>
          <a:p>
            <a:pPr lvl="1"/>
            <a:r>
              <a:rPr lang="en-US" dirty="0"/>
              <a:t>Return a single object or list of objects with conflicting versions/timestamps</a:t>
            </a:r>
          </a:p>
          <a:p>
            <a:pPr lvl="1"/>
            <a:endParaRPr lang="en-US" dirty="0"/>
          </a:p>
          <a:p>
            <a:r>
              <a:rPr lang="en-US" dirty="0"/>
              <a:t>Put(key, object)</a:t>
            </a:r>
          </a:p>
          <a:p>
            <a:pPr lvl="1"/>
            <a:r>
              <a:rPr lang="en-US" dirty="0"/>
              <a:t>Determine where object goes based on the key</a:t>
            </a:r>
          </a:p>
          <a:p>
            <a:pPr lvl="1"/>
            <a:r>
              <a:rPr lang="en-US" dirty="0"/>
              <a:t>Write replicas</a:t>
            </a:r>
          </a:p>
          <a:p>
            <a:r>
              <a:rPr lang="en-US" dirty="0"/>
              <a:t>Delete(key)</a:t>
            </a:r>
          </a:p>
          <a:p>
            <a:endParaRPr lang="en-US" dirty="0"/>
          </a:p>
          <a:p>
            <a:r>
              <a:rPr lang="en-US" dirty="0"/>
              <a:t>Both key and object are just bytes</a:t>
            </a:r>
          </a:p>
          <a:p>
            <a:pPr lvl="1"/>
            <a:r>
              <a:rPr lang="en-US" dirty="0"/>
              <a:t>Note that the key is determined by the application</a:t>
            </a:r>
          </a:p>
        </p:txBody>
      </p:sp>
    </p:spTree>
    <p:extLst>
      <p:ext uri="{BB962C8B-B14F-4D97-AF65-F5344CB8AC3E}">
        <p14:creationId xmlns:p14="http://schemas.microsoft.com/office/powerpoint/2010/main" val="22479644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8CC59-0C8A-4544-8CBD-E69B51F2141C}"/>
              </a:ext>
            </a:extLst>
          </p:cNvPr>
          <p:cNvSpPr>
            <a:spLocks noGrp="1"/>
          </p:cNvSpPr>
          <p:nvPr>
            <p:ph type="title"/>
          </p:nvPr>
        </p:nvSpPr>
        <p:spPr/>
        <p:txBody>
          <a:bodyPr/>
          <a:lstStyle/>
          <a:p>
            <a:r>
              <a:rPr lang="en-US" dirty="0"/>
              <a:t>Keys and Values</a:t>
            </a:r>
          </a:p>
        </p:txBody>
      </p:sp>
      <p:sp>
        <p:nvSpPr>
          <p:cNvPr id="3" name="Content Placeholder 2">
            <a:extLst>
              <a:ext uri="{FF2B5EF4-FFF2-40B4-BE49-F238E27FC236}">
                <a16:creationId xmlns:a16="http://schemas.microsoft.com/office/drawing/2014/main" id="{507793FE-96CD-4D4F-9361-5666FE4C4DFF}"/>
              </a:ext>
            </a:extLst>
          </p:cNvPr>
          <p:cNvSpPr>
            <a:spLocks noGrp="1"/>
          </p:cNvSpPr>
          <p:nvPr>
            <p:ph idx="1"/>
          </p:nvPr>
        </p:nvSpPr>
        <p:spPr/>
        <p:txBody>
          <a:bodyPr>
            <a:normAutofit lnSpcReduction="10000"/>
          </a:bodyPr>
          <a:lstStyle/>
          <a:p>
            <a:r>
              <a:rPr lang="en-US" dirty="0"/>
              <a:t>Key</a:t>
            </a:r>
          </a:p>
          <a:p>
            <a:pPr lvl="1"/>
            <a:r>
              <a:rPr lang="en-US" dirty="0"/>
              <a:t>Unique identifier for the value</a:t>
            </a:r>
          </a:p>
          <a:p>
            <a:pPr lvl="1"/>
            <a:r>
              <a:rPr lang="en-US" dirty="0"/>
              <a:t>At a minimum, a key is a string of characters</a:t>
            </a:r>
          </a:p>
          <a:p>
            <a:pPr lvl="1"/>
            <a:r>
              <a:rPr lang="en-US" dirty="0"/>
              <a:t>Redis allows strings, lists, sets, sorted sets, hashes, and bit arrays as keys</a:t>
            </a:r>
          </a:p>
          <a:p>
            <a:pPr lvl="1"/>
            <a:r>
              <a:rPr lang="en-US" dirty="0"/>
              <a:t>Typically, the key is hashed into the distributed hash table to find the location of the data</a:t>
            </a:r>
          </a:p>
          <a:p>
            <a:r>
              <a:rPr lang="en-US" dirty="0"/>
              <a:t>Values</a:t>
            </a:r>
          </a:p>
          <a:p>
            <a:pPr lvl="1"/>
            <a:r>
              <a:rPr lang="en-US" dirty="0"/>
              <a:t>Blob</a:t>
            </a:r>
          </a:p>
          <a:p>
            <a:r>
              <a:rPr lang="en-US" dirty="0"/>
              <a:t>Namespace</a:t>
            </a:r>
          </a:p>
          <a:p>
            <a:pPr lvl="1"/>
            <a:r>
              <a:rPr lang="en-US" dirty="0"/>
              <a:t>Collection of key-value pairs</a:t>
            </a:r>
          </a:p>
          <a:p>
            <a:pPr lvl="1"/>
            <a:r>
              <a:rPr lang="en-US" dirty="0"/>
              <a:t>Defines an additional prefix for keys</a:t>
            </a:r>
          </a:p>
          <a:p>
            <a:pPr lvl="1"/>
            <a:r>
              <a:rPr lang="en-US" dirty="0"/>
              <a:t>Example: 	</a:t>
            </a:r>
            <a:r>
              <a:rPr lang="en-US" dirty="0" err="1"/>
              <a:t>ComputerScience:keyname</a:t>
            </a:r>
            <a:r>
              <a:rPr lang="en-US" dirty="0"/>
              <a:t>	</a:t>
            </a:r>
            <a:r>
              <a:rPr lang="en-US" dirty="0" err="1"/>
              <a:t>Statisitics:keyname</a:t>
            </a:r>
            <a:endParaRPr lang="en-US" dirty="0"/>
          </a:p>
          <a:p>
            <a:pPr lvl="1"/>
            <a:r>
              <a:rPr lang="en-US" dirty="0"/>
              <a:t>Allows for use of the same </a:t>
            </a:r>
            <a:r>
              <a:rPr lang="en-US" dirty="0" err="1"/>
              <a:t>keyname</a:t>
            </a:r>
            <a:r>
              <a:rPr lang="en-US" dirty="0"/>
              <a:t> in each namespace</a:t>
            </a:r>
          </a:p>
        </p:txBody>
      </p:sp>
    </p:spTree>
    <p:extLst>
      <p:ext uri="{BB962C8B-B14F-4D97-AF65-F5344CB8AC3E}">
        <p14:creationId xmlns:p14="http://schemas.microsoft.com/office/powerpoint/2010/main" val="3442525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18444-9F8C-1043-9A4F-FC9555A77AB1}"/>
              </a:ext>
            </a:extLst>
          </p:cNvPr>
          <p:cNvSpPr>
            <a:spLocks noGrp="1"/>
          </p:cNvSpPr>
          <p:nvPr>
            <p:ph type="title"/>
          </p:nvPr>
        </p:nvSpPr>
        <p:spPr/>
        <p:txBody>
          <a:bodyPr/>
          <a:lstStyle/>
          <a:p>
            <a:r>
              <a:rPr lang="en-US" dirty="0"/>
              <a:t>Designing for Key-Value Databases</a:t>
            </a:r>
          </a:p>
        </p:txBody>
      </p:sp>
      <p:sp>
        <p:nvSpPr>
          <p:cNvPr id="3" name="Content Placeholder 2">
            <a:extLst>
              <a:ext uri="{FF2B5EF4-FFF2-40B4-BE49-F238E27FC236}">
                <a16:creationId xmlns:a16="http://schemas.microsoft.com/office/drawing/2014/main" id="{4A14D785-88C0-4D46-8E79-D37F1EEF5A17}"/>
              </a:ext>
            </a:extLst>
          </p:cNvPr>
          <p:cNvSpPr>
            <a:spLocks noGrp="1"/>
          </p:cNvSpPr>
          <p:nvPr>
            <p:ph idx="1"/>
          </p:nvPr>
        </p:nvSpPr>
        <p:spPr/>
        <p:txBody>
          <a:bodyPr/>
          <a:lstStyle/>
          <a:p>
            <a:r>
              <a:rPr lang="en-US" dirty="0"/>
              <a:t>When you design an application that uses a key-value database, you should consider several factors, including</a:t>
            </a:r>
          </a:p>
          <a:p>
            <a:pPr lvl="1"/>
            <a:r>
              <a:rPr lang="en-US" dirty="0"/>
              <a:t>How to structure keys</a:t>
            </a:r>
          </a:p>
          <a:p>
            <a:pPr lvl="1"/>
            <a:r>
              <a:rPr lang="en-US" dirty="0"/>
              <a:t>What types of information you want to capture in values</a:t>
            </a:r>
          </a:p>
          <a:p>
            <a:pPr lvl="1"/>
            <a:r>
              <a:rPr lang="en-US" dirty="0"/>
              <a:t>How to compensate for limitations of key-value databases</a:t>
            </a:r>
          </a:p>
          <a:p>
            <a:pPr lvl="1"/>
            <a:r>
              <a:rPr lang="en-US" dirty="0"/>
              <a:t>How to introduce abstractions that help create higher-level organizational structures than simple key-value pairs</a:t>
            </a:r>
          </a:p>
          <a:p>
            <a:endParaRPr lang="en-US" dirty="0"/>
          </a:p>
          <a:p>
            <a:endParaRPr lang="en-US" dirty="0"/>
          </a:p>
        </p:txBody>
      </p:sp>
    </p:spTree>
    <p:extLst>
      <p:ext uri="{BB962C8B-B14F-4D97-AF65-F5344CB8AC3E}">
        <p14:creationId xmlns:p14="http://schemas.microsoft.com/office/powerpoint/2010/main" val="4192232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B0AAA-2857-B340-8596-0AAA3BA0CB5E}"/>
              </a:ext>
            </a:extLst>
          </p:cNvPr>
          <p:cNvSpPr>
            <a:spLocks noGrp="1"/>
          </p:cNvSpPr>
          <p:nvPr>
            <p:ph type="title"/>
          </p:nvPr>
        </p:nvSpPr>
        <p:spPr/>
        <p:txBody>
          <a:bodyPr/>
          <a:lstStyle/>
          <a:p>
            <a:r>
              <a:rPr lang="en-US" dirty="0"/>
              <a:t>Keys</a:t>
            </a:r>
          </a:p>
        </p:txBody>
      </p:sp>
      <p:sp>
        <p:nvSpPr>
          <p:cNvPr id="3" name="Content Placeholder 2">
            <a:extLst>
              <a:ext uri="{FF2B5EF4-FFF2-40B4-BE49-F238E27FC236}">
                <a16:creationId xmlns:a16="http://schemas.microsoft.com/office/drawing/2014/main" id="{D08D2F2E-7396-2F47-9870-0309E7169D6F}"/>
              </a:ext>
            </a:extLst>
          </p:cNvPr>
          <p:cNvSpPr>
            <a:spLocks noGrp="1"/>
          </p:cNvSpPr>
          <p:nvPr>
            <p:ph idx="1"/>
          </p:nvPr>
        </p:nvSpPr>
        <p:spPr/>
        <p:txBody>
          <a:bodyPr>
            <a:normAutofit/>
          </a:bodyPr>
          <a:lstStyle/>
          <a:p>
            <a:r>
              <a:rPr lang="en-US" dirty="0"/>
              <a:t>Keys should follow a naming convention</a:t>
            </a:r>
          </a:p>
          <a:p>
            <a:pPr lvl="1"/>
            <a:r>
              <a:rPr lang="en-US" dirty="0"/>
              <a:t>Adds structure to the database</a:t>
            </a:r>
          </a:p>
          <a:p>
            <a:r>
              <a:rPr lang="en-US" dirty="0"/>
              <a:t>General guidelines. </a:t>
            </a:r>
          </a:p>
          <a:p>
            <a:pPr lvl="1"/>
            <a:r>
              <a:rPr lang="en-US" dirty="0"/>
              <a:t>Use meaningful and unambiguous naming components, such as '</a:t>
            </a:r>
            <a:r>
              <a:rPr lang="en-US" dirty="0" err="1"/>
              <a:t>cust</a:t>
            </a:r>
            <a:r>
              <a:rPr lang="en-US" dirty="0"/>
              <a:t>' for customer or 'inv' for inventory.</a:t>
            </a:r>
          </a:p>
          <a:p>
            <a:pPr lvl="1"/>
            <a:r>
              <a:rPr lang="en-US" dirty="0"/>
              <a:t>Use range-based components when you would like to retrieve ranges of values. Ranges include dates or integer counters.</a:t>
            </a:r>
          </a:p>
          <a:p>
            <a:pPr lvl="1"/>
            <a:r>
              <a:rPr lang="en-US" dirty="0"/>
              <a:t>Use a common delimiter when appending components to make a key. The ‘:’ is a commonly used delimiter, but any character that will not otherwise appear in the key will work.</a:t>
            </a:r>
          </a:p>
          <a:p>
            <a:pPr lvl="1"/>
            <a:r>
              <a:rPr lang="en-US" dirty="0"/>
              <a:t>Keep keys as short as possible without sacrificing the other characteristics mentioned in this list.</a:t>
            </a:r>
          </a:p>
          <a:p>
            <a:r>
              <a:rPr lang="en-US" dirty="0"/>
              <a:t>A well-designed key pattern helps minimize the amount of code a developer needs to write to create functions that access and set values.</a:t>
            </a:r>
          </a:p>
          <a:p>
            <a:endParaRPr lang="en-US" dirty="0"/>
          </a:p>
        </p:txBody>
      </p:sp>
    </p:spTree>
    <p:extLst>
      <p:ext uri="{BB962C8B-B14F-4D97-AF65-F5344CB8AC3E}">
        <p14:creationId xmlns:p14="http://schemas.microsoft.com/office/powerpoint/2010/main" val="9211691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E09A6-14AC-1948-B67D-EED9CFD08C62}"/>
              </a:ext>
            </a:extLst>
          </p:cNvPr>
          <p:cNvSpPr>
            <a:spLocks noGrp="1"/>
          </p:cNvSpPr>
          <p:nvPr>
            <p:ph type="title"/>
          </p:nvPr>
        </p:nvSpPr>
        <p:spPr/>
        <p:txBody>
          <a:bodyPr/>
          <a:lstStyle/>
          <a:p>
            <a:r>
              <a:rPr lang="en-US" dirty="0"/>
              <a:t>Keys and Partitioning</a:t>
            </a:r>
          </a:p>
        </p:txBody>
      </p:sp>
      <p:sp>
        <p:nvSpPr>
          <p:cNvPr id="3" name="Content Placeholder 2">
            <a:extLst>
              <a:ext uri="{FF2B5EF4-FFF2-40B4-BE49-F238E27FC236}">
                <a16:creationId xmlns:a16="http://schemas.microsoft.com/office/drawing/2014/main" id="{804DF962-89D3-864C-99BD-607B6EDE5F9E}"/>
              </a:ext>
            </a:extLst>
          </p:cNvPr>
          <p:cNvSpPr>
            <a:spLocks noGrp="1"/>
          </p:cNvSpPr>
          <p:nvPr>
            <p:ph idx="1"/>
          </p:nvPr>
        </p:nvSpPr>
        <p:spPr/>
        <p:txBody>
          <a:bodyPr/>
          <a:lstStyle/>
          <a:p>
            <a:r>
              <a:rPr lang="en-US" dirty="0"/>
              <a:t>Remember that the key will most likely be used for partitioning the data</a:t>
            </a:r>
          </a:p>
        </p:txBody>
      </p:sp>
      <p:pic>
        <p:nvPicPr>
          <p:cNvPr id="1026" name="Picture 2" descr="Image">
            <a:extLst>
              <a:ext uri="{FF2B5EF4-FFF2-40B4-BE49-F238E27FC236}">
                <a16:creationId xmlns:a16="http://schemas.microsoft.com/office/drawing/2014/main" id="{B98452D0-8142-DC4A-8C31-7E53A869B77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36709"/>
          <a:stretch/>
        </p:blipFill>
        <p:spPr bwMode="auto">
          <a:xfrm>
            <a:off x="6756114" y="2273300"/>
            <a:ext cx="4853683" cy="23114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a:extLst>
              <a:ext uri="{FF2B5EF4-FFF2-40B4-BE49-F238E27FC236}">
                <a16:creationId xmlns:a16="http://schemas.microsoft.com/office/drawing/2014/main" id="{5304C154-D4B6-BB4C-9B9C-2C0FA7F186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7280" y="2495575"/>
            <a:ext cx="4773613" cy="3429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9886A87-2CFA-B74E-80E1-3F4CC9F66210}"/>
              </a:ext>
            </a:extLst>
          </p:cNvPr>
          <p:cNvSpPr txBox="1"/>
          <p:nvPr/>
        </p:nvSpPr>
        <p:spPr>
          <a:xfrm>
            <a:off x="6417067" y="5054138"/>
            <a:ext cx="5295473" cy="923330"/>
          </a:xfrm>
          <a:prstGeom prst="rect">
            <a:avLst/>
          </a:prstGeom>
          <a:noFill/>
        </p:spPr>
        <p:txBody>
          <a:bodyPr wrap="square" rtlCol="0">
            <a:spAutoFit/>
          </a:bodyPr>
          <a:lstStyle/>
          <a:p>
            <a:r>
              <a:rPr lang="en-US" dirty="0"/>
              <a:t>Depending on key structure and partitioning algorithm data can end up on different nodes and yield different load balancing</a:t>
            </a:r>
          </a:p>
        </p:txBody>
      </p:sp>
    </p:spTree>
    <p:extLst>
      <p:ext uri="{BB962C8B-B14F-4D97-AF65-F5344CB8AC3E}">
        <p14:creationId xmlns:p14="http://schemas.microsoft.com/office/powerpoint/2010/main" val="42373528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F8C3D-2CD5-684D-A15C-6AE22401D366}"/>
              </a:ext>
            </a:extLst>
          </p:cNvPr>
          <p:cNvSpPr>
            <a:spLocks noGrp="1"/>
          </p:cNvSpPr>
          <p:nvPr>
            <p:ph type="title"/>
          </p:nvPr>
        </p:nvSpPr>
        <p:spPr/>
        <p:txBody>
          <a:bodyPr/>
          <a:lstStyle/>
          <a:p>
            <a:r>
              <a:rPr lang="en-US" dirty="0"/>
              <a:t>Values</a:t>
            </a:r>
          </a:p>
        </p:txBody>
      </p:sp>
      <p:sp>
        <p:nvSpPr>
          <p:cNvPr id="3" name="Content Placeholder 2">
            <a:extLst>
              <a:ext uri="{FF2B5EF4-FFF2-40B4-BE49-F238E27FC236}">
                <a16:creationId xmlns:a16="http://schemas.microsoft.com/office/drawing/2014/main" id="{F90DC3E1-ABBF-4D4F-A045-078745C6726B}"/>
              </a:ext>
            </a:extLst>
          </p:cNvPr>
          <p:cNvSpPr>
            <a:spLocks noGrp="1"/>
          </p:cNvSpPr>
          <p:nvPr>
            <p:ph idx="1"/>
          </p:nvPr>
        </p:nvSpPr>
        <p:spPr/>
        <p:txBody>
          <a:bodyPr/>
          <a:lstStyle/>
          <a:p>
            <a:r>
              <a:rPr lang="en-US" dirty="0"/>
              <a:t>Structured or Simple?</a:t>
            </a:r>
          </a:p>
          <a:p>
            <a:r>
              <a:rPr lang="en-US" dirty="0"/>
              <a:t>Simple</a:t>
            </a:r>
          </a:p>
          <a:p>
            <a:pPr lvl="1"/>
            <a:r>
              <a:rPr lang="en-US" dirty="0"/>
              <a:t>Much like a table column</a:t>
            </a:r>
          </a:p>
          <a:p>
            <a:pPr lvl="1"/>
            <a:r>
              <a:rPr lang="en-US" dirty="0"/>
              <a:t>Single value</a:t>
            </a:r>
          </a:p>
          <a:p>
            <a:pPr lvl="1"/>
            <a:r>
              <a:rPr lang="en-US" dirty="0"/>
              <a:t>Key is structured for accessing the data</a:t>
            </a:r>
          </a:p>
          <a:p>
            <a:pPr lvl="2"/>
            <a:r>
              <a:rPr lang="en-US" dirty="0"/>
              <a:t>Customer:1234:name</a:t>
            </a:r>
          </a:p>
          <a:p>
            <a:pPr lvl="2"/>
            <a:r>
              <a:rPr lang="en-US" dirty="0"/>
              <a:t>Customer:1234:address</a:t>
            </a:r>
          </a:p>
          <a:p>
            <a:r>
              <a:rPr lang="en-US" dirty="0"/>
              <a:t>Structured</a:t>
            </a:r>
          </a:p>
          <a:p>
            <a:pPr lvl="1"/>
            <a:r>
              <a:rPr lang="en-US" dirty="0"/>
              <a:t>Value is a blob which contains structured data</a:t>
            </a:r>
          </a:p>
          <a:p>
            <a:pPr lvl="1"/>
            <a:r>
              <a:rPr lang="en-US" dirty="0"/>
              <a:t>Customer:1234:nameAddr = { 'Jane Anderson' ,</a:t>
            </a:r>
            <a:br>
              <a:rPr lang="en-US" dirty="0"/>
            </a:br>
            <a:r>
              <a:rPr lang="en-US" dirty="0"/>
              <a:t>  '39 NE River St. Portland, OR 97222'}</a:t>
            </a:r>
          </a:p>
        </p:txBody>
      </p:sp>
    </p:spTree>
    <p:extLst>
      <p:ext uri="{BB962C8B-B14F-4D97-AF65-F5344CB8AC3E}">
        <p14:creationId xmlns:p14="http://schemas.microsoft.com/office/powerpoint/2010/main" val="15059520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9D8C0-5610-9D4F-A32A-65FEABECF222}"/>
              </a:ext>
            </a:extLst>
          </p:cNvPr>
          <p:cNvSpPr>
            <a:spLocks noGrp="1"/>
          </p:cNvSpPr>
          <p:nvPr>
            <p:ph type="title"/>
          </p:nvPr>
        </p:nvSpPr>
        <p:spPr/>
        <p:txBody>
          <a:bodyPr/>
          <a:lstStyle/>
          <a:p>
            <a:r>
              <a:rPr lang="en-US" dirty="0"/>
              <a:t>Values</a:t>
            </a:r>
          </a:p>
        </p:txBody>
      </p:sp>
      <p:sp>
        <p:nvSpPr>
          <p:cNvPr id="3" name="Content Placeholder 2">
            <a:extLst>
              <a:ext uri="{FF2B5EF4-FFF2-40B4-BE49-F238E27FC236}">
                <a16:creationId xmlns:a16="http://schemas.microsoft.com/office/drawing/2014/main" id="{7B07B153-8427-CF4E-9A83-98A9A34C973C}"/>
              </a:ext>
            </a:extLst>
          </p:cNvPr>
          <p:cNvSpPr>
            <a:spLocks noGrp="1"/>
          </p:cNvSpPr>
          <p:nvPr>
            <p:ph idx="1"/>
          </p:nvPr>
        </p:nvSpPr>
        <p:spPr/>
        <p:txBody>
          <a:bodyPr/>
          <a:lstStyle/>
          <a:p>
            <a:r>
              <a:rPr lang="en-US" dirty="0"/>
              <a:t>Structured or Simple? Which is best?</a:t>
            </a:r>
          </a:p>
          <a:p>
            <a:pPr lvl="1"/>
            <a:r>
              <a:rPr lang="en-US" dirty="0"/>
              <a:t>It depends</a:t>
            </a:r>
          </a:p>
          <a:p>
            <a:pPr lvl="1"/>
            <a:endParaRPr lang="en-US" dirty="0"/>
          </a:p>
          <a:p>
            <a:r>
              <a:rPr lang="en-US" dirty="0"/>
              <a:t>Consider your queries.</a:t>
            </a:r>
          </a:p>
          <a:p>
            <a:pPr lvl="1"/>
            <a:r>
              <a:rPr lang="en-US" dirty="0"/>
              <a:t>How often do you ask for more than one value for a given customer?</a:t>
            </a:r>
          </a:p>
          <a:p>
            <a:endParaRPr lang="en-US" dirty="0"/>
          </a:p>
          <a:p>
            <a:r>
              <a:rPr lang="en-US" dirty="0"/>
              <a:t>Cost and performance are mostly determined by the number of queries</a:t>
            </a:r>
          </a:p>
          <a:p>
            <a:pPr lvl="1"/>
            <a:r>
              <a:rPr lang="en-US" dirty="0"/>
              <a:t>Disk seek and read time</a:t>
            </a:r>
          </a:p>
          <a:p>
            <a:pPr lvl="1"/>
            <a:r>
              <a:rPr lang="en-US" dirty="0"/>
              <a:t>Latency vs. bandwidth</a:t>
            </a:r>
          </a:p>
          <a:p>
            <a:pPr lvl="1"/>
            <a:r>
              <a:rPr lang="en-US" dirty="0"/>
              <a:t>But be careful!</a:t>
            </a:r>
          </a:p>
        </p:txBody>
      </p:sp>
    </p:spTree>
    <p:extLst>
      <p:ext uri="{BB962C8B-B14F-4D97-AF65-F5344CB8AC3E}">
        <p14:creationId xmlns:p14="http://schemas.microsoft.com/office/powerpoint/2010/main" val="41964414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F7AC6-3766-174C-98B5-1C789E67BCE8}"/>
              </a:ext>
            </a:extLst>
          </p:cNvPr>
          <p:cNvSpPr>
            <a:spLocks noGrp="1"/>
          </p:cNvSpPr>
          <p:nvPr>
            <p:ph type="title"/>
          </p:nvPr>
        </p:nvSpPr>
        <p:spPr/>
        <p:txBody>
          <a:bodyPr/>
          <a:lstStyle/>
          <a:p>
            <a:r>
              <a:rPr lang="en-US" dirty="0"/>
              <a:t>Remember	</a:t>
            </a:r>
          </a:p>
        </p:txBody>
      </p:sp>
      <p:sp>
        <p:nvSpPr>
          <p:cNvPr id="3" name="Content Placeholder 2">
            <a:extLst>
              <a:ext uri="{FF2B5EF4-FFF2-40B4-BE49-F238E27FC236}">
                <a16:creationId xmlns:a16="http://schemas.microsoft.com/office/drawing/2014/main" id="{76471180-835C-1F47-9456-C40EE37CA823}"/>
              </a:ext>
            </a:extLst>
          </p:cNvPr>
          <p:cNvSpPr>
            <a:spLocks noGrp="1"/>
          </p:cNvSpPr>
          <p:nvPr>
            <p:ph idx="1"/>
          </p:nvPr>
        </p:nvSpPr>
        <p:spPr/>
        <p:txBody>
          <a:bodyPr/>
          <a:lstStyle/>
          <a:p>
            <a:r>
              <a:rPr lang="en-US" dirty="0"/>
              <a:t>Lookup is by key only</a:t>
            </a:r>
          </a:p>
          <a:p>
            <a:pPr lvl="1"/>
            <a:r>
              <a:rPr lang="en-US" dirty="0"/>
              <a:t>Some databases have added limited forms of value search like a text search</a:t>
            </a:r>
          </a:p>
          <a:p>
            <a:endParaRPr lang="en-US" dirty="0"/>
          </a:p>
          <a:p>
            <a:r>
              <a:rPr lang="en-US" dirty="0"/>
              <a:t>No support for range queries</a:t>
            </a:r>
          </a:p>
          <a:p>
            <a:pPr lvl="1"/>
            <a:r>
              <a:rPr lang="en-US" dirty="0"/>
              <a:t>Unless you somehow design it into your key</a:t>
            </a:r>
          </a:p>
          <a:p>
            <a:pPr lvl="1"/>
            <a:r>
              <a:rPr lang="en-US" dirty="0"/>
              <a:t>Most likely still requires multiple queries</a:t>
            </a:r>
          </a:p>
          <a:p>
            <a:pPr lvl="1"/>
            <a:endParaRPr lang="en-US" dirty="0"/>
          </a:p>
          <a:p>
            <a:r>
              <a:rPr lang="en-US" dirty="0"/>
              <a:t>No standard query language</a:t>
            </a:r>
          </a:p>
          <a:p>
            <a:pPr lvl="1"/>
            <a:r>
              <a:rPr lang="en-US" dirty="0"/>
              <a:t>Get(key)</a:t>
            </a:r>
          </a:p>
          <a:p>
            <a:pPr lvl="1"/>
            <a:r>
              <a:rPr lang="en-US" dirty="0"/>
              <a:t>Set(key, value)</a:t>
            </a:r>
          </a:p>
          <a:p>
            <a:pPr lvl="1"/>
            <a:r>
              <a:rPr lang="en-US" dirty="0"/>
              <a:t>Delete(key)</a:t>
            </a:r>
          </a:p>
        </p:txBody>
      </p:sp>
    </p:spTree>
    <p:extLst>
      <p:ext uri="{BB962C8B-B14F-4D97-AF65-F5344CB8AC3E}">
        <p14:creationId xmlns:p14="http://schemas.microsoft.com/office/powerpoint/2010/main" val="19118594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CDBD7-D5BE-4E4D-BA31-2A6C65AB9006}"/>
              </a:ext>
            </a:extLst>
          </p:cNvPr>
          <p:cNvSpPr>
            <a:spLocks noGrp="1"/>
          </p:cNvSpPr>
          <p:nvPr>
            <p:ph type="title"/>
          </p:nvPr>
        </p:nvSpPr>
        <p:spPr/>
        <p:txBody>
          <a:bodyPr/>
          <a:lstStyle/>
          <a:p>
            <a:r>
              <a:rPr lang="en-US" dirty="0"/>
              <a:t>Design Patterns</a:t>
            </a:r>
          </a:p>
        </p:txBody>
      </p:sp>
      <p:sp>
        <p:nvSpPr>
          <p:cNvPr id="3" name="Content Placeholder 2">
            <a:extLst>
              <a:ext uri="{FF2B5EF4-FFF2-40B4-BE49-F238E27FC236}">
                <a16:creationId xmlns:a16="http://schemas.microsoft.com/office/drawing/2014/main" id="{29CD5D2B-24B4-384A-AFDA-CA0F0D8942AC}"/>
              </a:ext>
            </a:extLst>
          </p:cNvPr>
          <p:cNvSpPr>
            <a:spLocks noGrp="1"/>
          </p:cNvSpPr>
          <p:nvPr>
            <p:ph idx="1"/>
          </p:nvPr>
        </p:nvSpPr>
        <p:spPr/>
        <p:txBody>
          <a:bodyPr/>
          <a:lstStyle/>
          <a:p>
            <a:r>
              <a:rPr lang="en-US" dirty="0"/>
              <a:t>Emulating Tables</a:t>
            </a:r>
          </a:p>
          <a:p>
            <a:r>
              <a:rPr lang="en-US" dirty="0"/>
              <a:t>Aggregates</a:t>
            </a:r>
          </a:p>
          <a:p>
            <a:r>
              <a:rPr lang="en-US" dirty="0"/>
              <a:t>Atomic Aggregates</a:t>
            </a:r>
          </a:p>
          <a:p>
            <a:r>
              <a:rPr lang="en-US" dirty="0"/>
              <a:t>Enumerable Keys</a:t>
            </a:r>
          </a:p>
          <a:p>
            <a:r>
              <a:rPr lang="en-US" dirty="0"/>
              <a:t>Range Keys</a:t>
            </a:r>
          </a:p>
        </p:txBody>
      </p:sp>
    </p:spTree>
    <p:extLst>
      <p:ext uri="{BB962C8B-B14F-4D97-AF65-F5344CB8AC3E}">
        <p14:creationId xmlns:p14="http://schemas.microsoft.com/office/powerpoint/2010/main" val="15689696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B3D9A-D441-5443-AAEB-F44E8F705145}"/>
              </a:ext>
            </a:extLst>
          </p:cNvPr>
          <p:cNvSpPr>
            <a:spLocks noGrp="1"/>
          </p:cNvSpPr>
          <p:nvPr>
            <p:ph type="title"/>
          </p:nvPr>
        </p:nvSpPr>
        <p:spPr/>
        <p:txBody>
          <a:bodyPr/>
          <a:lstStyle/>
          <a:p>
            <a:r>
              <a:rPr lang="en-US" dirty="0"/>
              <a:t>Emulating Tables</a:t>
            </a:r>
          </a:p>
        </p:txBody>
      </p:sp>
      <p:sp>
        <p:nvSpPr>
          <p:cNvPr id="3" name="Content Placeholder 2">
            <a:extLst>
              <a:ext uri="{FF2B5EF4-FFF2-40B4-BE49-F238E27FC236}">
                <a16:creationId xmlns:a16="http://schemas.microsoft.com/office/drawing/2014/main" id="{BA892BC4-C466-7643-87DB-8C77D331FA96}"/>
              </a:ext>
            </a:extLst>
          </p:cNvPr>
          <p:cNvSpPr>
            <a:spLocks noGrp="1"/>
          </p:cNvSpPr>
          <p:nvPr>
            <p:ph idx="1"/>
          </p:nvPr>
        </p:nvSpPr>
        <p:spPr/>
        <p:txBody>
          <a:bodyPr/>
          <a:lstStyle/>
          <a:p>
            <a:r>
              <a:rPr lang="en-US" dirty="0"/>
              <a:t>Key-Value Databases do not support tables, but…</a:t>
            </a:r>
          </a:p>
          <a:p>
            <a:r>
              <a:rPr lang="en-US" dirty="0"/>
              <a:t>Use the key to indicate table structure</a:t>
            </a:r>
          </a:p>
          <a:p>
            <a:pPr lvl="1"/>
            <a:r>
              <a:rPr lang="en-US" dirty="0"/>
              <a:t>Add a consistent separator to build up the key</a:t>
            </a:r>
          </a:p>
          <a:p>
            <a:pPr lvl="1"/>
            <a:r>
              <a:rPr lang="en-US" dirty="0"/>
              <a:t>Example: </a:t>
            </a:r>
            <a:r>
              <a:rPr lang="en-US" dirty="0" err="1"/>
              <a:t>Tablename:Key:Field</a:t>
            </a:r>
            <a:r>
              <a:rPr lang="en-US" dirty="0"/>
              <a:t>	</a:t>
            </a:r>
            <a:r>
              <a:rPr lang="en-US" dirty="0">
                <a:sym typeface="Wingdings" pitchFamily="2" charset="2"/>
              </a:rPr>
              <a:t> cust:1234:fname</a:t>
            </a:r>
          </a:p>
          <a:p>
            <a:r>
              <a:rPr lang="en-US" dirty="0">
                <a:sym typeface="Wingdings" pitchFamily="2" charset="2"/>
              </a:rPr>
              <a:t>Use string operations to build the key</a:t>
            </a:r>
          </a:p>
          <a:p>
            <a:r>
              <a:rPr lang="en-US" dirty="0">
                <a:sym typeface="Wingdings" pitchFamily="2" charset="2"/>
              </a:rPr>
              <a:t>Define higher level functions for getting and setting “rows” and ”columns”</a:t>
            </a:r>
            <a:endParaRPr lang="en-US" dirty="0"/>
          </a:p>
        </p:txBody>
      </p:sp>
      <p:pic>
        <p:nvPicPr>
          <p:cNvPr id="4" name="Picture 3">
            <a:extLst>
              <a:ext uri="{FF2B5EF4-FFF2-40B4-BE49-F238E27FC236}">
                <a16:creationId xmlns:a16="http://schemas.microsoft.com/office/drawing/2014/main" id="{6F61D117-4115-B540-AEFC-F6DF9CE8A12B}"/>
              </a:ext>
            </a:extLst>
          </p:cNvPr>
          <p:cNvPicPr>
            <a:picLocks noChangeAspect="1"/>
          </p:cNvPicPr>
          <p:nvPr/>
        </p:nvPicPr>
        <p:blipFill>
          <a:blip r:embed="rId2"/>
          <a:stretch>
            <a:fillRect/>
          </a:stretch>
        </p:blipFill>
        <p:spPr>
          <a:xfrm>
            <a:off x="7310420" y="1975275"/>
            <a:ext cx="4240737" cy="459493"/>
          </a:xfrm>
          <a:prstGeom prst="rect">
            <a:avLst/>
          </a:prstGeom>
        </p:spPr>
      </p:pic>
      <p:pic>
        <p:nvPicPr>
          <p:cNvPr id="5" name="Picture 4">
            <a:extLst>
              <a:ext uri="{FF2B5EF4-FFF2-40B4-BE49-F238E27FC236}">
                <a16:creationId xmlns:a16="http://schemas.microsoft.com/office/drawing/2014/main" id="{CDFE57C6-D799-4C42-B43D-1A746DAB0D48}"/>
              </a:ext>
            </a:extLst>
          </p:cNvPr>
          <p:cNvPicPr>
            <a:picLocks noChangeAspect="1"/>
          </p:cNvPicPr>
          <p:nvPr/>
        </p:nvPicPr>
        <p:blipFill>
          <a:blip r:embed="rId3"/>
          <a:stretch>
            <a:fillRect/>
          </a:stretch>
        </p:blipFill>
        <p:spPr>
          <a:xfrm>
            <a:off x="7310419" y="2754218"/>
            <a:ext cx="4240737" cy="466870"/>
          </a:xfrm>
          <a:prstGeom prst="rect">
            <a:avLst/>
          </a:prstGeom>
        </p:spPr>
      </p:pic>
      <p:pic>
        <p:nvPicPr>
          <p:cNvPr id="6" name="Picture 5">
            <a:extLst>
              <a:ext uri="{FF2B5EF4-FFF2-40B4-BE49-F238E27FC236}">
                <a16:creationId xmlns:a16="http://schemas.microsoft.com/office/drawing/2014/main" id="{A75C8C18-1E77-754C-B94B-6C938EC5BEAC}"/>
              </a:ext>
            </a:extLst>
          </p:cNvPr>
          <p:cNvPicPr>
            <a:picLocks noChangeAspect="1"/>
          </p:cNvPicPr>
          <p:nvPr/>
        </p:nvPicPr>
        <p:blipFill>
          <a:blip r:embed="rId4"/>
          <a:stretch>
            <a:fillRect/>
          </a:stretch>
        </p:blipFill>
        <p:spPr>
          <a:xfrm>
            <a:off x="1097280" y="4556796"/>
            <a:ext cx="4221268" cy="1554236"/>
          </a:xfrm>
          <a:prstGeom prst="rect">
            <a:avLst/>
          </a:prstGeom>
        </p:spPr>
      </p:pic>
      <p:pic>
        <p:nvPicPr>
          <p:cNvPr id="7" name="Picture 6">
            <a:extLst>
              <a:ext uri="{FF2B5EF4-FFF2-40B4-BE49-F238E27FC236}">
                <a16:creationId xmlns:a16="http://schemas.microsoft.com/office/drawing/2014/main" id="{8E64F02D-E5E0-784A-AF8D-51E1997CD3C8}"/>
              </a:ext>
            </a:extLst>
          </p:cNvPr>
          <p:cNvPicPr>
            <a:picLocks noChangeAspect="1"/>
          </p:cNvPicPr>
          <p:nvPr/>
        </p:nvPicPr>
        <p:blipFill>
          <a:blip r:embed="rId5"/>
          <a:stretch>
            <a:fillRect/>
          </a:stretch>
        </p:blipFill>
        <p:spPr>
          <a:xfrm>
            <a:off x="6647422" y="4556796"/>
            <a:ext cx="3544542" cy="1776625"/>
          </a:xfrm>
          <a:prstGeom prst="rect">
            <a:avLst/>
          </a:prstGeom>
        </p:spPr>
      </p:pic>
    </p:spTree>
    <p:extLst>
      <p:ext uri="{BB962C8B-B14F-4D97-AF65-F5344CB8AC3E}">
        <p14:creationId xmlns:p14="http://schemas.microsoft.com/office/powerpoint/2010/main" val="5708575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DC7B5-3038-EA4D-A66A-383AD91300EB}"/>
              </a:ext>
            </a:extLst>
          </p:cNvPr>
          <p:cNvSpPr>
            <a:spLocks noGrp="1"/>
          </p:cNvSpPr>
          <p:nvPr>
            <p:ph type="title"/>
          </p:nvPr>
        </p:nvSpPr>
        <p:spPr/>
        <p:txBody>
          <a:bodyPr/>
          <a:lstStyle/>
          <a:p>
            <a:r>
              <a:rPr lang="en-US" dirty="0"/>
              <a:t>Aggregates</a:t>
            </a:r>
          </a:p>
        </p:txBody>
      </p:sp>
      <p:sp>
        <p:nvSpPr>
          <p:cNvPr id="3" name="Content Placeholder 2">
            <a:extLst>
              <a:ext uri="{FF2B5EF4-FFF2-40B4-BE49-F238E27FC236}">
                <a16:creationId xmlns:a16="http://schemas.microsoft.com/office/drawing/2014/main" id="{8190EFBA-D988-504B-B858-9D1FC761C21F}"/>
              </a:ext>
            </a:extLst>
          </p:cNvPr>
          <p:cNvSpPr>
            <a:spLocks noGrp="1"/>
          </p:cNvSpPr>
          <p:nvPr>
            <p:ph idx="1"/>
          </p:nvPr>
        </p:nvSpPr>
        <p:spPr>
          <a:xfrm>
            <a:off x="1097280" y="1845734"/>
            <a:ext cx="7111772" cy="4023360"/>
          </a:xfrm>
        </p:spPr>
        <p:txBody>
          <a:bodyPr>
            <a:normAutofit lnSpcReduction="10000"/>
          </a:bodyPr>
          <a:lstStyle/>
          <a:p>
            <a:r>
              <a:rPr lang="en-US" dirty="0"/>
              <a:t>Inheritance and subtype relationships</a:t>
            </a:r>
          </a:p>
          <a:p>
            <a:r>
              <a:rPr lang="en-US" dirty="0"/>
              <a:t>In relational databases, we used partitioning methods</a:t>
            </a:r>
          </a:p>
          <a:p>
            <a:pPr lvl="1"/>
            <a:r>
              <a:rPr lang="en-US" dirty="0"/>
              <a:t>Horizontal partitioning</a:t>
            </a:r>
          </a:p>
          <a:p>
            <a:pPr lvl="1"/>
            <a:r>
              <a:rPr lang="en-US" dirty="0"/>
              <a:t>Vertical partitioning</a:t>
            </a:r>
          </a:p>
          <a:p>
            <a:pPr lvl="1"/>
            <a:r>
              <a:rPr lang="en-US" dirty="0"/>
              <a:t>Unification</a:t>
            </a:r>
          </a:p>
          <a:p>
            <a:r>
              <a:rPr lang="en-US" dirty="0"/>
              <a:t>Mostly, we were concerned with eliminating redundancy and nulls</a:t>
            </a:r>
          </a:p>
          <a:p>
            <a:endParaRPr lang="en-US" dirty="0"/>
          </a:p>
          <a:p>
            <a:r>
              <a:rPr lang="en-US" dirty="0"/>
              <a:t>Key-Value databases are much more flexible</a:t>
            </a:r>
          </a:p>
          <a:p>
            <a:pPr lvl="1"/>
            <a:r>
              <a:rPr lang="en-US" dirty="0"/>
              <a:t>Use a structured value</a:t>
            </a:r>
          </a:p>
          <a:p>
            <a:pPr lvl="1"/>
            <a:r>
              <a:rPr lang="en-US" dirty="0"/>
              <a:t>Add a type field </a:t>
            </a:r>
          </a:p>
          <a:p>
            <a:pPr lvl="1"/>
            <a:r>
              <a:rPr lang="en-US" dirty="0"/>
              <a:t>Add only those fields that are necessary for that type</a:t>
            </a:r>
          </a:p>
        </p:txBody>
      </p:sp>
      <p:pic>
        <p:nvPicPr>
          <p:cNvPr id="2050" name="Picture 2" descr="Image">
            <a:extLst>
              <a:ext uri="{FF2B5EF4-FFF2-40B4-BE49-F238E27FC236}">
                <a16:creationId xmlns:a16="http://schemas.microsoft.com/office/drawing/2014/main" id="{2E8493B0-033E-5345-B39F-A09C94115A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31517" y="2064502"/>
            <a:ext cx="3491183" cy="179291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1E1F3877-F583-F543-94A5-44BE5C7811F1}"/>
              </a:ext>
            </a:extLst>
          </p:cNvPr>
          <p:cNvPicPr>
            <a:picLocks noChangeAspect="1"/>
          </p:cNvPicPr>
          <p:nvPr/>
        </p:nvPicPr>
        <p:blipFill>
          <a:blip r:embed="rId3"/>
          <a:stretch>
            <a:fillRect/>
          </a:stretch>
        </p:blipFill>
        <p:spPr>
          <a:xfrm>
            <a:off x="7623424" y="4184555"/>
            <a:ext cx="4287395" cy="1792911"/>
          </a:xfrm>
          <a:prstGeom prst="rect">
            <a:avLst/>
          </a:prstGeom>
        </p:spPr>
      </p:pic>
    </p:spTree>
    <p:extLst>
      <p:ext uri="{BB962C8B-B14F-4D97-AF65-F5344CB8AC3E}">
        <p14:creationId xmlns:p14="http://schemas.microsoft.com/office/powerpoint/2010/main" val="4346572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DD492-B8EB-8D4A-9D27-1FA2669DB17A}"/>
              </a:ext>
            </a:extLst>
          </p:cNvPr>
          <p:cNvSpPr>
            <a:spLocks noGrp="1"/>
          </p:cNvSpPr>
          <p:nvPr>
            <p:ph type="title"/>
          </p:nvPr>
        </p:nvSpPr>
        <p:spPr>
          <a:xfrm>
            <a:off x="1097279" y="286603"/>
            <a:ext cx="10841291" cy="1450757"/>
          </a:xfrm>
        </p:spPr>
        <p:txBody>
          <a:bodyPr>
            <a:normAutofit/>
          </a:bodyPr>
          <a:lstStyle/>
          <a:p>
            <a:r>
              <a:rPr lang="en-US" sz="4000" dirty="0"/>
              <a:t>Atomic Aggregates - Enumerable Keys – Range Keys</a:t>
            </a:r>
          </a:p>
        </p:txBody>
      </p:sp>
      <p:sp>
        <p:nvSpPr>
          <p:cNvPr id="3" name="Content Placeholder 2">
            <a:extLst>
              <a:ext uri="{FF2B5EF4-FFF2-40B4-BE49-F238E27FC236}">
                <a16:creationId xmlns:a16="http://schemas.microsoft.com/office/drawing/2014/main" id="{04EF163F-FAB4-FF4A-80A7-7858AECDAB63}"/>
              </a:ext>
            </a:extLst>
          </p:cNvPr>
          <p:cNvSpPr>
            <a:spLocks noGrp="1"/>
          </p:cNvSpPr>
          <p:nvPr>
            <p:ph idx="1"/>
          </p:nvPr>
        </p:nvSpPr>
        <p:spPr/>
        <p:txBody>
          <a:bodyPr>
            <a:normAutofit lnSpcReduction="10000"/>
          </a:bodyPr>
          <a:lstStyle/>
          <a:p>
            <a:r>
              <a:rPr lang="en-US" dirty="0"/>
              <a:t>Atomic Aggregates</a:t>
            </a:r>
          </a:p>
          <a:p>
            <a:pPr lvl="1"/>
            <a:r>
              <a:rPr lang="en-US" dirty="0"/>
              <a:t>Akin to a transaction</a:t>
            </a:r>
          </a:p>
          <a:p>
            <a:pPr lvl="2"/>
            <a:r>
              <a:rPr lang="en-US" dirty="0"/>
              <a:t>But we can’t do ACID transactions</a:t>
            </a:r>
          </a:p>
          <a:p>
            <a:pPr lvl="1"/>
            <a:r>
              <a:rPr lang="en-US" dirty="0"/>
              <a:t>Value contains structured data that must all be updated at once or not at all</a:t>
            </a:r>
          </a:p>
          <a:p>
            <a:pPr lvl="2"/>
            <a:r>
              <a:rPr lang="en-US" dirty="0"/>
              <a:t>Single Set operation will set all the values</a:t>
            </a:r>
          </a:p>
          <a:p>
            <a:r>
              <a:rPr lang="en-US" dirty="0"/>
              <a:t>Enumerable Keys</a:t>
            </a:r>
          </a:p>
          <a:p>
            <a:pPr lvl="1"/>
            <a:r>
              <a:rPr lang="en-US" dirty="0"/>
              <a:t>Key contains some sort of enumerable value</a:t>
            </a:r>
          </a:p>
          <a:p>
            <a:pPr lvl="1"/>
            <a:r>
              <a:rPr lang="en-US" dirty="0"/>
              <a:t>Example – ticketLog:9888</a:t>
            </a:r>
          </a:p>
          <a:p>
            <a:pPr lvl="1"/>
            <a:r>
              <a:rPr lang="en-US" dirty="0"/>
              <a:t>Or maybe better – ticketLog:20211102:58</a:t>
            </a:r>
          </a:p>
          <a:p>
            <a:pPr lvl="2"/>
            <a:r>
              <a:rPr lang="en-US" dirty="0"/>
              <a:t>Date is encoded so we can lookup tickets sold on a particular day</a:t>
            </a:r>
          </a:p>
          <a:p>
            <a:r>
              <a:rPr lang="en-US" dirty="0"/>
              <a:t>Range Keys</a:t>
            </a:r>
          </a:p>
          <a:p>
            <a:pPr lvl="1"/>
            <a:r>
              <a:rPr lang="en-US" dirty="0"/>
              <a:t>Key with a value to indicate range of another key</a:t>
            </a:r>
          </a:p>
          <a:p>
            <a:pPr lvl="1"/>
            <a:r>
              <a:rPr lang="en-US" dirty="0"/>
              <a:t>Example ticketLogRange:20211102 = {“min”: 0, “max”:256}</a:t>
            </a:r>
          </a:p>
          <a:p>
            <a:pPr lvl="1"/>
            <a:endParaRPr lang="en-US" dirty="0"/>
          </a:p>
        </p:txBody>
      </p:sp>
    </p:spTree>
    <p:extLst>
      <p:ext uri="{BB962C8B-B14F-4D97-AF65-F5344CB8AC3E}">
        <p14:creationId xmlns:p14="http://schemas.microsoft.com/office/powerpoint/2010/main" val="14216080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ED7B3-4E5B-C049-BC28-D47F6B39F607}"/>
              </a:ext>
            </a:extLst>
          </p:cNvPr>
          <p:cNvSpPr>
            <a:spLocks noGrp="1"/>
          </p:cNvSpPr>
          <p:nvPr>
            <p:ph type="ctrTitle"/>
          </p:nvPr>
        </p:nvSpPr>
        <p:spPr/>
        <p:txBody>
          <a:bodyPr>
            <a:normAutofit/>
          </a:bodyPr>
          <a:lstStyle/>
          <a:p>
            <a:r>
              <a:rPr lang="en-US" sz="6600" b="1" dirty="0"/>
              <a:t>Dynamo: Amazon’s Highly Available Key-value Store </a:t>
            </a:r>
            <a:endParaRPr lang="en-US" sz="6600" dirty="0">
              <a:effectLst/>
            </a:endParaRPr>
          </a:p>
        </p:txBody>
      </p:sp>
      <p:sp>
        <p:nvSpPr>
          <p:cNvPr id="3" name="Subtitle 2">
            <a:extLst>
              <a:ext uri="{FF2B5EF4-FFF2-40B4-BE49-F238E27FC236}">
                <a16:creationId xmlns:a16="http://schemas.microsoft.com/office/drawing/2014/main" id="{6D94B49F-5680-C84E-BE6E-741458628E43}"/>
              </a:ext>
            </a:extLst>
          </p:cNvPr>
          <p:cNvSpPr>
            <a:spLocks noGrp="1"/>
          </p:cNvSpPr>
          <p:nvPr>
            <p:ph type="subTitle" idx="1"/>
          </p:nvPr>
        </p:nvSpPr>
        <p:spPr>
          <a:xfrm>
            <a:off x="932027" y="4536986"/>
            <a:ext cx="10223653" cy="1655762"/>
          </a:xfrm>
        </p:spPr>
        <p:txBody>
          <a:bodyPr/>
          <a:lstStyle/>
          <a:p>
            <a:r>
              <a:rPr lang="en-US" dirty="0">
                <a:cs typeface="Courier New" panose="02070309020205020404" pitchFamily="49" charset="0"/>
                <a:hlinkClick r:id="rId2"/>
              </a:rPr>
              <a:t>https://www.allthingsdistributed.com/files/amazon-dynamo-sosp2007.pdf</a:t>
            </a:r>
            <a:endParaRPr lang="en-US" dirty="0">
              <a:cs typeface="Courier New" panose="02070309020205020404" pitchFamily="49" charset="0"/>
            </a:endParaRPr>
          </a:p>
          <a:p>
            <a:endParaRPr lang="en-US" dirty="0"/>
          </a:p>
        </p:txBody>
      </p:sp>
    </p:spTree>
    <p:extLst>
      <p:ext uri="{BB962C8B-B14F-4D97-AF65-F5344CB8AC3E}">
        <p14:creationId xmlns:p14="http://schemas.microsoft.com/office/powerpoint/2010/main" val="8282648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4440B-8BF9-6A41-9664-A659B7A76AA9}"/>
              </a:ext>
            </a:extLst>
          </p:cNvPr>
          <p:cNvSpPr>
            <a:spLocks noGrp="1"/>
          </p:cNvSpPr>
          <p:nvPr>
            <p:ph type="title"/>
          </p:nvPr>
        </p:nvSpPr>
        <p:spPr/>
        <p:txBody>
          <a:bodyPr/>
          <a:lstStyle/>
          <a:p>
            <a:r>
              <a:rPr lang="en-US" dirty="0"/>
              <a:t>Dynamo Goals</a:t>
            </a:r>
          </a:p>
        </p:txBody>
      </p:sp>
      <p:sp>
        <p:nvSpPr>
          <p:cNvPr id="3" name="Content Placeholder 2">
            <a:extLst>
              <a:ext uri="{FF2B5EF4-FFF2-40B4-BE49-F238E27FC236}">
                <a16:creationId xmlns:a16="http://schemas.microsoft.com/office/drawing/2014/main" id="{1AD45F04-F694-F847-946F-92457BDB7E7F}"/>
              </a:ext>
            </a:extLst>
          </p:cNvPr>
          <p:cNvSpPr>
            <a:spLocks noGrp="1"/>
          </p:cNvSpPr>
          <p:nvPr>
            <p:ph idx="1"/>
          </p:nvPr>
        </p:nvSpPr>
        <p:spPr/>
        <p:txBody>
          <a:bodyPr/>
          <a:lstStyle/>
          <a:p>
            <a:r>
              <a:rPr lang="en-US" dirty="0"/>
              <a:t>Reliability</a:t>
            </a:r>
          </a:p>
          <a:p>
            <a:r>
              <a:rPr lang="en-US" dirty="0"/>
              <a:t>Always-on</a:t>
            </a:r>
          </a:p>
          <a:p>
            <a:r>
              <a:rPr lang="en-US" dirty="0"/>
              <a:t>Even the slightest outage has significant financial consequences</a:t>
            </a:r>
          </a:p>
          <a:p>
            <a:r>
              <a:rPr lang="en-US" dirty="0"/>
              <a:t>Scalability</a:t>
            </a:r>
          </a:p>
          <a:p>
            <a:r>
              <a:rPr lang="en-US" dirty="0"/>
              <a:t>customers should be able to view and add items to their shopping cart even if disks are failing, network routes are flapping, or data centers are being destroyed by tornados. </a:t>
            </a:r>
            <a:endParaRPr lang="en-US" dirty="0">
              <a:effectLst/>
            </a:endParaRPr>
          </a:p>
          <a:p>
            <a:r>
              <a:rPr lang="en-US" dirty="0"/>
              <a:t>Always have failures</a:t>
            </a:r>
          </a:p>
        </p:txBody>
      </p:sp>
    </p:spTree>
    <p:extLst>
      <p:ext uri="{BB962C8B-B14F-4D97-AF65-F5344CB8AC3E}">
        <p14:creationId xmlns:p14="http://schemas.microsoft.com/office/powerpoint/2010/main" val="32128932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AC7CD-F658-3C41-87F8-D4602A6AF896}"/>
              </a:ext>
            </a:extLst>
          </p:cNvPr>
          <p:cNvSpPr>
            <a:spLocks noGrp="1"/>
          </p:cNvSpPr>
          <p:nvPr>
            <p:ph type="title"/>
          </p:nvPr>
        </p:nvSpPr>
        <p:spPr/>
        <p:txBody>
          <a:bodyPr/>
          <a:lstStyle/>
          <a:p>
            <a:r>
              <a:rPr lang="en-US" dirty="0"/>
              <a:t>Dynamo</a:t>
            </a:r>
          </a:p>
        </p:txBody>
      </p:sp>
      <p:sp>
        <p:nvSpPr>
          <p:cNvPr id="3" name="Content Placeholder 2">
            <a:extLst>
              <a:ext uri="{FF2B5EF4-FFF2-40B4-BE49-F238E27FC236}">
                <a16:creationId xmlns:a16="http://schemas.microsoft.com/office/drawing/2014/main" id="{A39B4083-CFC6-4A42-B1B2-ACB56F09DC09}"/>
              </a:ext>
            </a:extLst>
          </p:cNvPr>
          <p:cNvSpPr>
            <a:spLocks noGrp="1"/>
          </p:cNvSpPr>
          <p:nvPr>
            <p:ph idx="1"/>
          </p:nvPr>
        </p:nvSpPr>
        <p:spPr>
          <a:xfrm>
            <a:off x="1097280" y="1842998"/>
            <a:ext cx="10515600" cy="1325563"/>
          </a:xfrm>
        </p:spPr>
        <p:txBody>
          <a:bodyPr/>
          <a:lstStyle/>
          <a:p>
            <a:r>
              <a:rPr lang="en-US" dirty="0"/>
              <a:t>Many operations only need primary key access to data</a:t>
            </a:r>
          </a:p>
          <a:p>
            <a:pPr lvl="1"/>
            <a:r>
              <a:rPr lang="en-US" dirty="0"/>
              <a:t>best seller lists, shopping carts, customer preferences, session management, sales rank, and product catalog </a:t>
            </a:r>
          </a:p>
          <a:p>
            <a:endParaRPr lang="en-US" dirty="0"/>
          </a:p>
        </p:txBody>
      </p:sp>
      <p:sp>
        <p:nvSpPr>
          <p:cNvPr id="4" name="TextBox 3">
            <a:extLst>
              <a:ext uri="{FF2B5EF4-FFF2-40B4-BE49-F238E27FC236}">
                <a16:creationId xmlns:a16="http://schemas.microsoft.com/office/drawing/2014/main" id="{CC344A02-1407-D64B-9703-BBFFAFE055CD}"/>
              </a:ext>
            </a:extLst>
          </p:cNvPr>
          <p:cNvSpPr txBox="1"/>
          <p:nvPr/>
        </p:nvSpPr>
        <p:spPr>
          <a:xfrm>
            <a:off x="748990" y="3239453"/>
            <a:ext cx="10694019" cy="3046988"/>
          </a:xfrm>
          <a:prstGeom prst="rect">
            <a:avLst/>
          </a:prstGeom>
          <a:noFill/>
        </p:spPr>
        <p:txBody>
          <a:bodyPr wrap="square" rtlCol="0">
            <a:spAutoFit/>
          </a:bodyPr>
          <a:lstStyle/>
          <a:p>
            <a:r>
              <a:rPr lang="en-US" sz="2400" dirty="0"/>
              <a:t>Dynamo uses a synthesis of well known techniques to achieve scalability and availability: Data is partitioned and replicated using consistent hashing [10], and consistency is facilitated by object versioning [12]. The consistency among replicas during updates is maintained by a quorum-like technique and a decentralized replica synchronization protocol. Dynamo employs a gossip based distributed failure detection and membership protocol. Dynamo is a completely decentralized system with minimal need for manual administration. Storage nodes can be added and removed from Dynamo without requiring any manual partitioning or redistribution. </a:t>
            </a:r>
            <a:endParaRPr lang="en-US" sz="2400" dirty="0">
              <a:effectLst/>
            </a:endParaRPr>
          </a:p>
        </p:txBody>
      </p:sp>
    </p:spTree>
    <p:extLst>
      <p:ext uri="{BB962C8B-B14F-4D97-AF65-F5344CB8AC3E}">
        <p14:creationId xmlns:p14="http://schemas.microsoft.com/office/powerpoint/2010/main" val="30531155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078AC-B9C4-2E46-AD61-F4C3FACC60FE}"/>
              </a:ext>
            </a:extLst>
          </p:cNvPr>
          <p:cNvSpPr>
            <a:spLocks noGrp="1"/>
          </p:cNvSpPr>
          <p:nvPr>
            <p:ph type="title"/>
          </p:nvPr>
        </p:nvSpPr>
        <p:spPr/>
        <p:txBody>
          <a:bodyPr/>
          <a:lstStyle/>
          <a:p>
            <a:r>
              <a:rPr lang="en-US" dirty="0"/>
              <a:t>Assumptions</a:t>
            </a:r>
          </a:p>
        </p:txBody>
      </p:sp>
      <p:sp>
        <p:nvSpPr>
          <p:cNvPr id="3" name="Content Placeholder 2">
            <a:extLst>
              <a:ext uri="{FF2B5EF4-FFF2-40B4-BE49-F238E27FC236}">
                <a16:creationId xmlns:a16="http://schemas.microsoft.com/office/drawing/2014/main" id="{A304489B-A495-884F-BB5A-3AA4901D0867}"/>
              </a:ext>
            </a:extLst>
          </p:cNvPr>
          <p:cNvSpPr>
            <a:spLocks noGrp="1"/>
          </p:cNvSpPr>
          <p:nvPr>
            <p:ph idx="1"/>
          </p:nvPr>
        </p:nvSpPr>
        <p:spPr/>
        <p:txBody>
          <a:bodyPr>
            <a:normAutofit fontScale="92500" lnSpcReduction="10000"/>
          </a:bodyPr>
          <a:lstStyle/>
          <a:p>
            <a:r>
              <a:rPr lang="en-US" dirty="0"/>
              <a:t>Query Model </a:t>
            </a:r>
          </a:p>
          <a:p>
            <a:pPr lvl="1"/>
            <a:r>
              <a:rPr lang="en-US" dirty="0"/>
              <a:t>Primary key access to blobs</a:t>
            </a:r>
          </a:p>
          <a:p>
            <a:pPr lvl="1"/>
            <a:r>
              <a:rPr lang="en-US" dirty="0"/>
              <a:t>No operations span multiple data items</a:t>
            </a:r>
          </a:p>
          <a:p>
            <a:pPr lvl="1"/>
            <a:r>
              <a:rPr lang="en-US" dirty="0"/>
              <a:t>Not relational</a:t>
            </a:r>
          </a:p>
          <a:p>
            <a:pPr lvl="1"/>
            <a:r>
              <a:rPr lang="en-US" dirty="0"/>
              <a:t>Relatively small</a:t>
            </a:r>
          </a:p>
          <a:p>
            <a:r>
              <a:rPr lang="en-US" dirty="0"/>
              <a:t>ACID</a:t>
            </a:r>
          </a:p>
          <a:p>
            <a:pPr lvl="1"/>
            <a:r>
              <a:rPr lang="en-US" dirty="0"/>
              <a:t>Systems that provide ACID guarantees tend to have poor availability</a:t>
            </a:r>
          </a:p>
          <a:p>
            <a:pPr lvl="1"/>
            <a:r>
              <a:rPr lang="en-US" dirty="0"/>
              <a:t>Dynamo targets weaker consistency</a:t>
            </a:r>
          </a:p>
          <a:p>
            <a:pPr lvl="1"/>
            <a:r>
              <a:rPr lang="en-US" dirty="0"/>
              <a:t>No isolation guarantees</a:t>
            </a:r>
          </a:p>
          <a:p>
            <a:r>
              <a:rPr lang="en-US" dirty="0"/>
              <a:t>Efficiency</a:t>
            </a:r>
          </a:p>
          <a:p>
            <a:pPr lvl="1"/>
            <a:r>
              <a:rPr lang="en-US" dirty="0"/>
              <a:t>Commodity hardware </a:t>
            </a:r>
          </a:p>
          <a:p>
            <a:pPr lvl="1"/>
            <a:r>
              <a:rPr lang="en-US" dirty="0"/>
              <a:t>Stringent latency requirements</a:t>
            </a:r>
          </a:p>
          <a:p>
            <a:pPr lvl="1"/>
            <a:r>
              <a:rPr lang="en-US" dirty="0"/>
              <a:t>Consistently achieve latency and throughput requirements</a:t>
            </a:r>
          </a:p>
        </p:txBody>
      </p:sp>
    </p:spTree>
    <p:extLst>
      <p:ext uri="{BB962C8B-B14F-4D97-AF65-F5344CB8AC3E}">
        <p14:creationId xmlns:p14="http://schemas.microsoft.com/office/powerpoint/2010/main" val="17424254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423F5594-5228-9E44-88D6-9B9863F87A02}"/>
              </a:ext>
            </a:extLst>
          </p:cNvPr>
          <p:cNvSpPr>
            <a:spLocks noGrp="1"/>
          </p:cNvSpPr>
          <p:nvPr>
            <p:ph sz="half" idx="1"/>
          </p:nvPr>
        </p:nvSpPr>
        <p:spPr>
          <a:xfrm>
            <a:off x="838201" y="1971130"/>
            <a:ext cx="5181600" cy="5415434"/>
          </a:xfrm>
        </p:spPr>
        <p:txBody>
          <a:bodyPr/>
          <a:lstStyle/>
          <a:p>
            <a:r>
              <a:rPr lang="en-US" dirty="0"/>
              <a:t>Service Level Agreements</a:t>
            </a:r>
          </a:p>
          <a:p>
            <a:pPr lvl="1"/>
            <a:r>
              <a:rPr lang="en-US" dirty="0"/>
              <a:t>Average, median, and expected variance </a:t>
            </a:r>
          </a:p>
          <a:p>
            <a:pPr lvl="1"/>
            <a:r>
              <a:rPr lang="en-US" dirty="0"/>
              <a:t>System must meet agreement</a:t>
            </a:r>
          </a:p>
          <a:p>
            <a:r>
              <a:rPr lang="en-US" dirty="0"/>
              <a:t>If the system performance is not meeting the agreements, we must be able to scale the system to the point it does meet the SLA</a:t>
            </a:r>
          </a:p>
          <a:p>
            <a:endParaRPr lang="en-US" dirty="0"/>
          </a:p>
        </p:txBody>
      </p:sp>
      <p:pic>
        <p:nvPicPr>
          <p:cNvPr id="10" name="Content Placeholder 9" descr="Diagram&#10;&#10;Description automatically generated">
            <a:extLst>
              <a:ext uri="{FF2B5EF4-FFF2-40B4-BE49-F238E27FC236}">
                <a16:creationId xmlns:a16="http://schemas.microsoft.com/office/drawing/2014/main" id="{91434D84-834A-4E4F-A59B-ECA5D19AA5AC}"/>
              </a:ext>
            </a:extLst>
          </p:cNvPr>
          <p:cNvPicPr>
            <a:picLocks noGrp="1" noChangeAspect="1"/>
          </p:cNvPicPr>
          <p:nvPr>
            <p:ph sz="half" idx="2"/>
          </p:nvPr>
        </p:nvPicPr>
        <p:blipFill>
          <a:blip r:embed="rId2"/>
          <a:stretch>
            <a:fillRect/>
          </a:stretch>
        </p:blipFill>
        <p:spPr>
          <a:xfrm>
            <a:off x="6172201" y="336364"/>
            <a:ext cx="5787322" cy="5974327"/>
          </a:xfrm>
          <a:prstGeom prst="rect">
            <a:avLst/>
          </a:prstGeom>
        </p:spPr>
      </p:pic>
    </p:spTree>
    <p:extLst>
      <p:ext uri="{BB962C8B-B14F-4D97-AF65-F5344CB8AC3E}">
        <p14:creationId xmlns:p14="http://schemas.microsoft.com/office/powerpoint/2010/main" val="29421015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8DCA8-1E1F-A549-B67E-555B08EB421A}"/>
              </a:ext>
            </a:extLst>
          </p:cNvPr>
          <p:cNvSpPr>
            <a:spLocks noGrp="1"/>
          </p:cNvSpPr>
          <p:nvPr>
            <p:ph type="title"/>
          </p:nvPr>
        </p:nvSpPr>
        <p:spPr/>
        <p:txBody>
          <a:bodyPr/>
          <a:lstStyle/>
          <a:p>
            <a:r>
              <a:rPr lang="en-US" dirty="0"/>
              <a:t>Design Considerations</a:t>
            </a:r>
          </a:p>
        </p:txBody>
      </p:sp>
      <p:sp>
        <p:nvSpPr>
          <p:cNvPr id="5" name="Content Placeholder 4">
            <a:extLst>
              <a:ext uri="{FF2B5EF4-FFF2-40B4-BE49-F238E27FC236}">
                <a16:creationId xmlns:a16="http://schemas.microsoft.com/office/drawing/2014/main" id="{196E2160-58F2-A14F-B207-A45731A08D23}"/>
              </a:ext>
            </a:extLst>
          </p:cNvPr>
          <p:cNvSpPr>
            <a:spLocks noGrp="1"/>
          </p:cNvSpPr>
          <p:nvPr>
            <p:ph idx="1"/>
          </p:nvPr>
        </p:nvSpPr>
        <p:spPr/>
        <p:txBody>
          <a:bodyPr>
            <a:normAutofit fontScale="92500" lnSpcReduction="10000"/>
          </a:bodyPr>
          <a:lstStyle/>
          <a:p>
            <a:r>
              <a:rPr lang="en-US" dirty="0"/>
              <a:t>Data consistency and replication tradeoffs</a:t>
            </a:r>
          </a:p>
          <a:p>
            <a:pPr lvl="1"/>
            <a:r>
              <a:rPr lang="en-US" dirty="0"/>
              <a:t>Strong consistency and high data availability cannot be achieved simultaneously</a:t>
            </a:r>
          </a:p>
          <a:p>
            <a:r>
              <a:rPr lang="en-US" dirty="0"/>
              <a:t>Availability can be increased by using optimistic replication</a:t>
            </a:r>
          </a:p>
          <a:p>
            <a:pPr lvl="1"/>
            <a:r>
              <a:rPr lang="en-US" dirty="0"/>
              <a:t>Changes are allowed to propagate to replicas in the background</a:t>
            </a:r>
          </a:p>
          <a:p>
            <a:pPr lvl="1"/>
            <a:r>
              <a:rPr lang="en-US" dirty="0"/>
              <a:t>Eventually consistent</a:t>
            </a:r>
          </a:p>
          <a:p>
            <a:r>
              <a:rPr lang="en-US" dirty="0"/>
              <a:t>Conflict resolution</a:t>
            </a:r>
          </a:p>
          <a:p>
            <a:pPr lvl="1"/>
            <a:r>
              <a:rPr lang="en-US" dirty="0"/>
              <a:t>When?</a:t>
            </a:r>
          </a:p>
          <a:p>
            <a:pPr lvl="2"/>
            <a:r>
              <a:rPr lang="en-US" dirty="0"/>
              <a:t>Reads or writes?</a:t>
            </a:r>
          </a:p>
          <a:p>
            <a:pPr lvl="2"/>
            <a:r>
              <a:rPr lang="en-US" dirty="0"/>
              <a:t>Dynamo is “always writeable” – even in the presence of server failures</a:t>
            </a:r>
          </a:p>
          <a:p>
            <a:pPr lvl="2"/>
            <a:r>
              <a:rPr lang="en-US" dirty="0"/>
              <a:t>Conflict resolution happens on reads</a:t>
            </a:r>
          </a:p>
          <a:p>
            <a:pPr lvl="1"/>
            <a:r>
              <a:rPr lang="en-US" dirty="0"/>
              <a:t>Who?</a:t>
            </a:r>
          </a:p>
          <a:p>
            <a:pPr lvl="2"/>
            <a:r>
              <a:rPr lang="en-US" dirty="0"/>
              <a:t>Data store or application?</a:t>
            </a:r>
          </a:p>
          <a:p>
            <a:pPr lvl="2"/>
            <a:r>
              <a:rPr lang="en-US" dirty="0"/>
              <a:t>Data store can only use simple policies – last write wins etc.</a:t>
            </a:r>
          </a:p>
          <a:p>
            <a:pPr lvl="2"/>
            <a:r>
              <a:rPr lang="en-US" dirty="0"/>
              <a:t>Application can do better </a:t>
            </a:r>
            <a:r>
              <a:rPr lang="en-US" dirty="0">
                <a:sym typeface="Wingdings" pitchFamily="2" charset="2"/>
              </a:rPr>
              <a:t> merge</a:t>
            </a:r>
            <a:endParaRPr lang="en-US" dirty="0"/>
          </a:p>
        </p:txBody>
      </p:sp>
    </p:spTree>
    <p:extLst>
      <p:ext uri="{BB962C8B-B14F-4D97-AF65-F5344CB8AC3E}">
        <p14:creationId xmlns:p14="http://schemas.microsoft.com/office/powerpoint/2010/main" val="16701016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EF47E-E30F-C743-80BE-4DD49004FE13}"/>
              </a:ext>
            </a:extLst>
          </p:cNvPr>
          <p:cNvSpPr>
            <a:spLocks noGrp="1"/>
          </p:cNvSpPr>
          <p:nvPr>
            <p:ph type="title"/>
          </p:nvPr>
        </p:nvSpPr>
        <p:spPr/>
        <p:txBody>
          <a:bodyPr/>
          <a:lstStyle/>
          <a:p>
            <a:r>
              <a:rPr lang="en-US" dirty="0"/>
              <a:t>Design Considerations</a:t>
            </a:r>
          </a:p>
        </p:txBody>
      </p:sp>
      <p:sp>
        <p:nvSpPr>
          <p:cNvPr id="3" name="Content Placeholder 2">
            <a:extLst>
              <a:ext uri="{FF2B5EF4-FFF2-40B4-BE49-F238E27FC236}">
                <a16:creationId xmlns:a16="http://schemas.microsoft.com/office/drawing/2014/main" id="{31AC7F3E-4B67-4844-9B59-B573559840F2}"/>
              </a:ext>
            </a:extLst>
          </p:cNvPr>
          <p:cNvSpPr>
            <a:spLocks noGrp="1"/>
          </p:cNvSpPr>
          <p:nvPr>
            <p:ph idx="1"/>
          </p:nvPr>
        </p:nvSpPr>
        <p:spPr/>
        <p:txBody>
          <a:bodyPr/>
          <a:lstStyle/>
          <a:p>
            <a:r>
              <a:rPr lang="en-US" dirty="0"/>
              <a:t>Symmetry</a:t>
            </a:r>
          </a:p>
          <a:p>
            <a:pPr lvl="1"/>
            <a:r>
              <a:rPr lang="en-US" dirty="0"/>
              <a:t>Every node is the same</a:t>
            </a:r>
          </a:p>
          <a:p>
            <a:pPr lvl="1"/>
            <a:endParaRPr lang="en-US" dirty="0"/>
          </a:p>
          <a:p>
            <a:r>
              <a:rPr lang="en-US" dirty="0"/>
              <a:t>Decentralization</a:t>
            </a:r>
          </a:p>
          <a:p>
            <a:pPr lvl="1"/>
            <a:r>
              <a:rPr lang="en-US" dirty="0"/>
              <a:t>Peer to peer</a:t>
            </a:r>
          </a:p>
          <a:p>
            <a:pPr lvl="1"/>
            <a:r>
              <a:rPr lang="en-US" dirty="0"/>
              <a:t>No centralized control</a:t>
            </a:r>
          </a:p>
          <a:p>
            <a:pPr lvl="1"/>
            <a:endParaRPr lang="en-US" dirty="0"/>
          </a:p>
          <a:p>
            <a:r>
              <a:rPr lang="en-US" dirty="0"/>
              <a:t>Heterogeneity</a:t>
            </a:r>
          </a:p>
          <a:p>
            <a:pPr lvl="1"/>
            <a:r>
              <a:rPr lang="en-US" dirty="0"/>
              <a:t>Work should be proportional to capabilities</a:t>
            </a:r>
          </a:p>
        </p:txBody>
      </p:sp>
    </p:spTree>
    <p:extLst>
      <p:ext uri="{BB962C8B-B14F-4D97-AF65-F5344CB8AC3E}">
        <p14:creationId xmlns:p14="http://schemas.microsoft.com/office/powerpoint/2010/main" val="6043349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able&#10;&#10;Description automatically generated">
            <a:extLst>
              <a:ext uri="{FF2B5EF4-FFF2-40B4-BE49-F238E27FC236}">
                <a16:creationId xmlns:a16="http://schemas.microsoft.com/office/drawing/2014/main" id="{AC93AE8B-5DC5-6D4D-A75A-E99C141C96AB}"/>
              </a:ext>
            </a:extLst>
          </p:cNvPr>
          <p:cNvPicPr>
            <a:picLocks noChangeAspect="1"/>
          </p:cNvPicPr>
          <p:nvPr/>
        </p:nvPicPr>
        <p:blipFill>
          <a:blip r:embed="rId2"/>
          <a:stretch>
            <a:fillRect/>
          </a:stretch>
        </p:blipFill>
        <p:spPr>
          <a:xfrm>
            <a:off x="2971800" y="174662"/>
            <a:ext cx="5555751" cy="6097776"/>
          </a:xfrm>
          <a:prstGeom prst="rect">
            <a:avLst/>
          </a:prstGeom>
        </p:spPr>
      </p:pic>
    </p:spTree>
    <p:extLst>
      <p:ext uri="{BB962C8B-B14F-4D97-AF65-F5344CB8AC3E}">
        <p14:creationId xmlns:p14="http://schemas.microsoft.com/office/powerpoint/2010/main" val="40322392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4B9E-28A0-1244-BB5D-AE7C42DD4CD0}"/>
              </a:ext>
            </a:extLst>
          </p:cNvPr>
          <p:cNvSpPr>
            <a:spLocks noGrp="1"/>
          </p:cNvSpPr>
          <p:nvPr>
            <p:ph type="title"/>
          </p:nvPr>
        </p:nvSpPr>
        <p:spPr/>
        <p:txBody>
          <a:bodyPr/>
          <a:lstStyle/>
          <a:p>
            <a:r>
              <a:rPr lang="en-US" dirty="0"/>
              <a:t>Partitioning</a:t>
            </a:r>
          </a:p>
        </p:txBody>
      </p:sp>
      <p:sp>
        <p:nvSpPr>
          <p:cNvPr id="3" name="Content Placeholder 2">
            <a:extLst>
              <a:ext uri="{FF2B5EF4-FFF2-40B4-BE49-F238E27FC236}">
                <a16:creationId xmlns:a16="http://schemas.microsoft.com/office/drawing/2014/main" id="{10AB54D2-2B8D-FE43-B4FF-6A86BE3A55C9}"/>
              </a:ext>
            </a:extLst>
          </p:cNvPr>
          <p:cNvSpPr>
            <a:spLocks noGrp="1"/>
          </p:cNvSpPr>
          <p:nvPr>
            <p:ph idx="1"/>
          </p:nvPr>
        </p:nvSpPr>
        <p:spPr/>
        <p:txBody>
          <a:bodyPr/>
          <a:lstStyle/>
          <a:p>
            <a:r>
              <a:rPr lang="en-US" dirty="0"/>
              <a:t>Consistent Hashing with virtual nodes</a:t>
            </a:r>
          </a:p>
          <a:p>
            <a:r>
              <a:rPr lang="en-US" dirty="0"/>
              <a:t>Departure or arrival of a node only affects its immediate neighbors and other nodes remain unaffected. </a:t>
            </a:r>
            <a:endParaRPr lang="en-US" dirty="0">
              <a:effectLst/>
            </a:endParaRPr>
          </a:p>
          <a:p>
            <a:endParaRPr lang="en-US" dirty="0"/>
          </a:p>
        </p:txBody>
      </p:sp>
      <p:pic>
        <p:nvPicPr>
          <p:cNvPr id="3074" name="Picture 2" descr="Mapping in the hashing ">
            <a:extLst>
              <a:ext uri="{FF2B5EF4-FFF2-40B4-BE49-F238E27FC236}">
                <a16:creationId xmlns:a16="http://schemas.microsoft.com/office/drawing/2014/main" id="{B17B11B4-8CD2-7C45-9FC1-ECB33E5967D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203" t="18009" r="5883" b="5754"/>
          <a:stretch/>
        </p:blipFill>
        <p:spPr bwMode="auto">
          <a:xfrm>
            <a:off x="1660888" y="2892763"/>
            <a:ext cx="3537836" cy="3267182"/>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ECC2AF7D-D8B2-454C-81A9-43B22F79120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379" t="12908" r="5488" b="6495"/>
          <a:stretch/>
        </p:blipFill>
        <p:spPr bwMode="auto">
          <a:xfrm>
            <a:off x="6571936" y="2737473"/>
            <a:ext cx="3537836" cy="34224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63911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0505F-D645-9847-B3E1-BCCE1BAA4DC6}"/>
              </a:ext>
            </a:extLst>
          </p:cNvPr>
          <p:cNvSpPr>
            <a:spLocks noGrp="1"/>
          </p:cNvSpPr>
          <p:nvPr>
            <p:ph type="title"/>
          </p:nvPr>
        </p:nvSpPr>
        <p:spPr/>
        <p:txBody>
          <a:bodyPr/>
          <a:lstStyle/>
          <a:p>
            <a:r>
              <a:rPr lang="en-US" dirty="0"/>
              <a:t>Replication</a:t>
            </a:r>
          </a:p>
        </p:txBody>
      </p:sp>
      <p:sp>
        <p:nvSpPr>
          <p:cNvPr id="3" name="Content Placeholder 2">
            <a:extLst>
              <a:ext uri="{FF2B5EF4-FFF2-40B4-BE49-F238E27FC236}">
                <a16:creationId xmlns:a16="http://schemas.microsoft.com/office/drawing/2014/main" id="{0740DEEA-9FA6-5B4B-A941-BCF65484EED8}"/>
              </a:ext>
            </a:extLst>
          </p:cNvPr>
          <p:cNvSpPr>
            <a:spLocks noGrp="1"/>
          </p:cNvSpPr>
          <p:nvPr>
            <p:ph sz="half" idx="1"/>
          </p:nvPr>
        </p:nvSpPr>
        <p:spPr>
          <a:xfrm>
            <a:off x="1097277" y="1845734"/>
            <a:ext cx="5467910" cy="4023360"/>
          </a:xfrm>
        </p:spPr>
        <p:txBody>
          <a:bodyPr/>
          <a:lstStyle/>
          <a:p>
            <a:r>
              <a:rPr lang="en-US" dirty="0"/>
              <a:t>Primary location determined by consistent hashing</a:t>
            </a:r>
          </a:p>
          <a:p>
            <a:pPr lvl="1"/>
            <a:r>
              <a:rPr lang="en-US" dirty="0"/>
              <a:t>Key K will be stored on Node B</a:t>
            </a:r>
          </a:p>
          <a:p>
            <a:r>
              <a:rPr lang="en-US" dirty="0"/>
              <a:t>Replicas go to next nodes in the ring</a:t>
            </a:r>
          </a:p>
          <a:p>
            <a:pPr lvl="1"/>
            <a:r>
              <a:rPr lang="en-US" dirty="0"/>
              <a:t>Not virtual</a:t>
            </a:r>
          </a:p>
          <a:p>
            <a:pPr lvl="1"/>
            <a:endParaRPr lang="en-US" dirty="0"/>
          </a:p>
          <a:p>
            <a:r>
              <a:rPr lang="en-US" dirty="0"/>
              <a:t>If Replication factor N = 3, Node D will store the keys that fall in the ranges (A, B], (B, C], and (C, D] </a:t>
            </a:r>
            <a:endParaRPr lang="en-US" dirty="0">
              <a:effectLst/>
            </a:endParaRPr>
          </a:p>
          <a:p>
            <a:endParaRPr lang="en-US" dirty="0"/>
          </a:p>
        </p:txBody>
      </p:sp>
      <p:pic>
        <p:nvPicPr>
          <p:cNvPr id="6" name="Content Placeholder 5" descr="Diagram&#10;&#10;Description automatically generated">
            <a:extLst>
              <a:ext uri="{FF2B5EF4-FFF2-40B4-BE49-F238E27FC236}">
                <a16:creationId xmlns:a16="http://schemas.microsoft.com/office/drawing/2014/main" id="{EC6A18D8-F9F8-9D44-A6D9-4AEBE452D72F}"/>
              </a:ext>
            </a:extLst>
          </p:cNvPr>
          <p:cNvPicPr>
            <a:picLocks noGrp="1" noChangeAspect="1"/>
          </p:cNvPicPr>
          <p:nvPr>
            <p:ph sz="half" idx="2"/>
          </p:nvPr>
        </p:nvPicPr>
        <p:blipFill>
          <a:blip r:embed="rId2"/>
          <a:stretch>
            <a:fillRect/>
          </a:stretch>
        </p:blipFill>
        <p:spPr>
          <a:xfrm>
            <a:off x="6565187" y="1911756"/>
            <a:ext cx="5181600" cy="4065712"/>
          </a:xfrm>
        </p:spPr>
      </p:pic>
      <p:sp>
        <p:nvSpPr>
          <p:cNvPr id="4" name="Freeform 3">
            <a:extLst>
              <a:ext uri="{FF2B5EF4-FFF2-40B4-BE49-F238E27FC236}">
                <a16:creationId xmlns:a16="http://schemas.microsoft.com/office/drawing/2014/main" id="{9C909A9A-1449-FB40-92E9-F4D1AD3C012D}"/>
              </a:ext>
            </a:extLst>
          </p:cNvPr>
          <p:cNvSpPr/>
          <p:nvPr/>
        </p:nvSpPr>
        <p:spPr>
          <a:xfrm>
            <a:off x="8989888" y="2691829"/>
            <a:ext cx="575352" cy="277402"/>
          </a:xfrm>
          <a:custGeom>
            <a:avLst/>
            <a:gdLst>
              <a:gd name="connsiteX0" fmla="*/ 0 w 575352"/>
              <a:gd name="connsiteY0" fmla="*/ 0 h 277402"/>
              <a:gd name="connsiteX1" fmla="*/ 82193 w 575352"/>
              <a:gd name="connsiteY1" fmla="*/ 0 h 277402"/>
              <a:gd name="connsiteX2" fmla="*/ 339047 w 575352"/>
              <a:gd name="connsiteY2" fmla="*/ 10274 h 277402"/>
              <a:gd name="connsiteX3" fmla="*/ 452063 w 575352"/>
              <a:gd name="connsiteY3" fmla="*/ 30823 h 277402"/>
              <a:gd name="connsiteX4" fmla="*/ 513708 w 575352"/>
              <a:gd name="connsiteY4" fmla="*/ 51371 h 277402"/>
              <a:gd name="connsiteX5" fmla="*/ 565078 w 575352"/>
              <a:gd name="connsiteY5" fmla="*/ 133564 h 277402"/>
              <a:gd name="connsiteX6" fmla="*/ 575352 w 575352"/>
              <a:gd name="connsiteY6" fmla="*/ 164387 h 277402"/>
              <a:gd name="connsiteX7" fmla="*/ 554804 w 575352"/>
              <a:gd name="connsiteY7" fmla="*/ 236306 h 277402"/>
              <a:gd name="connsiteX8" fmla="*/ 544530 w 575352"/>
              <a:gd name="connsiteY8" fmla="*/ 277402 h 277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5352" h="277402">
                <a:moveTo>
                  <a:pt x="0" y="0"/>
                </a:moveTo>
                <a:cubicBezTo>
                  <a:pt x="189337" y="37867"/>
                  <a:pt x="-44176" y="0"/>
                  <a:pt x="82193" y="0"/>
                </a:cubicBezTo>
                <a:cubicBezTo>
                  <a:pt x="167879" y="0"/>
                  <a:pt x="253429" y="6849"/>
                  <a:pt x="339047" y="10274"/>
                </a:cubicBezTo>
                <a:cubicBezTo>
                  <a:pt x="389695" y="17510"/>
                  <a:pt x="408027" y="17612"/>
                  <a:pt x="452063" y="30823"/>
                </a:cubicBezTo>
                <a:cubicBezTo>
                  <a:pt x="472809" y="37047"/>
                  <a:pt x="513708" y="51371"/>
                  <a:pt x="513708" y="51371"/>
                </a:cubicBezTo>
                <a:cubicBezTo>
                  <a:pt x="562552" y="83934"/>
                  <a:pt x="540626" y="60205"/>
                  <a:pt x="565078" y="133564"/>
                </a:cubicBezTo>
                <a:lnTo>
                  <a:pt x="575352" y="164387"/>
                </a:lnTo>
                <a:cubicBezTo>
                  <a:pt x="550719" y="238287"/>
                  <a:pt x="580605" y="146001"/>
                  <a:pt x="554804" y="236306"/>
                </a:cubicBezTo>
                <a:cubicBezTo>
                  <a:pt x="543447" y="276056"/>
                  <a:pt x="544530" y="254502"/>
                  <a:pt x="544530" y="277402"/>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reeform 4">
            <a:extLst>
              <a:ext uri="{FF2B5EF4-FFF2-40B4-BE49-F238E27FC236}">
                <a16:creationId xmlns:a16="http://schemas.microsoft.com/office/drawing/2014/main" id="{61872734-C98D-1E4C-8572-007708580ACA}"/>
              </a:ext>
            </a:extLst>
          </p:cNvPr>
          <p:cNvSpPr/>
          <p:nvPr/>
        </p:nvSpPr>
        <p:spPr>
          <a:xfrm>
            <a:off x="9478118" y="2917861"/>
            <a:ext cx="107671" cy="87508"/>
          </a:xfrm>
          <a:custGeom>
            <a:avLst/>
            <a:gdLst>
              <a:gd name="connsiteX0" fmla="*/ 4929 w 107671"/>
              <a:gd name="connsiteY0" fmla="*/ 0 h 87508"/>
              <a:gd name="connsiteX1" fmla="*/ 15203 w 107671"/>
              <a:gd name="connsiteY1" fmla="*/ 51370 h 87508"/>
              <a:gd name="connsiteX2" fmla="*/ 76848 w 107671"/>
              <a:gd name="connsiteY2" fmla="*/ 71919 h 87508"/>
              <a:gd name="connsiteX3" fmla="*/ 107671 w 107671"/>
              <a:gd name="connsiteY3" fmla="*/ 61645 h 87508"/>
            </a:gdLst>
            <a:ahLst/>
            <a:cxnLst>
              <a:cxn ang="0">
                <a:pos x="connsiteX0" y="connsiteY0"/>
              </a:cxn>
              <a:cxn ang="0">
                <a:pos x="connsiteX1" y="connsiteY1"/>
              </a:cxn>
              <a:cxn ang="0">
                <a:pos x="connsiteX2" y="connsiteY2"/>
              </a:cxn>
              <a:cxn ang="0">
                <a:pos x="connsiteX3" y="connsiteY3"/>
              </a:cxn>
            </a:cxnLst>
            <a:rect l="l" t="t" r="r" b="b"/>
            <a:pathLst>
              <a:path w="107671" h="87508">
                <a:moveTo>
                  <a:pt x="4929" y="0"/>
                </a:moveTo>
                <a:cubicBezTo>
                  <a:pt x="8354" y="17123"/>
                  <a:pt x="15203" y="33908"/>
                  <a:pt x="15203" y="51370"/>
                </a:cubicBezTo>
                <a:cubicBezTo>
                  <a:pt x="15203" y="102605"/>
                  <a:pt x="-45888" y="89452"/>
                  <a:pt x="76848" y="71919"/>
                </a:cubicBezTo>
                <a:lnTo>
                  <a:pt x="107671" y="61645"/>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87064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0D96C-7A6F-034D-8BE8-797684019685}"/>
              </a:ext>
            </a:extLst>
          </p:cNvPr>
          <p:cNvSpPr>
            <a:spLocks noGrp="1"/>
          </p:cNvSpPr>
          <p:nvPr>
            <p:ph type="title"/>
          </p:nvPr>
        </p:nvSpPr>
        <p:spPr/>
        <p:txBody>
          <a:bodyPr/>
          <a:lstStyle/>
          <a:p>
            <a:r>
              <a:rPr lang="en-US" dirty="0"/>
              <a:t>Data Versioning</a:t>
            </a:r>
          </a:p>
        </p:txBody>
      </p:sp>
      <p:pic>
        <p:nvPicPr>
          <p:cNvPr id="6" name="Content Placeholder 5" descr="Diagram&#10;&#10;Description automatically generated">
            <a:extLst>
              <a:ext uri="{FF2B5EF4-FFF2-40B4-BE49-F238E27FC236}">
                <a16:creationId xmlns:a16="http://schemas.microsoft.com/office/drawing/2014/main" id="{045B6C29-4FAB-FE4C-B576-5B9157EF2E02}"/>
              </a:ext>
            </a:extLst>
          </p:cNvPr>
          <p:cNvPicPr>
            <a:picLocks noGrp="1" noChangeAspect="1"/>
          </p:cNvPicPr>
          <p:nvPr>
            <p:ph sz="half" idx="1"/>
          </p:nvPr>
        </p:nvPicPr>
        <p:blipFill>
          <a:blip r:embed="rId2"/>
          <a:stretch>
            <a:fillRect/>
          </a:stretch>
        </p:blipFill>
        <p:spPr>
          <a:xfrm>
            <a:off x="1253331" y="1825625"/>
            <a:ext cx="4351338" cy="4351338"/>
          </a:xfrm>
        </p:spPr>
      </p:pic>
      <p:sp>
        <p:nvSpPr>
          <p:cNvPr id="4" name="Content Placeholder 3">
            <a:extLst>
              <a:ext uri="{FF2B5EF4-FFF2-40B4-BE49-F238E27FC236}">
                <a16:creationId xmlns:a16="http://schemas.microsoft.com/office/drawing/2014/main" id="{F4C7023B-1768-344F-A4D5-5176A4FC0A90}"/>
              </a:ext>
            </a:extLst>
          </p:cNvPr>
          <p:cNvSpPr>
            <a:spLocks noGrp="1"/>
          </p:cNvSpPr>
          <p:nvPr>
            <p:ph sz="half" idx="2"/>
          </p:nvPr>
        </p:nvSpPr>
        <p:spPr/>
        <p:txBody>
          <a:bodyPr>
            <a:normAutofit lnSpcReduction="10000"/>
          </a:bodyPr>
          <a:lstStyle/>
          <a:p>
            <a:r>
              <a:rPr lang="en-US" dirty="0"/>
              <a:t>Eventual Consistency</a:t>
            </a:r>
          </a:p>
          <a:p>
            <a:r>
              <a:rPr lang="en-US" dirty="0"/>
              <a:t>Each modification has a new and immutable version of the data </a:t>
            </a:r>
          </a:p>
          <a:p>
            <a:r>
              <a:rPr lang="en-US" dirty="0"/>
              <a:t>Version branching may happen, in the presence of failures combined with concurrent updates, resulting in conflicting versions of an object. </a:t>
            </a:r>
          </a:p>
          <a:p>
            <a:r>
              <a:rPr lang="en-US" dirty="0">
                <a:effectLst/>
              </a:rPr>
              <a:t>Vector clocks</a:t>
            </a:r>
          </a:p>
          <a:p>
            <a:pPr lvl="1"/>
            <a:r>
              <a:rPr lang="en-US" dirty="0"/>
              <a:t>If the counters on the first object’s clock are less-than-or-equal to </a:t>
            </a:r>
            <a:r>
              <a:rPr lang="en-US" b="1" dirty="0"/>
              <a:t>all</a:t>
            </a:r>
            <a:r>
              <a:rPr lang="en-US" dirty="0"/>
              <a:t> of the nodes in the second clock, then the first is an ancestor of the second and can be forgotten. Otherwise, the two changes are considered to be in conflict and require reconciliation. </a:t>
            </a:r>
            <a:endParaRPr lang="en-US" dirty="0">
              <a:effectLst/>
            </a:endParaRPr>
          </a:p>
          <a:p>
            <a:pPr lvl="1"/>
            <a:endParaRPr lang="en-US" dirty="0">
              <a:effectLst/>
            </a:endParaRPr>
          </a:p>
          <a:p>
            <a:endParaRPr lang="en-US" dirty="0">
              <a:effectLst/>
            </a:endParaRPr>
          </a:p>
          <a:p>
            <a:endParaRPr lang="en-US" dirty="0"/>
          </a:p>
        </p:txBody>
      </p:sp>
    </p:spTree>
    <p:extLst>
      <p:ext uri="{BB962C8B-B14F-4D97-AF65-F5344CB8AC3E}">
        <p14:creationId xmlns:p14="http://schemas.microsoft.com/office/powerpoint/2010/main" val="39987624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BAED0-EBDF-2044-9C37-24F5A1EEF4C1}"/>
              </a:ext>
            </a:extLst>
          </p:cNvPr>
          <p:cNvSpPr>
            <a:spLocks noGrp="1"/>
          </p:cNvSpPr>
          <p:nvPr>
            <p:ph type="title"/>
          </p:nvPr>
        </p:nvSpPr>
        <p:spPr/>
        <p:txBody>
          <a:bodyPr/>
          <a:lstStyle/>
          <a:p>
            <a:r>
              <a:rPr lang="en-US" dirty="0"/>
              <a:t>Execution of Operations</a:t>
            </a:r>
          </a:p>
        </p:txBody>
      </p:sp>
      <p:sp>
        <p:nvSpPr>
          <p:cNvPr id="5" name="Content Placeholder 4">
            <a:extLst>
              <a:ext uri="{FF2B5EF4-FFF2-40B4-BE49-F238E27FC236}">
                <a16:creationId xmlns:a16="http://schemas.microsoft.com/office/drawing/2014/main" id="{88DD8487-6E4A-FB46-8228-C2F405E25F2F}"/>
              </a:ext>
            </a:extLst>
          </p:cNvPr>
          <p:cNvSpPr>
            <a:spLocks noGrp="1"/>
          </p:cNvSpPr>
          <p:nvPr>
            <p:ph idx="1"/>
          </p:nvPr>
        </p:nvSpPr>
        <p:spPr>
          <a:xfrm>
            <a:off x="1097280" y="1845734"/>
            <a:ext cx="6618612" cy="4555066"/>
          </a:xfrm>
        </p:spPr>
        <p:txBody>
          <a:bodyPr>
            <a:normAutofit fontScale="92500" lnSpcReduction="10000"/>
          </a:bodyPr>
          <a:lstStyle/>
          <a:p>
            <a:r>
              <a:rPr lang="en-US" dirty="0"/>
              <a:t>Any node</a:t>
            </a:r>
          </a:p>
          <a:p>
            <a:pPr lvl="1"/>
            <a:r>
              <a:rPr lang="en-US" dirty="0"/>
              <a:t>Auto load balancer or partition aware client</a:t>
            </a:r>
          </a:p>
          <a:p>
            <a:r>
              <a:rPr lang="en-US" dirty="0"/>
              <a:t>Upon receiving a put() request for a key, the coordinator generates the vector clock for the new version and writes the new version locally. The coordinator then sends the new version (along with the new vector clock) to the N highest-ranked reachable nodes. If at least W-1 nodes respond then the write is considered successful. </a:t>
            </a:r>
            <a:endParaRPr lang="en-US" dirty="0">
              <a:effectLst/>
            </a:endParaRPr>
          </a:p>
          <a:p>
            <a:r>
              <a:rPr lang="en-US" dirty="0"/>
              <a:t>Similarly, for a get() request, the coordinator requests all existing versions of data for that key from the N highest-ranked reachable nodes in the preference list for that key, and then waits for R responses before returning the result to the client. If the coordinator ends up gathering multiple versions of the data, it returns all the versions it deems to be causally unrelated. The divergent versions are then reconciled and the reconciled version superseding the current versions is written back. </a:t>
            </a:r>
            <a:endParaRPr lang="en-US" dirty="0">
              <a:effectLst/>
            </a:endParaRPr>
          </a:p>
          <a:p>
            <a:endParaRPr lang="en-US" dirty="0">
              <a:effectLst/>
            </a:endParaRPr>
          </a:p>
          <a:p>
            <a:endParaRPr lang="en-US" dirty="0"/>
          </a:p>
        </p:txBody>
      </p:sp>
      <p:pic>
        <p:nvPicPr>
          <p:cNvPr id="4" name="Picture 2" descr="Mapping in the hashing ">
            <a:extLst>
              <a:ext uri="{FF2B5EF4-FFF2-40B4-BE49-F238E27FC236}">
                <a16:creationId xmlns:a16="http://schemas.microsoft.com/office/drawing/2014/main" id="{52A8C205-3689-3A4D-93E4-5A44578E6E5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203" t="18009" r="5883" b="5754"/>
          <a:stretch/>
        </p:blipFill>
        <p:spPr bwMode="auto">
          <a:xfrm>
            <a:off x="8431558" y="3056030"/>
            <a:ext cx="3537836" cy="326718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3D9DABB9-2B3B-4B42-A83E-647CE42BE32D}"/>
              </a:ext>
            </a:extLst>
          </p:cNvPr>
          <p:cNvSpPr txBox="1"/>
          <p:nvPr/>
        </p:nvSpPr>
        <p:spPr>
          <a:xfrm>
            <a:off x="8431558" y="1962364"/>
            <a:ext cx="725968" cy="369332"/>
          </a:xfrm>
          <a:prstGeom prst="rect">
            <a:avLst/>
          </a:prstGeom>
          <a:noFill/>
        </p:spPr>
        <p:txBody>
          <a:bodyPr wrap="none" rtlCol="0">
            <a:spAutoFit/>
          </a:bodyPr>
          <a:lstStyle/>
          <a:p>
            <a:r>
              <a:rPr lang="en-US" dirty="0"/>
              <a:t>Client</a:t>
            </a:r>
          </a:p>
        </p:txBody>
      </p:sp>
      <p:cxnSp>
        <p:nvCxnSpPr>
          <p:cNvPr id="7" name="Straight Arrow Connector 6">
            <a:extLst>
              <a:ext uri="{FF2B5EF4-FFF2-40B4-BE49-F238E27FC236}">
                <a16:creationId xmlns:a16="http://schemas.microsoft.com/office/drawing/2014/main" id="{14B8BBCB-AE84-844B-B0FE-8D4DBE66C985}"/>
              </a:ext>
            </a:extLst>
          </p:cNvPr>
          <p:cNvCxnSpPr>
            <a:stCxn id="3" idx="2"/>
          </p:cNvCxnSpPr>
          <p:nvPr/>
        </p:nvCxnSpPr>
        <p:spPr>
          <a:xfrm>
            <a:off x="8794542" y="2331696"/>
            <a:ext cx="267265" cy="16033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8C14218F-97FD-3C48-A277-7CF2AE8EB9E1}"/>
              </a:ext>
            </a:extLst>
          </p:cNvPr>
          <p:cNvSpPr txBox="1"/>
          <p:nvPr/>
        </p:nvSpPr>
        <p:spPr>
          <a:xfrm>
            <a:off x="8794542" y="2502032"/>
            <a:ext cx="794576" cy="276999"/>
          </a:xfrm>
          <a:prstGeom prst="rect">
            <a:avLst/>
          </a:prstGeom>
          <a:noFill/>
        </p:spPr>
        <p:txBody>
          <a:bodyPr wrap="none" rtlCol="0">
            <a:spAutoFit/>
          </a:bodyPr>
          <a:lstStyle/>
          <a:p>
            <a:r>
              <a:rPr lang="en-US" sz="1200" dirty="0"/>
              <a:t>Get(John)</a:t>
            </a:r>
          </a:p>
        </p:txBody>
      </p:sp>
      <p:cxnSp>
        <p:nvCxnSpPr>
          <p:cNvPr id="10" name="Straight Arrow Connector 9">
            <a:extLst>
              <a:ext uri="{FF2B5EF4-FFF2-40B4-BE49-F238E27FC236}">
                <a16:creationId xmlns:a16="http://schemas.microsoft.com/office/drawing/2014/main" id="{72FACDD4-C674-2847-9E99-5E21DC43C7D6}"/>
              </a:ext>
            </a:extLst>
          </p:cNvPr>
          <p:cNvCxnSpPr/>
          <p:nvPr/>
        </p:nvCxnSpPr>
        <p:spPr>
          <a:xfrm>
            <a:off x="9513870" y="4243227"/>
            <a:ext cx="139728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92060EB5-EC1A-354F-8395-ECAF8E814648}"/>
              </a:ext>
            </a:extLst>
          </p:cNvPr>
          <p:cNvCxnSpPr/>
          <p:nvPr/>
        </p:nvCxnSpPr>
        <p:spPr>
          <a:xfrm>
            <a:off x="9513870" y="4325420"/>
            <a:ext cx="606175" cy="12020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B8AC575-8BF7-CF4A-9C59-E20FF852C7AE}"/>
              </a:ext>
            </a:extLst>
          </p:cNvPr>
          <p:cNvCxnSpPr>
            <a:cxnSpLocks/>
          </p:cNvCxnSpPr>
          <p:nvPr/>
        </p:nvCxnSpPr>
        <p:spPr>
          <a:xfrm flipH="1">
            <a:off x="9359758" y="4415054"/>
            <a:ext cx="82193" cy="4343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EF31A615-41AA-A84A-8616-F581492BDADE}"/>
              </a:ext>
            </a:extLst>
          </p:cNvPr>
          <p:cNvSpPr txBox="1"/>
          <p:nvPr/>
        </p:nvSpPr>
        <p:spPr>
          <a:xfrm>
            <a:off x="10105294" y="2073529"/>
            <a:ext cx="1864100" cy="646331"/>
          </a:xfrm>
          <a:prstGeom prst="rect">
            <a:avLst/>
          </a:prstGeom>
          <a:noFill/>
        </p:spPr>
        <p:txBody>
          <a:bodyPr wrap="none" rtlCol="0">
            <a:spAutoFit/>
          </a:bodyPr>
          <a:lstStyle/>
          <a:p>
            <a:r>
              <a:rPr lang="en-US" dirty="0"/>
              <a:t>Replication Factor</a:t>
            </a:r>
          </a:p>
          <a:p>
            <a:r>
              <a:rPr lang="en-US" dirty="0"/>
              <a:t>N = 3</a:t>
            </a:r>
          </a:p>
        </p:txBody>
      </p:sp>
      <p:sp>
        <p:nvSpPr>
          <p:cNvPr id="17" name="Rectangle 16">
            <a:extLst>
              <a:ext uri="{FF2B5EF4-FFF2-40B4-BE49-F238E27FC236}">
                <a16:creationId xmlns:a16="http://schemas.microsoft.com/office/drawing/2014/main" id="{711547CE-9CB4-D545-8681-C235DE08D82F}"/>
              </a:ext>
            </a:extLst>
          </p:cNvPr>
          <p:cNvSpPr/>
          <p:nvPr/>
        </p:nvSpPr>
        <p:spPr>
          <a:xfrm>
            <a:off x="9924836" y="4500081"/>
            <a:ext cx="606175" cy="277402"/>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8750380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2FA4-AEEB-C948-8987-598385C102B4}"/>
              </a:ext>
            </a:extLst>
          </p:cNvPr>
          <p:cNvSpPr>
            <a:spLocks noGrp="1"/>
          </p:cNvSpPr>
          <p:nvPr>
            <p:ph type="title"/>
          </p:nvPr>
        </p:nvSpPr>
        <p:spPr/>
        <p:txBody>
          <a:bodyPr/>
          <a:lstStyle/>
          <a:p>
            <a:r>
              <a:rPr lang="en-US" dirty="0"/>
              <a:t>Hinted Handoff</a:t>
            </a:r>
          </a:p>
        </p:txBody>
      </p:sp>
      <p:sp>
        <p:nvSpPr>
          <p:cNvPr id="3" name="Content Placeholder 2">
            <a:extLst>
              <a:ext uri="{FF2B5EF4-FFF2-40B4-BE49-F238E27FC236}">
                <a16:creationId xmlns:a16="http://schemas.microsoft.com/office/drawing/2014/main" id="{5518FFE4-0627-C149-BE75-A0A30142E7DE}"/>
              </a:ext>
            </a:extLst>
          </p:cNvPr>
          <p:cNvSpPr>
            <a:spLocks noGrp="1"/>
          </p:cNvSpPr>
          <p:nvPr>
            <p:ph idx="1"/>
          </p:nvPr>
        </p:nvSpPr>
        <p:spPr>
          <a:xfrm>
            <a:off x="1097280" y="1825625"/>
            <a:ext cx="6986016" cy="4351338"/>
          </a:xfrm>
        </p:spPr>
        <p:txBody>
          <a:bodyPr>
            <a:normAutofit/>
          </a:bodyPr>
          <a:lstStyle/>
          <a:p>
            <a:r>
              <a:rPr lang="en-US" dirty="0"/>
              <a:t>Consider the example of Dynamo configuration given in Figure 2 with N=3. In this example, if node A is temporarily down or unreachable during a write operation then a replica that would normally have lived on A will now be sent to node D. </a:t>
            </a:r>
          </a:p>
          <a:p>
            <a:pPr lvl="1"/>
            <a:r>
              <a:rPr lang="en-US" dirty="0"/>
              <a:t>Node A’s replication set would be A,B,C –&gt; D is one beyond</a:t>
            </a:r>
          </a:p>
          <a:p>
            <a:r>
              <a:rPr lang="en-US" dirty="0"/>
              <a:t>This is done to maintain the desired availability and durability guarantees. The replica sent to D will have a hint in its metadata that suggests which node was the intended recipient of the replica (in this case A). Nodes that receive hinted replicas will keep them in a separate local database that is scanned periodically. Upon detecting that A has recovered, D will attempt to deliver the replica to A. Once the transfer succeeds, D may delete the object from its local store without decreasing the total number of replicas in the system. </a:t>
            </a:r>
            <a:endParaRPr lang="en-US" dirty="0">
              <a:effectLst/>
            </a:endParaRPr>
          </a:p>
          <a:p>
            <a:endParaRPr lang="en-US" dirty="0"/>
          </a:p>
        </p:txBody>
      </p:sp>
      <p:pic>
        <p:nvPicPr>
          <p:cNvPr id="4" name="Content Placeholder 5" descr="Diagram&#10;&#10;Description automatically generated">
            <a:extLst>
              <a:ext uri="{FF2B5EF4-FFF2-40B4-BE49-F238E27FC236}">
                <a16:creationId xmlns:a16="http://schemas.microsoft.com/office/drawing/2014/main" id="{5C9B1487-CC0D-7347-BBDE-1D43EF7B7FDF}"/>
              </a:ext>
            </a:extLst>
          </p:cNvPr>
          <p:cNvPicPr>
            <a:picLocks noChangeAspect="1"/>
          </p:cNvPicPr>
          <p:nvPr/>
        </p:nvPicPr>
        <p:blipFill rotWithShape="1">
          <a:blip r:embed="rId2"/>
          <a:srcRect r="28488"/>
          <a:stretch/>
        </p:blipFill>
        <p:spPr>
          <a:xfrm>
            <a:off x="8206122" y="1396144"/>
            <a:ext cx="3705462" cy="4065712"/>
          </a:xfrm>
          <a:prstGeom prst="rect">
            <a:avLst/>
          </a:prstGeom>
        </p:spPr>
      </p:pic>
      <p:sp>
        <p:nvSpPr>
          <p:cNvPr id="5" name="TextBox 4">
            <a:extLst>
              <a:ext uri="{FF2B5EF4-FFF2-40B4-BE49-F238E27FC236}">
                <a16:creationId xmlns:a16="http://schemas.microsoft.com/office/drawing/2014/main" id="{C5E16223-0F91-6241-8A55-3DE2704AEB3D}"/>
              </a:ext>
            </a:extLst>
          </p:cNvPr>
          <p:cNvSpPr txBox="1"/>
          <p:nvPr/>
        </p:nvSpPr>
        <p:spPr>
          <a:xfrm>
            <a:off x="9395508" y="5144231"/>
            <a:ext cx="2635530" cy="1200329"/>
          </a:xfrm>
          <a:prstGeom prst="rect">
            <a:avLst/>
          </a:prstGeom>
          <a:noFill/>
        </p:spPr>
        <p:txBody>
          <a:bodyPr wrap="none" rtlCol="0">
            <a:spAutoFit/>
          </a:bodyPr>
          <a:lstStyle/>
          <a:p>
            <a:r>
              <a:rPr lang="en-US" dirty="0"/>
              <a:t>When node A fails,</a:t>
            </a:r>
          </a:p>
          <a:p>
            <a:r>
              <a:rPr lang="en-US" dirty="0"/>
              <a:t>Hinted handoff goes to D</a:t>
            </a:r>
          </a:p>
          <a:p>
            <a:r>
              <a:rPr lang="en-US" dirty="0"/>
              <a:t>1 step beyond replica set</a:t>
            </a:r>
          </a:p>
          <a:p>
            <a:r>
              <a:rPr lang="en-US" dirty="0"/>
              <a:t>Keeps #replicas consistent</a:t>
            </a:r>
          </a:p>
        </p:txBody>
      </p:sp>
      <p:sp>
        <p:nvSpPr>
          <p:cNvPr id="6" name="Rectangle 5">
            <a:extLst>
              <a:ext uri="{FF2B5EF4-FFF2-40B4-BE49-F238E27FC236}">
                <a16:creationId xmlns:a16="http://schemas.microsoft.com/office/drawing/2014/main" id="{2313E6AF-ECFF-5F43-95B8-F3B360944BB3}"/>
              </a:ext>
            </a:extLst>
          </p:cNvPr>
          <p:cNvSpPr/>
          <p:nvPr/>
        </p:nvSpPr>
        <p:spPr>
          <a:xfrm>
            <a:off x="10469366" y="1396144"/>
            <a:ext cx="1551398" cy="781977"/>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7" name="Freeform 6">
            <a:extLst>
              <a:ext uri="{FF2B5EF4-FFF2-40B4-BE49-F238E27FC236}">
                <a16:creationId xmlns:a16="http://schemas.microsoft.com/office/drawing/2014/main" id="{5AC56A03-3C62-A24B-84FE-A63675D34224}"/>
              </a:ext>
            </a:extLst>
          </p:cNvPr>
          <p:cNvSpPr/>
          <p:nvPr/>
        </p:nvSpPr>
        <p:spPr>
          <a:xfrm>
            <a:off x="10900579" y="2743200"/>
            <a:ext cx="1130459" cy="2383604"/>
          </a:xfrm>
          <a:custGeom>
            <a:avLst/>
            <a:gdLst>
              <a:gd name="connsiteX0" fmla="*/ 616751 w 1130459"/>
              <a:gd name="connsiteY0" fmla="*/ 41097 h 2383604"/>
              <a:gd name="connsiteX1" fmla="*/ 616751 w 1130459"/>
              <a:gd name="connsiteY1" fmla="*/ 41097 h 2383604"/>
              <a:gd name="connsiteX2" fmla="*/ 627025 w 1130459"/>
              <a:gd name="connsiteY2" fmla="*/ 195209 h 2383604"/>
              <a:gd name="connsiteX3" fmla="*/ 637300 w 1130459"/>
              <a:gd name="connsiteY3" fmla="*/ 226031 h 2383604"/>
              <a:gd name="connsiteX4" fmla="*/ 678396 w 1130459"/>
              <a:gd name="connsiteY4" fmla="*/ 287676 h 2383604"/>
              <a:gd name="connsiteX5" fmla="*/ 688670 w 1130459"/>
              <a:gd name="connsiteY5" fmla="*/ 318499 h 2383604"/>
              <a:gd name="connsiteX6" fmla="*/ 719493 w 1130459"/>
              <a:gd name="connsiteY6" fmla="*/ 380144 h 2383604"/>
              <a:gd name="connsiteX7" fmla="*/ 740041 w 1130459"/>
              <a:gd name="connsiteY7" fmla="*/ 503434 h 2383604"/>
              <a:gd name="connsiteX8" fmla="*/ 770864 w 1130459"/>
              <a:gd name="connsiteY8" fmla="*/ 914400 h 2383604"/>
              <a:gd name="connsiteX9" fmla="*/ 750315 w 1130459"/>
              <a:gd name="connsiteY9" fmla="*/ 1243173 h 2383604"/>
              <a:gd name="connsiteX10" fmla="*/ 729767 w 1130459"/>
              <a:gd name="connsiteY10" fmla="*/ 1304818 h 2383604"/>
              <a:gd name="connsiteX11" fmla="*/ 709219 w 1130459"/>
              <a:gd name="connsiteY11" fmla="*/ 1376737 h 2383604"/>
              <a:gd name="connsiteX12" fmla="*/ 688670 w 1130459"/>
              <a:gd name="connsiteY12" fmla="*/ 1407560 h 2383604"/>
              <a:gd name="connsiteX13" fmla="*/ 668122 w 1130459"/>
              <a:gd name="connsiteY13" fmla="*/ 1469204 h 2383604"/>
              <a:gd name="connsiteX14" fmla="*/ 647574 w 1130459"/>
              <a:gd name="connsiteY14" fmla="*/ 1500027 h 2383604"/>
              <a:gd name="connsiteX15" fmla="*/ 616751 w 1130459"/>
              <a:gd name="connsiteY15" fmla="*/ 1551398 h 2383604"/>
              <a:gd name="connsiteX16" fmla="*/ 596203 w 1130459"/>
              <a:gd name="connsiteY16" fmla="*/ 1613043 h 2383604"/>
              <a:gd name="connsiteX17" fmla="*/ 585929 w 1130459"/>
              <a:gd name="connsiteY17" fmla="*/ 1643865 h 2383604"/>
              <a:gd name="connsiteX18" fmla="*/ 555106 w 1130459"/>
              <a:gd name="connsiteY18" fmla="*/ 1705510 h 2383604"/>
              <a:gd name="connsiteX19" fmla="*/ 534558 w 1130459"/>
              <a:gd name="connsiteY19" fmla="*/ 1736333 h 2383604"/>
              <a:gd name="connsiteX20" fmla="*/ 524284 w 1130459"/>
              <a:gd name="connsiteY20" fmla="*/ 1767155 h 2383604"/>
              <a:gd name="connsiteX21" fmla="*/ 483187 w 1130459"/>
              <a:gd name="connsiteY21" fmla="*/ 1828800 h 2383604"/>
              <a:gd name="connsiteX22" fmla="*/ 462639 w 1130459"/>
              <a:gd name="connsiteY22" fmla="*/ 1859622 h 2383604"/>
              <a:gd name="connsiteX23" fmla="*/ 380446 w 1130459"/>
              <a:gd name="connsiteY23" fmla="*/ 1921267 h 2383604"/>
              <a:gd name="connsiteX24" fmla="*/ 349623 w 1130459"/>
              <a:gd name="connsiteY24" fmla="*/ 1931542 h 2383604"/>
              <a:gd name="connsiteX25" fmla="*/ 298252 w 1130459"/>
              <a:gd name="connsiteY25" fmla="*/ 1972638 h 2383604"/>
              <a:gd name="connsiteX26" fmla="*/ 216059 w 1130459"/>
              <a:gd name="connsiteY26" fmla="*/ 2044557 h 2383604"/>
              <a:gd name="connsiteX27" fmla="*/ 185237 w 1130459"/>
              <a:gd name="connsiteY27" fmla="*/ 2054831 h 2383604"/>
              <a:gd name="connsiteX28" fmla="*/ 144140 w 1130459"/>
              <a:gd name="connsiteY28" fmla="*/ 2106202 h 2383604"/>
              <a:gd name="connsiteX29" fmla="*/ 72221 w 1130459"/>
              <a:gd name="connsiteY29" fmla="*/ 2167847 h 2383604"/>
              <a:gd name="connsiteX30" fmla="*/ 20850 w 1130459"/>
              <a:gd name="connsiteY30" fmla="*/ 2198670 h 2383604"/>
              <a:gd name="connsiteX31" fmla="*/ 302 w 1130459"/>
              <a:gd name="connsiteY31" fmla="*/ 2229492 h 2383604"/>
              <a:gd name="connsiteX32" fmla="*/ 10576 w 1130459"/>
              <a:gd name="connsiteY32" fmla="*/ 2270589 h 2383604"/>
              <a:gd name="connsiteX33" fmla="*/ 20850 w 1130459"/>
              <a:gd name="connsiteY33" fmla="*/ 2301411 h 2383604"/>
              <a:gd name="connsiteX34" fmla="*/ 113318 w 1130459"/>
              <a:gd name="connsiteY34" fmla="*/ 2352782 h 2383604"/>
              <a:gd name="connsiteX35" fmla="*/ 154414 w 1130459"/>
              <a:gd name="connsiteY35" fmla="*/ 2363056 h 2383604"/>
              <a:gd name="connsiteX36" fmla="*/ 205785 w 1130459"/>
              <a:gd name="connsiteY36" fmla="*/ 2373330 h 2383604"/>
              <a:gd name="connsiteX37" fmla="*/ 318801 w 1130459"/>
              <a:gd name="connsiteY37" fmla="*/ 2383604 h 2383604"/>
              <a:gd name="connsiteX38" fmla="*/ 472913 w 1130459"/>
              <a:gd name="connsiteY38" fmla="*/ 2373330 h 2383604"/>
              <a:gd name="connsiteX39" fmla="*/ 585929 w 1130459"/>
              <a:gd name="connsiteY39" fmla="*/ 2342508 h 2383604"/>
              <a:gd name="connsiteX40" fmla="*/ 627025 w 1130459"/>
              <a:gd name="connsiteY40" fmla="*/ 2332234 h 2383604"/>
              <a:gd name="connsiteX41" fmla="*/ 668122 w 1130459"/>
              <a:gd name="connsiteY41" fmla="*/ 2301411 h 2383604"/>
              <a:gd name="connsiteX42" fmla="*/ 698945 w 1130459"/>
              <a:gd name="connsiteY42" fmla="*/ 2280863 h 2383604"/>
              <a:gd name="connsiteX43" fmla="*/ 719493 w 1130459"/>
              <a:gd name="connsiteY43" fmla="*/ 2250040 h 2383604"/>
              <a:gd name="connsiteX44" fmla="*/ 801686 w 1130459"/>
              <a:gd name="connsiteY44" fmla="*/ 2147299 h 2383604"/>
              <a:gd name="connsiteX45" fmla="*/ 811960 w 1130459"/>
              <a:gd name="connsiteY45" fmla="*/ 2085654 h 2383604"/>
              <a:gd name="connsiteX46" fmla="*/ 822234 w 1130459"/>
              <a:gd name="connsiteY46" fmla="*/ 2054831 h 2383604"/>
              <a:gd name="connsiteX47" fmla="*/ 832509 w 1130459"/>
              <a:gd name="connsiteY47" fmla="*/ 2003461 h 2383604"/>
              <a:gd name="connsiteX48" fmla="*/ 853057 w 1130459"/>
              <a:gd name="connsiteY48" fmla="*/ 1941816 h 2383604"/>
              <a:gd name="connsiteX49" fmla="*/ 863331 w 1130459"/>
              <a:gd name="connsiteY49" fmla="*/ 1910993 h 2383604"/>
              <a:gd name="connsiteX50" fmla="*/ 894154 w 1130459"/>
              <a:gd name="connsiteY50" fmla="*/ 1818526 h 2383604"/>
              <a:gd name="connsiteX51" fmla="*/ 904428 w 1130459"/>
              <a:gd name="connsiteY51" fmla="*/ 1756881 h 2383604"/>
              <a:gd name="connsiteX52" fmla="*/ 914702 w 1130459"/>
              <a:gd name="connsiteY52" fmla="*/ 1684962 h 2383604"/>
              <a:gd name="connsiteX53" fmla="*/ 924976 w 1130459"/>
              <a:gd name="connsiteY53" fmla="*/ 1633591 h 2383604"/>
              <a:gd name="connsiteX54" fmla="*/ 945524 w 1130459"/>
              <a:gd name="connsiteY54" fmla="*/ 1602769 h 2383604"/>
              <a:gd name="connsiteX55" fmla="*/ 976347 w 1130459"/>
              <a:gd name="connsiteY55" fmla="*/ 1510301 h 2383604"/>
              <a:gd name="connsiteX56" fmla="*/ 986621 w 1130459"/>
              <a:gd name="connsiteY56" fmla="*/ 1479479 h 2383604"/>
              <a:gd name="connsiteX57" fmla="*/ 996895 w 1130459"/>
              <a:gd name="connsiteY57" fmla="*/ 1448656 h 2383604"/>
              <a:gd name="connsiteX58" fmla="*/ 1017443 w 1130459"/>
              <a:gd name="connsiteY58" fmla="*/ 1407560 h 2383604"/>
              <a:gd name="connsiteX59" fmla="*/ 1037992 w 1130459"/>
              <a:gd name="connsiteY59" fmla="*/ 1294544 h 2383604"/>
              <a:gd name="connsiteX60" fmla="*/ 1048266 w 1130459"/>
              <a:gd name="connsiteY60" fmla="*/ 1263721 h 2383604"/>
              <a:gd name="connsiteX61" fmla="*/ 1058540 w 1130459"/>
              <a:gd name="connsiteY61" fmla="*/ 1202076 h 2383604"/>
              <a:gd name="connsiteX62" fmla="*/ 1079088 w 1130459"/>
              <a:gd name="connsiteY62" fmla="*/ 1171254 h 2383604"/>
              <a:gd name="connsiteX63" fmla="*/ 1099637 w 1130459"/>
              <a:gd name="connsiteY63" fmla="*/ 1089061 h 2383604"/>
              <a:gd name="connsiteX64" fmla="*/ 1109911 w 1130459"/>
              <a:gd name="connsiteY64" fmla="*/ 1047964 h 2383604"/>
              <a:gd name="connsiteX65" fmla="*/ 1130459 w 1130459"/>
              <a:gd name="connsiteY65" fmla="*/ 945222 h 2383604"/>
              <a:gd name="connsiteX66" fmla="*/ 1120185 w 1130459"/>
              <a:gd name="connsiteY66" fmla="*/ 852755 h 2383604"/>
              <a:gd name="connsiteX67" fmla="*/ 1109911 w 1130459"/>
              <a:gd name="connsiteY67" fmla="*/ 616449 h 2383604"/>
              <a:gd name="connsiteX68" fmla="*/ 1089363 w 1130459"/>
              <a:gd name="connsiteY68" fmla="*/ 534256 h 2383604"/>
              <a:gd name="connsiteX69" fmla="*/ 1068814 w 1130459"/>
              <a:gd name="connsiteY69" fmla="*/ 452063 h 2383604"/>
              <a:gd name="connsiteX70" fmla="*/ 1037992 w 1130459"/>
              <a:gd name="connsiteY70" fmla="*/ 287676 h 2383604"/>
              <a:gd name="connsiteX71" fmla="*/ 1027718 w 1130459"/>
              <a:gd name="connsiteY71" fmla="*/ 164387 h 2383604"/>
              <a:gd name="connsiteX72" fmla="*/ 986621 w 1130459"/>
              <a:gd name="connsiteY72" fmla="*/ 82193 h 2383604"/>
              <a:gd name="connsiteX73" fmla="*/ 955799 w 1130459"/>
              <a:gd name="connsiteY73" fmla="*/ 61645 h 2383604"/>
              <a:gd name="connsiteX74" fmla="*/ 924976 w 1130459"/>
              <a:gd name="connsiteY74" fmla="*/ 51371 h 2383604"/>
              <a:gd name="connsiteX75" fmla="*/ 832509 w 1130459"/>
              <a:gd name="connsiteY75" fmla="*/ 10274 h 2383604"/>
              <a:gd name="connsiteX76" fmla="*/ 801686 w 1130459"/>
              <a:gd name="connsiteY76" fmla="*/ 0 h 2383604"/>
              <a:gd name="connsiteX77" fmla="*/ 657848 w 1130459"/>
              <a:gd name="connsiteY77" fmla="*/ 20548 h 2383604"/>
              <a:gd name="connsiteX78" fmla="*/ 616751 w 1130459"/>
              <a:gd name="connsiteY78" fmla="*/ 41097 h 2383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1130459" h="2383604">
                <a:moveTo>
                  <a:pt x="616751" y="41097"/>
                </a:moveTo>
                <a:lnTo>
                  <a:pt x="616751" y="41097"/>
                </a:lnTo>
                <a:cubicBezTo>
                  <a:pt x="604086" y="155088"/>
                  <a:pt x="596670" y="104146"/>
                  <a:pt x="627025" y="195209"/>
                </a:cubicBezTo>
                <a:cubicBezTo>
                  <a:pt x="630450" y="205483"/>
                  <a:pt x="631293" y="217020"/>
                  <a:pt x="637300" y="226031"/>
                </a:cubicBezTo>
                <a:lnTo>
                  <a:pt x="678396" y="287676"/>
                </a:lnTo>
                <a:cubicBezTo>
                  <a:pt x="681821" y="297950"/>
                  <a:pt x="683827" y="308812"/>
                  <a:pt x="688670" y="318499"/>
                </a:cubicBezTo>
                <a:cubicBezTo>
                  <a:pt x="713783" y="368725"/>
                  <a:pt x="706580" y="328491"/>
                  <a:pt x="719493" y="380144"/>
                </a:cubicBezTo>
                <a:cubicBezTo>
                  <a:pt x="727208" y="411007"/>
                  <a:pt x="737431" y="475597"/>
                  <a:pt x="740041" y="503434"/>
                </a:cubicBezTo>
                <a:cubicBezTo>
                  <a:pt x="754267" y="655177"/>
                  <a:pt x="761128" y="768354"/>
                  <a:pt x="770864" y="914400"/>
                </a:cubicBezTo>
                <a:cubicBezTo>
                  <a:pt x="769480" y="950390"/>
                  <a:pt x="772975" y="1152534"/>
                  <a:pt x="750315" y="1243173"/>
                </a:cubicBezTo>
                <a:cubicBezTo>
                  <a:pt x="745062" y="1264186"/>
                  <a:pt x="735020" y="1283805"/>
                  <a:pt x="729767" y="1304818"/>
                </a:cubicBezTo>
                <a:cubicBezTo>
                  <a:pt x="726475" y="1317985"/>
                  <a:pt x="716589" y="1361997"/>
                  <a:pt x="709219" y="1376737"/>
                </a:cubicBezTo>
                <a:cubicBezTo>
                  <a:pt x="703697" y="1387782"/>
                  <a:pt x="695520" y="1397286"/>
                  <a:pt x="688670" y="1407560"/>
                </a:cubicBezTo>
                <a:cubicBezTo>
                  <a:pt x="681821" y="1428108"/>
                  <a:pt x="680136" y="1451182"/>
                  <a:pt x="668122" y="1469204"/>
                </a:cubicBezTo>
                <a:cubicBezTo>
                  <a:pt x="661273" y="1479478"/>
                  <a:pt x="653096" y="1488982"/>
                  <a:pt x="647574" y="1500027"/>
                </a:cubicBezTo>
                <a:cubicBezTo>
                  <a:pt x="620900" y="1553375"/>
                  <a:pt x="656887" y="1511262"/>
                  <a:pt x="616751" y="1551398"/>
                </a:cubicBezTo>
                <a:lnTo>
                  <a:pt x="596203" y="1613043"/>
                </a:lnTo>
                <a:cubicBezTo>
                  <a:pt x="592778" y="1623317"/>
                  <a:pt x="591936" y="1634854"/>
                  <a:pt x="585929" y="1643865"/>
                </a:cubicBezTo>
                <a:cubicBezTo>
                  <a:pt x="527041" y="1732200"/>
                  <a:pt x="597644" y="1620436"/>
                  <a:pt x="555106" y="1705510"/>
                </a:cubicBezTo>
                <a:cubicBezTo>
                  <a:pt x="549584" y="1716554"/>
                  <a:pt x="540080" y="1725288"/>
                  <a:pt x="534558" y="1736333"/>
                </a:cubicBezTo>
                <a:cubicBezTo>
                  <a:pt x="529715" y="1746019"/>
                  <a:pt x="529543" y="1757688"/>
                  <a:pt x="524284" y="1767155"/>
                </a:cubicBezTo>
                <a:cubicBezTo>
                  <a:pt x="512290" y="1788743"/>
                  <a:pt x="496886" y="1808252"/>
                  <a:pt x="483187" y="1828800"/>
                </a:cubicBezTo>
                <a:cubicBezTo>
                  <a:pt x="476338" y="1839074"/>
                  <a:pt x="471370" y="1850891"/>
                  <a:pt x="462639" y="1859622"/>
                </a:cubicBezTo>
                <a:cubicBezTo>
                  <a:pt x="438297" y="1883965"/>
                  <a:pt x="415303" y="1909647"/>
                  <a:pt x="380446" y="1921267"/>
                </a:cubicBezTo>
                <a:lnTo>
                  <a:pt x="349623" y="1931542"/>
                </a:lnTo>
                <a:cubicBezTo>
                  <a:pt x="296123" y="2011792"/>
                  <a:pt x="364422" y="1923010"/>
                  <a:pt x="298252" y="1972638"/>
                </a:cubicBezTo>
                <a:cubicBezTo>
                  <a:pt x="244682" y="2012816"/>
                  <a:pt x="263701" y="2020736"/>
                  <a:pt x="216059" y="2044557"/>
                </a:cubicBezTo>
                <a:cubicBezTo>
                  <a:pt x="206373" y="2049400"/>
                  <a:pt x="195511" y="2051406"/>
                  <a:pt x="185237" y="2054831"/>
                </a:cubicBezTo>
                <a:cubicBezTo>
                  <a:pt x="115285" y="2124783"/>
                  <a:pt x="221905" y="2015476"/>
                  <a:pt x="144140" y="2106202"/>
                </a:cubicBezTo>
                <a:cubicBezTo>
                  <a:pt x="90175" y="2169161"/>
                  <a:pt x="121799" y="2128183"/>
                  <a:pt x="72221" y="2167847"/>
                </a:cubicBezTo>
                <a:cubicBezTo>
                  <a:pt x="31926" y="2200084"/>
                  <a:pt x="74379" y="2180828"/>
                  <a:pt x="20850" y="2198670"/>
                </a:cubicBezTo>
                <a:cubicBezTo>
                  <a:pt x="14001" y="2208944"/>
                  <a:pt x="2048" y="2217268"/>
                  <a:pt x="302" y="2229492"/>
                </a:cubicBezTo>
                <a:cubicBezTo>
                  <a:pt x="-1695" y="2243471"/>
                  <a:pt x="6697" y="2257012"/>
                  <a:pt x="10576" y="2270589"/>
                </a:cubicBezTo>
                <a:cubicBezTo>
                  <a:pt x="13551" y="2281002"/>
                  <a:pt x="13192" y="2293753"/>
                  <a:pt x="20850" y="2301411"/>
                </a:cubicBezTo>
                <a:cubicBezTo>
                  <a:pt x="50288" y="2330849"/>
                  <a:pt x="77142" y="2342446"/>
                  <a:pt x="113318" y="2352782"/>
                </a:cubicBezTo>
                <a:cubicBezTo>
                  <a:pt x="126895" y="2356661"/>
                  <a:pt x="140630" y="2359993"/>
                  <a:pt x="154414" y="2363056"/>
                </a:cubicBezTo>
                <a:cubicBezTo>
                  <a:pt x="171461" y="2366844"/>
                  <a:pt x="188457" y="2371164"/>
                  <a:pt x="205785" y="2373330"/>
                </a:cubicBezTo>
                <a:cubicBezTo>
                  <a:pt x="243320" y="2378022"/>
                  <a:pt x="281129" y="2380179"/>
                  <a:pt x="318801" y="2383604"/>
                </a:cubicBezTo>
                <a:cubicBezTo>
                  <a:pt x="370172" y="2380179"/>
                  <a:pt x="421684" y="2378453"/>
                  <a:pt x="472913" y="2373330"/>
                </a:cubicBezTo>
                <a:cubicBezTo>
                  <a:pt x="532147" y="2367407"/>
                  <a:pt x="524309" y="2357913"/>
                  <a:pt x="585929" y="2342508"/>
                </a:cubicBezTo>
                <a:lnTo>
                  <a:pt x="627025" y="2332234"/>
                </a:lnTo>
                <a:cubicBezTo>
                  <a:pt x="640724" y="2321960"/>
                  <a:pt x="654188" y="2311364"/>
                  <a:pt x="668122" y="2301411"/>
                </a:cubicBezTo>
                <a:cubicBezTo>
                  <a:pt x="678170" y="2294234"/>
                  <a:pt x="690214" y="2289594"/>
                  <a:pt x="698945" y="2280863"/>
                </a:cubicBezTo>
                <a:cubicBezTo>
                  <a:pt x="707676" y="2272132"/>
                  <a:pt x="711362" y="2259333"/>
                  <a:pt x="719493" y="2250040"/>
                </a:cubicBezTo>
                <a:cubicBezTo>
                  <a:pt x="802847" y="2154778"/>
                  <a:pt x="743675" y="2243985"/>
                  <a:pt x="801686" y="2147299"/>
                </a:cubicBezTo>
                <a:cubicBezTo>
                  <a:pt x="805111" y="2126751"/>
                  <a:pt x="807441" y="2105990"/>
                  <a:pt x="811960" y="2085654"/>
                </a:cubicBezTo>
                <a:cubicBezTo>
                  <a:pt x="814309" y="2075082"/>
                  <a:pt x="819607" y="2065338"/>
                  <a:pt x="822234" y="2054831"/>
                </a:cubicBezTo>
                <a:cubicBezTo>
                  <a:pt x="826469" y="2037890"/>
                  <a:pt x="827914" y="2020308"/>
                  <a:pt x="832509" y="2003461"/>
                </a:cubicBezTo>
                <a:cubicBezTo>
                  <a:pt x="838208" y="1982564"/>
                  <a:pt x="846208" y="1962364"/>
                  <a:pt x="853057" y="1941816"/>
                </a:cubicBezTo>
                <a:cubicBezTo>
                  <a:pt x="856482" y="1931542"/>
                  <a:pt x="861207" y="1921613"/>
                  <a:pt x="863331" y="1910993"/>
                </a:cubicBezTo>
                <a:cubicBezTo>
                  <a:pt x="876609" y="1844604"/>
                  <a:pt x="865795" y="1875241"/>
                  <a:pt x="894154" y="1818526"/>
                </a:cubicBezTo>
                <a:cubicBezTo>
                  <a:pt x="897579" y="1797978"/>
                  <a:pt x="901260" y="1777471"/>
                  <a:pt x="904428" y="1756881"/>
                </a:cubicBezTo>
                <a:cubicBezTo>
                  <a:pt x="908110" y="1732946"/>
                  <a:pt x="910721" y="1708849"/>
                  <a:pt x="914702" y="1684962"/>
                </a:cubicBezTo>
                <a:cubicBezTo>
                  <a:pt x="917573" y="1667737"/>
                  <a:pt x="918844" y="1649942"/>
                  <a:pt x="924976" y="1633591"/>
                </a:cubicBezTo>
                <a:cubicBezTo>
                  <a:pt x="929312" y="1622029"/>
                  <a:pt x="940775" y="1614167"/>
                  <a:pt x="945524" y="1602769"/>
                </a:cubicBezTo>
                <a:cubicBezTo>
                  <a:pt x="958020" y="1572778"/>
                  <a:pt x="966073" y="1541124"/>
                  <a:pt x="976347" y="1510301"/>
                </a:cubicBezTo>
                <a:lnTo>
                  <a:pt x="986621" y="1479479"/>
                </a:lnTo>
                <a:cubicBezTo>
                  <a:pt x="990046" y="1469205"/>
                  <a:pt x="992052" y="1458343"/>
                  <a:pt x="996895" y="1448656"/>
                </a:cubicBezTo>
                <a:lnTo>
                  <a:pt x="1017443" y="1407560"/>
                </a:lnTo>
                <a:cubicBezTo>
                  <a:pt x="1022022" y="1380090"/>
                  <a:pt x="1030814" y="1323255"/>
                  <a:pt x="1037992" y="1294544"/>
                </a:cubicBezTo>
                <a:cubicBezTo>
                  <a:pt x="1040619" y="1284037"/>
                  <a:pt x="1045917" y="1274293"/>
                  <a:pt x="1048266" y="1263721"/>
                </a:cubicBezTo>
                <a:cubicBezTo>
                  <a:pt x="1052785" y="1243385"/>
                  <a:pt x="1051952" y="1221839"/>
                  <a:pt x="1058540" y="1202076"/>
                </a:cubicBezTo>
                <a:cubicBezTo>
                  <a:pt x="1062445" y="1190362"/>
                  <a:pt x="1073566" y="1182298"/>
                  <a:pt x="1079088" y="1171254"/>
                </a:cubicBezTo>
                <a:cubicBezTo>
                  <a:pt x="1090105" y="1149220"/>
                  <a:pt x="1094946" y="1110169"/>
                  <a:pt x="1099637" y="1089061"/>
                </a:cubicBezTo>
                <a:cubicBezTo>
                  <a:pt x="1102700" y="1075277"/>
                  <a:pt x="1106952" y="1061771"/>
                  <a:pt x="1109911" y="1047964"/>
                </a:cubicBezTo>
                <a:cubicBezTo>
                  <a:pt x="1117229" y="1013814"/>
                  <a:pt x="1130459" y="945222"/>
                  <a:pt x="1130459" y="945222"/>
                </a:cubicBezTo>
                <a:cubicBezTo>
                  <a:pt x="1127034" y="914400"/>
                  <a:pt x="1122119" y="883707"/>
                  <a:pt x="1120185" y="852755"/>
                </a:cubicBezTo>
                <a:cubicBezTo>
                  <a:pt x="1115267" y="774065"/>
                  <a:pt x="1117505" y="694925"/>
                  <a:pt x="1109911" y="616449"/>
                </a:cubicBezTo>
                <a:cubicBezTo>
                  <a:pt x="1107191" y="588339"/>
                  <a:pt x="1096213" y="561654"/>
                  <a:pt x="1089363" y="534256"/>
                </a:cubicBezTo>
                <a:lnTo>
                  <a:pt x="1068814" y="452063"/>
                </a:lnTo>
                <a:cubicBezTo>
                  <a:pt x="1045945" y="314845"/>
                  <a:pt x="1058371" y="369193"/>
                  <a:pt x="1037992" y="287676"/>
                </a:cubicBezTo>
                <a:cubicBezTo>
                  <a:pt x="1034567" y="246580"/>
                  <a:pt x="1034498" y="205065"/>
                  <a:pt x="1027718" y="164387"/>
                </a:cubicBezTo>
                <a:cubicBezTo>
                  <a:pt x="1020813" y="122960"/>
                  <a:pt x="1015013" y="104907"/>
                  <a:pt x="986621" y="82193"/>
                </a:cubicBezTo>
                <a:cubicBezTo>
                  <a:pt x="976979" y="74479"/>
                  <a:pt x="966843" y="67167"/>
                  <a:pt x="955799" y="61645"/>
                </a:cubicBezTo>
                <a:cubicBezTo>
                  <a:pt x="946112" y="56802"/>
                  <a:pt x="935250" y="54796"/>
                  <a:pt x="924976" y="51371"/>
                </a:cubicBezTo>
                <a:cubicBezTo>
                  <a:pt x="876132" y="18807"/>
                  <a:pt x="905868" y="34726"/>
                  <a:pt x="832509" y="10274"/>
                </a:cubicBezTo>
                <a:lnTo>
                  <a:pt x="801686" y="0"/>
                </a:lnTo>
                <a:cubicBezTo>
                  <a:pt x="728141" y="6686"/>
                  <a:pt x="710168" y="-380"/>
                  <a:pt x="657848" y="20548"/>
                </a:cubicBezTo>
                <a:cubicBezTo>
                  <a:pt x="650738" y="23392"/>
                  <a:pt x="623600" y="37672"/>
                  <a:pt x="616751" y="41097"/>
                </a:cubicBezTo>
                <a:close/>
              </a:path>
            </a:pathLst>
          </a:cu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8" name="TextBox 7">
            <a:extLst>
              <a:ext uri="{FF2B5EF4-FFF2-40B4-BE49-F238E27FC236}">
                <a16:creationId xmlns:a16="http://schemas.microsoft.com/office/drawing/2014/main" id="{F584C47B-AB98-1F41-8403-7F8EF6160FB9}"/>
              </a:ext>
            </a:extLst>
          </p:cNvPr>
          <p:cNvSpPr txBox="1"/>
          <p:nvPr/>
        </p:nvSpPr>
        <p:spPr>
          <a:xfrm>
            <a:off x="10166938" y="1311409"/>
            <a:ext cx="1864100" cy="646331"/>
          </a:xfrm>
          <a:prstGeom prst="rect">
            <a:avLst/>
          </a:prstGeom>
          <a:noFill/>
        </p:spPr>
        <p:txBody>
          <a:bodyPr wrap="none" rtlCol="0">
            <a:spAutoFit/>
          </a:bodyPr>
          <a:lstStyle/>
          <a:p>
            <a:r>
              <a:rPr lang="en-US" dirty="0"/>
              <a:t>Replication Factor</a:t>
            </a:r>
          </a:p>
          <a:p>
            <a:r>
              <a:rPr lang="en-US" dirty="0"/>
              <a:t>N = 3</a:t>
            </a:r>
          </a:p>
        </p:txBody>
      </p:sp>
    </p:spTree>
    <p:extLst>
      <p:ext uri="{BB962C8B-B14F-4D97-AF65-F5344CB8AC3E}">
        <p14:creationId xmlns:p14="http://schemas.microsoft.com/office/powerpoint/2010/main" val="10851236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5078F-477F-7B40-9CCE-099756696FEF}"/>
              </a:ext>
            </a:extLst>
          </p:cNvPr>
          <p:cNvSpPr>
            <a:spLocks noGrp="1"/>
          </p:cNvSpPr>
          <p:nvPr>
            <p:ph type="title"/>
          </p:nvPr>
        </p:nvSpPr>
        <p:spPr/>
        <p:txBody>
          <a:bodyPr/>
          <a:lstStyle/>
          <a:p>
            <a:r>
              <a:rPr lang="en-US" dirty="0"/>
              <a:t>Hinted Handoff</a:t>
            </a:r>
          </a:p>
        </p:txBody>
      </p:sp>
      <p:sp>
        <p:nvSpPr>
          <p:cNvPr id="3" name="Content Placeholder 2">
            <a:extLst>
              <a:ext uri="{FF2B5EF4-FFF2-40B4-BE49-F238E27FC236}">
                <a16:creationId xmlns:a16="http://schemas.microsoft.com/office/drawing/2014/main" id="{61F3010B-5C06-6546-B7A8-AA633FBB02A3}"/>
              </a:ext>
            </a:extLst>
          </p:cNvPr>
          <p:cNvSpPr>
            <a:spLocks noGrp="1"/>
          </p:cNvSpPr>
          <p:nvPr>
            <p:ph idx="1"/>
          </p:nvPr>
        </p:nvSpPr>
        <p:spPr/>
        <p:txBody>
          <a:bodyPr/>
          <a:lstStyle/>
          <a:p>
            <a:r>
              <a:rPr lang="en-US" dirty="0"/>
              <a:t>Ensures that read and write operations are not failed due to temporary node or network failures</a:t>
            </a:r>
          </a:p>
          <a:p>
            <a:endParaRPr lang="en-US" dirty="0"/>
          </a:p>
          <a:p>
            <a:r>
              <a:rPr lang="en-US" dirty="0"/>
              <a:t>It is imperative that a highly available storage system be capable of handling the failure of an entire data center(s). </a:t>
            </a:r>
            <a:endParaRPr lang="en-US" dirty="0">
              <a:effectLst/>
            </a:endParaRPr>
          </a:p>
          <a:p>
            <a:r>
              <a:rPr lang="en-US" dirty="0"/>
              <a:t>Dynamo is configured such that each object is replicated across multiple data centers. In essence, the preference list of a key is constructed such that the storage nodes are spread across multiple data centers. </a:t>
            </a:r>
            <a:endParaRPr lang="en-US" dirty="0">
              <a:effectLst/>
            </a:endParaRPr>
          </a:p>
          <a:p>
            <a:endParaRPr lang="en-US" dirty="0"/>
          </a:p>
        </p:txBody>
      </p:sp>
    </p:spTree>
    <p:extLst>
      <p:ext uri="{BB962C8B-B14F-4D97-AF65-F5344CB8AC3E}">
        <p14:creationId xmlns:p14="http://schemas.microsoft.com/office/powerpoint/2010/main" val="5860312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A88A8-5425-A34D-8208-1F494C0DF518}"/>
              </a:ext>
            </a:extLst>
          </p:cNvPr>
          <p:cNvSpPr>
            <a:spLocks noGrp="1"/>
          </p:cNvSpPr>
          <p:nvPr>
            <p:ph type="title"/>
          </p:nvPr>
        </p:nvSpPr>
        <p:spPr/>
        <p:txBody>
          <a:bodyPr/>
          <a:lstStyle/>
          <a:p>
            <a:r>
              <a:rPr lang="en-US" dirty="0"/>
              <a:t>Replica Inconsistency</a:t>
            </a:r>
          </a:p>
        </p:txBody>
      </p:sp>
      <p:sp>
        <p:nvSpPr>
          <p:cNvPr id="3" name="Content Placeholder 2">
            <a:extLst>
              <a:ext uri="{FF2B5EF4-FFF2-40B4-BE49-F238E27FC236}">
                <a16:creationId xmlns:a16="http://schemas.microsoft.com/office/drawing/2014/main" id="{E00EEED0-79E6-4A45-8DF8-7E7DE26FF7CE}"/>
              </a:ext>
            </a:extLst>
          </p:cNvPr>
          <p:cNvSpPr>
            <a:spLocks noGrp="1"/>
          </p:cNvSpPr>
          <p:nvPr>
            <p:ph idx="1"/>
          </p:nvPr>
        </p:nvSpPr>
        <p:spPr>
          <a:xfrm>
            <a:off x="1097280" y="1845734"/>
            <a:ext cx="5262423" cy="4023360"/>
          </a:xfrm>
        </p:spPr>
        <p:txBody>
          <a:bodyPr>
            <a:normAutofit lnSpcReduction="10000"/>
          </a:bodyPr>
          <a:lstStyle/>
          <a:p>
            <a:r>
              <a:rPr lang="en-US" dirty="0"/>
              <a:t>Merkle Tree</a:t>
            </a:r>
          </a:p>
          <a:p>
            <a:pPr lvl="1"/>
            <a:r>
              <a:rPr lang="en-US" dirty="0"/>
              <a:t>Leaves are hashes of individual keys</a:t>
            </a:r>
          </a:p>
          <a:p>
            <a:pPr lvl="1"/>
            <a:r>
              <a:rPr lang="en-US" dirty="0"/>
              <a:t>Parents are hashes of their children</a:t>
            </a:r>
          </a:p>
          <a:p>
            <a:r>
              <a:rPr lang="en-US" dirty="0"/>
              <a:t>If the hash values of the root of two trees are equal, then the values of the leaf nodes in the tree are equal and the nodes require no synchronization. </a:t>
            </a:r>
            <a:endParaRPr lang="en-US" dirty="0">
              <a:effectLst/>
            </a:endParaRPr>
          </a:p>
          <a:p>
            <a:r>
              <a:rPr lang="en-US" dirty="0"/>
              <a:t>If not, it implies that the values of some replicas are different. In such cases, the nodes may exchange the hash values of children and the process continues until it reaches the leaves of the trees, at which point the hosts can identify the keys that are “out of sync”. </a:t>
            </a:r>
            <a:endParaRPr lang="en-US" dirty="0">
              <a:effectLst/>
            </a:endParaRPr>
          </a:p>
          <a:p>
            <a:endParaRPr lang="en-US" dirty="0"/>
          </a:p>
        </p:txBody>
      </p:sp>
      <p:pic>
        <p:nvPicPr>
          <p:cNvPr id="6146" name="Picture 2" descr="How Merkle trees enable the decentralized Web - Tara Vancil">
            <a:extLst>
              <a:ext uri="{FF2B5EF4-FFF2-40B4-BE49-F238E27FC236}">
                <a16:creationId xmlns:a16="http://schemas.microsoft.com/office/drawing/2014/main" id="{4435C365-A949-F946-9781-706FC82FDE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75460" y="2313881"/>
            <a:ext cx="3865794" cy="26629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31291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94B95-FFE0-A843-836B-499854ADFBE2}"/>
              </a:ext>
            </a:extLst>
          </p:cNvPr>
          <p:cNvSpPr>
            <a:spLocks noGrp="1"/>
          </p:cNvSpPr>
          <p:nvPr>
            <p:ph type="title"/>
          </p:nvPr>
        </p:nvSpPr>
        <p:spPr/>
        <p:txBody>
          <a:bodyPr/>
          <a:lstStyle/>
          <a:p>
            <a:r>
              <a:rPr lang="en-US" dirty="0"/>
              <a:t>Membership &amp; Failure Detection</a:t>
            </a:r>
          </a:p>
        </p:txBody>
      </p:sp>
      <p:sp>
        <p:nvSpPr>
          <p:cNvPr id="3" name="Content Placeholder 2">
            <a:extLst>
              <a:ext uri="{FF2B5EF4-FFF2-40B4-BE49-F238E27FC236}">
                <a16:creationId xmlns:a16="http://schemas.microsoft.com/office/drawing/2014/main" id="{5BEA726E-5E88-1645-862A-C36271D93ABC}"/>
              </a:ext>
            </a:extLst>
          </p:cNvPr>
          <p:cNvSpPr>
            <a:spLocks noGrp="1"/>
          </p:cNvSpPr>
          <p:nvPr>
            <p:ph idx="1"/>
          </p:nvPr>
        </p:nvSpPr>
        <p:spPr/>
        <p:txBody>
          <a:bodyPr/>
          <a:lstStyle/>
          <a:p>
            <a:r>
              <a:rPr lang="en-US" dirty="0"/>
              <a:t>Outages are considered transient and shouldn’t result in rebalance</a:t>
            </a:r>
          </a:p>
          <a:p>
            <a:r>
              <a:rPr lang="en-US" dirty="0"/>
              <a:t>Administrator or System must issue a command to add/remove nodes</a:t>
            </a:r>
          </a:p>
          <a:p>
            <a:pPr lvl="1"/>
            <a:r>
              <a:rPr lang="en-US" dirty="0"/>
              <a:t>Happens on one node – gossiped to the rest</a:t>
            </a:r>
          </a:p>
          <a:p>
            <a:pPr lvl="1"/>
            <a:endParaRPr lang="en-US" dirty="0"/>
          </a:p>
          <a:p>
            <a:r>
              <a:rPr lang="en-US" dirty="0"/>
              <a:t>Failure is determined when a node doesn’t respond to messages</a:t>
            </a:r>
          </a:p>
          <a:p>
            <a:pPr lvl="1"/>
            <a:r>
              <a:rPr lang="en-US" dirty="0"/>
              <a:t>Considered transient – periodically check back</a:t>
            </a:r>
          </a:p>
          <a:p>
            <a:pPr lvl="1"/>
            <a:endParaRPr lang="en-US" dirty="0"/>
          </a:p>
          <a:p>
            <a:r>
              <a:rPr lang="en-US" dirty="0"/>
              <a:t>Explicit add/remove eliminates need for global failure state</a:t>
            </a:r>
          </a:p>
          <a:p>
            <a:pPr lvl="1"/>
            <a:endParaRPr lang="en-US" dirty="0"/>
          </a:p>
        </p:txBody>
      </p:sp>
    </p:spTree>
    <p:extLst>
      <p:ext uri="{BB962C8B-B14F-4D97-AF65-F5344CB8AC3E}">
        <p14:creationId xmlns:p14="http://schemas.microsoft.com/office/powerpoint/2010/main" val="19291186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CA1EF-03A6-E349-BA6B-8C34228C7552}"/>
              </a:ext>
            </a:extLst>
          </p:cNvPr>
          <p:cNvSpPr>
            <a:spLocks noGrp="1"/>
          </p:cNvSpPr>
          <p:nvPr>
            <p:ph type="title"/>
          </p:nvPr>
        </p:nvSpPr>
        <p:spPr/>
        <p:txBody>
          <a:bodyPr/>
          <a:lstStyle/>
          <a:p>
            <a:r>
              <a:rPr lang="en-US" dirty="0"/>
              <a:t>Implementation</a:t>
            </a:r>
          </a:p>
        </p:txBody>
      </p:sp>
      <p:sp>
        <p:nvSpPr>
          <p:cNvPr id="3" name="Content Placeholder 2">
            <a:extLst>
              <a:ext uri="{FF2B5EF4-FFF2-40B4-BE49-F238E27FC236}">
                <a16:creationId xmlns:a16="http://schemas.microsoft.com/office/drawing/2014/main" id="{23CEF91B-A560-6645-AA35-2AE496EB37D6}"/>
              </a:ext>
            </a:extLst>
          </p:cNvPr>
          <p:cNvSpPr>
            <a:spLocks noGrp="1"/>
          </p:cNvSpPr>
          <p:nvPr>
            <p:ph idx="1"/>
          </p:nvPr>
        </p:nvSpPr>
        <p:spPr/>
        <p:txBody>
          <a:bodyPr/>
          <a:lstStyle/>
          <a:p>
            <a:r>
              <a:rPr lang="en-US" dirty="0"/>
              <a:t>Written in Java</a:t>
            </a:r>
          </a:p>
          <a:p>
            <a:r>
              <a:rPr lang="en-US" dirty="0"/>
              <a:t>Pluggable persistence</a:t>
            </a:r>
          </a:p>
          <a:p>
            <a:pPr lvl="1"/>
            <a:r>
              <a:rPr lang="en-US" dirty="0"/>
              <a:t>Berkeley Database (BDB)</a:t>
            </a:r>
          </a:p>
          <a:p>
            <a:pPr lvl="1"/>
            <a:r>
              <a:rPr lang="en-US" dirty="0"/>
              <a:t>BDB Java Edition</a:t>
            </a:r>
          </a:p>
          <a:p>
            <a:pPr lvl="1"/>
            <a:r>
              <a:rPr lang="en-US" dirty="0"/>
              <a:t>MySQL</a:t>
            </a:r>
          </a:p>
          <a:p>
            <a:pPr lvl="1"/>
            <a:r>
              <a:rPr lang="en-US" dirty="0"/>
              <a:t>In memory buffer with persistent backing </a:t>
            </a:r>
          </a:p>
          <a:p>
            <a:r>
              <a:rPr lang="en-US" dirty="0"/>
              <a:t>Built on top of event-driven messaging</a:t>
            </a:r>
          </a:p>
          <a:p>
            <a:endParaRPr lang="en-US" dirty="0"/>
          </a:p>
        </p:txBody>
      </p:sp>
    </p:spTree>
    <p:extLst>
      <p:ext uri="{BB962C8B-B14F-4D97-AF65-F5344CB8AC3E}">
        <p14:creationId xmlns:p14="http://schemas.microsoft.com/office/powerpoint/2010/main" val="16774705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D2DFB-9177-0A40-81FC-A549997576EE}"/>
              </a:ext>
            </a:extLst>
          </p:cNvPr>
          <p:cNvSpPr>
            <a:spLocks noGrp="1"/>
          </p:cNvSpPr>
          <p:nvPr>
            <p:ph type="title"/>
          </p:nvPr>
        </p:nvSpPr>
        <p:spPr/>
        <p:txBody>
          <a:bodyPr/>
          <a:lstStyle/>
          <a:p>
            <a:r>
              <a:rPr lang="en-US" dirty="0"/>
              <a:t>Lessons Learned</a:t>
            </a:r>
          </a:p>
        </p:txBody>
      </p:sp>
      <p:sp>
        <p:nvSpPr>
          <p:cNvPr id="3" name="Content Placeholder 2">
            <a:extLst>
              <a:ext uri="{FF2B5EF4-FFF2-40B4-BE49-F238E27FC236}">
                <a16:creationId xmlns:a16="http://schemas.microsoft.com/office/drawing/2014/main" id="{CFA86A4B-76E7-8A48-8FAF-40E0BC70F32C}"/>
              </a:ext>
            </a:extLst>
          </p:cNvPr>
          <p:cNvSpPr>
            <a:spLocks noGrp="1"/>
          </p:cNvSpPr>
          <p:nvPr>
            <p:ph idx="1"/>
          </p:nvPr>
        </p:nvSpPr>
        <p:spPr/>
        <p:txBody>
          <a:bodyPr>
            <a:normAutofit/>
          </a:bodyPr>
          <a:lstStyle/>
          <a:p>
            <a:r>
              <a:rPr lang="en-US" dirty="0"/>
              <a:t>Reconciliation patterns</a:t>
            </a:r>
          </a:p>
          <a:p>
            <a:pPr lvl="1"/>
            <a:r>
              <a:rPr lang="en-US" dirty="0"/>
              <a:t>Business logic specific</a:t>
            </a:r>
          </a:p>
          <a:p>
            <a:pPr lvl="2"/>
            <a:r>
              <a:rPr lang="en-US" dirty="0"/>
              <a:t>shopping cart </a:t>
            </a:r>
            <a:r>
              <a:rPr lang="en-US" dirty="0">
                <a:sym typeface="Wingdings" pitchFamily="2" charset="2"/>
              </a:rPr>
              <a:t> merge</a:t>
            </a:r>
          </a:p>
          <a:p>
            <a:pPr lvl="1"/>
            <a:r>
              <a:rPr lang="en-US" dirty="0">
                <a:sym typeface="Wingdings" pitchFamily="2" charset="2"/>
              </a:rPr>
              <a:t>Timestamp based</a:t>
            </a:r>
          </a:p>
          <a:p>
            <a:pPr lvl="2"/>
            <a:r>
              <a:rPr lang="en-US" dirty="0">
                <a:sym typeface="Wingdings" pitchFamily="2" charset="2"/>
              </a:rPr>
              <a:t>Customer session information  Last write wins</a:t>
            </a:r>
          </a:p>
          <a:p>
            <a:pPr lvl="1"/>
            <a:r>
              <a:rPr lang="en-US" dirty="0">
                <a:sym typeface="Wingdings" pitchFamily="2" charset="2"/>
              </a:rPr>
              <a:t>High performance read</a:t>
            </a:r>
          </a:p>
          <a:p>
            <a:pPr lvl="2"/>
            <a:r>
              <a:rPr lang="en-US" dirty="0">
                <a:sym typeface="Wingdings" pitchFamily="2" charset="2"/>
              </a:rPr>
              <a:t>Product catalog  get only the first replica that responds because all are the same</a:t>
            </a:r>
          </a:p>
          <a:p>
            <a:r>
              <a:rPr lang="en-US" dirty="0">
                <a:sym typeface="Wingdings" pitchFamily="2" charset="2"/>
              </a:rPr>
              <a:t>Clients can tune parameters to fit their needs</a:t>
            </a:r>
          </a:p>
          <a:p>
            <a:pPr lvl="1"/>
            <a:r>
              <a:rPr lang="en-US" dirty="0">
                <a:sym typeface="Wingdings" pitchFamily="2" charset="2"/>
              </a:rPr>
              <a:t>N – number of replicates</a:t>
            </a:r>
          </a:p>
          <a:p>
            <a:pPr lvl="1"/>
            <a:r>
              <a:rPr lang="en-US" dirty="0">
                <a:sym typeface="Wingdings" pitchFamily="2" charset="2"/>
              </a:rPr>
              <a:t>R – number of responses for a read</a:t>
            </a:r>
          </a:p>
          <a:p>
            <a:pPr lvl="1"/>
            <a:r>
              <a:rPr lang="en-US" dirty="0">
                <a:sym typeface="Wingdings" pitchFamily="2" charset="2"/>
              </a:rPr>
              <a:t>W – number of responses for a write</a:t>
            </a:r>
          </a:p>
          <a:p>
            <a:pPr lvl="1"/>
            <a:r>
              <a:rPr lang="en-US" dirty="0">
                <a:sym typeface="Wingdings" pitchFamily="2" charset="2"/>
              </a:rPr>
              <a:t>Commonly (3,2,2)</a:t>
            </a:r>
            <a:endParaRPr lang="en-US" dirty="0"/>
          </a:p>
        </p:txBody>
      </p:sp>
    </p:spTree>
    <p:extLst>
      <p:ext uri="{BB962C8B-B14F-4D97-AF65-F5344CB8AC3E}">
        <p14:creationId xmlns:p14="http://schemas.microsoft.com/office/powerpoint/2010/main" val="15008821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3DE32B8-F3E7-C045-B4DB-60C32F81C891}"/>
              </a:ext>
            </a:extLst>
          </p:cNvPr>
          <p:cNvSpPr>
            <a:spLocks noGrp="1"/>
          </p:cNvSpPr>
          <p:nvPr>
            <p:ph type="title"/>
          </p:nvPr>
        </p:nvSpPr>
        <p:spPr/>
        <p:txBody>
          <a:bodyPr/>
          <a:lstStyle/>
          <a:p>
            <a:r>
              <a:rPr lang="en-US" dirty="0"/>
              <a:t>Performance</a:t>
            </a:r>
          </a:p>
        </p:txBody>
      </p:sp>
      <p:pic>
        <p:nvPicPr>
          <p:cNvPr id="5" name="Content Placeholder 4" descr="Diagram, text&#10;&#10;Description automatically generated">
            <a:extLst>
              <a:ext uri="{FF2B5EF4-FFF2-40B4-BE49-F238E27FC236}">
                <a16:creationId xmlns:a16="http://schemas.microsoft.com/office/drawing/2014/main" id="{21578070-DBF8-1742-842F-91EE9BF18D5F}"/>
              </a:ext>
            </a:extLst>
          </p:cNvPr>
          <p:cNvPicPr>
            <a:picLocks noGrp="1" noChangeAspect="1"/>
          </p:cNvPicPr>
          <p:nvPr>
            <p:ph sz="half" idx="1"/>
          </p:nvPr>
        </p:nvPicPr>
        <p:blipFill rotWithShape="1">
          <a:blip r:embed="rId2"/>
          <a:srcRect l="1522" r="2749"/>
          <a:stretch/>
        </p:blipFill>
        <p:spPr>
          <a:xfrm>
            <a:off x="739739" y="1742070"/>
            <a:ext cx="6082301" cy="4464769"/>
          </a:xfrm>
        </p:spPr>
      </p:pic>
      <p:sp>
        <p:nvSpPr>
          <p:cNvPr id="7" name="Content Placeholder 6">
            <a:extLst>
              <a:ext uri="{FF2B5EF4-FFF2-40B4-BE49-F238E27FC236}">
                <a16:creationId xmlns:a16="http://schemas.microsoft.com/office/drawing/2014/main" id="{628581AD-C780-B946-9B77-54A0CC02726C}"/>
              </a:ext>
            </a:extLst>
          </p:cNvPr>
          <p:cNvSpPr>
            <a:spLocks noGrp="1"/>
          </p:cNvSpPr>
          <p:nvPr>
            <p:ph sz="half" idx="2"/>
          </p:nvPr>
        </p:nvSpPr>
        <p:spPr>
          <a:xfrm>
            <a:off x="7263828" y="1845735"/>
            <a:ext cx="3891851" cy="4023360"/>
          </a:xfrm>
        </p:spPr>
        <p:txBody>
          <a:bodyPr/>
          <a:lstStyle/>
          <a:p>
            <a:r>
              <a:rPr lang="en-US" dirty="0"/>
              <a:t>Typical SLA requires 99.9% of reads and writes within 300 </a:t>
            </a:r>
            <a:r>
              <a:rPr lang="en-US" dirty="0" err="1"/>
              <a:t>ms</a:t>
            </a:r>
            <a:endParaRPr lang="en-US" dirty="0"/>
          </a:p>
          <a:p>
            <a:r>
              <a:rPr lang="en-US" dirty="0"/>
              <a:t>Note: difference between avg and 99.9</a:t>
            </a:r>
          </a:p>
          <a:p>
            <a:pPr lvl="1"/>
            <a:r>
              <a:rPr lang="en-US" dirty="0"/>
              <a:t>High variability</a:t>
            </a:r>
          </a:p>
          <a:p>
            <a:pPr lvl="1"/>
            <a:endParaRPr lang="en-US" dirty="0"/>
          </a:p>
          <a:p>
            <a:r>
              <a:rPr lang="en-US" dirty="0"/>
              <a:t>Can tune for higher performance</a:t>
            </a:r>
          </a:p>
          <a:p>
            <a:pPr lvl="1"/>
            <a:r>
              <a:rPr lang="en-US" dirty="0"/>
              <a:t>tradeoffs</a:t>
            </a:r>
          </a:p>
        </p:txBody>
      </p:sp>
    </p:spTree>
    <p:extLst>
      <p:ext uri="{BB962C8B-B14F-4D97-AF65-F5344CB8AC3E}">
        <p14:creationId xmlns:p14="http://schemas.microsoft.com/office/powerpoint/2010/main" val="38706602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35DCC5-A8EC-B149-9DC9-0A3BA7980DA4}"/>
              </a:ext>
            </a:extLst>
          </p:cNvPr>
          <p:cNvSpPr>
            <a:spLocks noGrp="1"/>
          </p:cNvSpPr>
          <p:nvPr>
            <p:ph type="title"/>
          </p:nvPr>
        </p:nvSpPr>
        <p:spPr/>
        <p:txBody>
          <a:bodyPr/>
          <a:lstStyle/>
          <a:p>
            <a:r>
              <a:rPr lang="en-US" dirty="0"/>
              <a:t>Optimization – Buffered Writes</a:t>
            </a:r>
          </a:p>
        </p:txBody>
      </p:sp>
      <p:pic>
        <p:nvPicPr>
          <p:cNvPr id="6" name="Content Placeholder 5" descr="Chart, histogram&#10;&#10;Description automatically generated">
            <a:extLst>
              <a:ext uri="{FF2B5EF4-FFF2-40B4-BE49-F238E27FC236}">
                <a16:creationId xmlns:a16="http://schemas.microsoft.com/office/drawing/2014/main" id="{046F2F63-11AA-924F-BA92-0E950ED01B27}"/>
              </a:ext>
            </a:extLst>
          </p:cNvPr>
          <p:cNvPicPr>
            <a:picLocks noGrp="1" noChangeAspect="1"/>
          </p:cNvPicPr>
          <p:nvPr>
            <p:ph sz="half" idx="1"/>
          </p:nvPr>
        </p:nvPicPr>
        <p:blipFill rotWithShape="1">
          <a:blip r:embed="rId2"/>
          <a:srcRect l="2122" r="3711"/>
          <a:stretch/>
        </p:blipFill>
        <p:spPr>
          <a:xfrm>
            <a:off x="729465" y="1825625"/>
            <a:ext cx="5661061" cy="4236128"/>
          </a:xfrm>
        </p:spPr>
      </p:pic>
      <p:sp>
        <p:nvSpPr>
          <p:cNvPr id="4" name="Content Placeholder 3">
            <a:extLst>
              <a:ext uri="{FF2B5EF4-FFF2-40B4-BE49-F238E27FC236}">
                <a16:creationId xmlns:a16="http://schemas.microsoft.com/office/drawing/2014/main" id="{6069E802-F6D8-2E49-BF8F-C3249F19417E}"/>
              </a:ext>
            </a:extLst>
          </p:cNvPr>
          <p:cNvSpPr>
            <a:spLocks noGrp="1"/>
          </p:cNvSpPr>
          <p:nvPr>
            <p:ph sz="half" idx="2"/>
          </p:nvPr>
        </p:nvSpPr>
        <p:spPr>
          <a:xfrm>
            <a:off x="6606283" y="1825625"/>
            <a:ext cx="5095565" cy="4351338"/>
          </a:xfrm>
        </p:spPr>
        <p:txBody>
          <a:bodyPr>
            <a:normAutofit/>
          </a:bodyPr>
          <a:lstStyle/>
          <a:p>
            <a:r>
              <a:rPr lang="en-US" dirty="0"/>
              <a:t>Performance – Durability tradeoff</a:t>
            </a:r>
          </a:p>
          <a:p>
            <a:pPr lvl="1"/>
            <a:r>
              <a:rPr lang="en-US" dirty="0"/>
              <a:t>Write to memory</a:t>
            </a:r>
          </a:p>
          <a:p>
            <a:pPr lvl="1"/>
            <a:r>
              <a:rPr lang="en-US" dirty="0"/>
              <a:t>Periodically write to disk</a:t>
            </a:r>
          </a:p>
          <a:p>
            <a:endParaRPr lang="en-US" dirty="0"/>
          </a:p>
          <a:p>
            <a:r>
              <a:rPr lang="en-US" dirty="0"/>
              <a:t>Lowered 99.9% latency by a factor of 5</a:t>
            </a:r>
          </a:p>
          <a:p>
            <a:r>
              <a:rPr lang="en-US" dirty="0"/>
              <a:t>To reduce the durability risk, the write operation is refined to have the coordinator choose one out of the N replicas to perform a “durable write”. Since the coordinator waits only for W responses, the performance of the write operation is not affected by the performance of the durable write operation performed by a single replica. </a:t>
            </a:r>
            <a:endParaRPr lang="en-US" dirty="0">
              <a:effectLst/>
            </a:endParaRPr>
          </a:p>
          <a:p>
            <a:endParaRPr lang="en-US" dirty="0"/>
          </a:p>
          <a:p>
            <a:endParaRPr lang="en-US" dirty="0"/>
          </a:p>
        </p:txBody>
      </p:sp>
    </p:spTree>
    <p:extLst>
      <p:ext uri="{BB962C8B-B14F-4D97-AF65-F5344CB8AC3E}">
        <p14:creationId xmlns:p14="http://schemas.microsoft.com/office/powerpoint/2010/main" val="9979897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BEC9B-0586-114F-B7EC-6FF9096C46A4}"/>
              </a:ext>
            </a:extLst>
          </p:cNvPr>
          <p:cNvSpPr>
            <a:spLocks noGrp="1"/>
          </p:cNvSpPr>
          <p:nvPr>
            <p:ph type="title"/>
          </p:nvPr>
        </p:nvSpPr>
        <p:spPr/>
        <p:txBody>
          <a:bodyPr/>
          <a:lstStyle/>
          <a:p>
            <a:r>
              <a:rPr lang="en-US" dirty="0"/>
              <a:t>Load Balance</a:t>
            </a:r>
          </a:p>
        </p:txBody>
      </p:sp>
      <p:pic>
        <p:nvPicPr>
          <p:cNvPr id="6" name="Content Placeholder 5" descr="Chart, line chart&#10;&#10;Description automatically generated">
            <a:extLst>
              <a:ext uri="{FF2B5EF4-FFF2-40B4-BE49-F238E27FC236}">
                <a16:creationId xmlns:a16="http://schemas.microsoft.com/office/drawing/2014/main" id="{DB32EA00-078B-BF4C-A961-376148A81043}"/>
              </a:ext>
            </a:extLst>
          </p:cNvPr>
          <p:cNvPicPr>
            <a:picLocks noGrp="1" noChangeAspect="1"/>
          </p:cNvPicPr>
          <p:nvPr>
            <p:ph sz="half" idx="1"/>
          </p:nvPr>
        </p:nvPicPr>
        <p:blipFill>
          <a:blip r:embed="rId2"/>
          <a:stretch>
            <a:fillRect/>
          </a:stretch>
        </p:blipFill>
        <p:spPr>
          <a:xfrm>
            <a:off x="5216702" y="1932904"/>
            <a:ext cx="6776331" cy="3913092"/>
          </a:xfrm>
        </p:spPr>
      </p:pic>
      <p:sp>
        <p:nvSpPr>
          <p:cNvPr id="4" name="Content Placeholder 3">
            <a:extLst>
              <a:ext uri="{FF2B5EF4-FFF2-40B4-BE49-F238E27FC236}">
                <a16:creationId xmlns:a16="http://schemas.microsoft.com/office/drawing/2014/main" id="{89069E9A-A589-9641-9D6A-9F5ACA4F2EB2}"/>
              </a:ext>
            </a:extLst>
          </p:cNvPr>
          <p:cNvSpPr>
            <a:spLocks noGrp="1"/>
          </p:cNvSpPr>
          <p:nvPr>
            <p:ph sz="half" idx="2"/>
          </p:nvPr>
        </p:nvSpPr>
        <p:spPr>
          <a:xfrm>
            <a:off x="838200" y="1837982"/>
            <a:ext cx="5181600" cy="4351338"/>
          </a:xfrm>
        </p:spPr>
        <p:txBody>
          <a:bodyPr/>
          <a:lstStyle/>
          <a:p>
            <a:r>
              <a:rPr lang="en-US" dirty="0"/>
              <a:t>During high loads balance is pretty good</a:t>
            </a:r>
          </a:p>
          <a:p>
            <a:r>
              <a:rPr lang="en-US" dirty="0"/>
              <a:t>Low loads can cause imbalance</a:t>
            </a:r>
          </a:p>
          <a:p>
            <a:r>
              <a:rPr lang="en-US" dirty="0"/>
              <a:t>Why?</a:t>
            </a:r>
          </a:p>
        </p:txBody>
      </p:sp>
    </p:spTree>
    <p:extLst>
      <p:ext uri="{BB962C8B-B14F-4D97-AF65-F5344CB8AC3E}">
        <p14:creationId xmlns:p14="http://schemas.microsoft.com/office/powerpoint/2010/main" val="8789394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Diagram&#10;&#10;Description automatically generated">
            <a:extLst>
              <a:ext uri="{FF2B5EF4-FFF2-40B4-BE49-F238E27FC236}">
                <a16:creationId xmlns:a16="http://schemas.microsoft.com/office/drawing/2014/main" id="{AFDD89C4-97F1-0947-8D18-7EF61BD3B437}"/>
              </a:ext>
            </a:extLst>
          </p:cNvPr>
          <p:cNvPicPr>
            <a:picLocks noChangeAspect="1"/>
          </p:cNvPicPr>
          <p:nvPr/>
        </p:nvPicPr>
        <p:blipFill>
          <a:blip r:embed="rId2"/>
          <a:stretch>
            <a:fillRect/>
          </a:stretch>
        </p:blipFill>
        <p:spPr>
          <a:xfrm>
            <a:off x="0" y="0"/>
            <a:ext cx="12192000" cy="4818580"/>
          </a:xfrm>
          <a:prstGeom prst="rect">
            <a:avLst/>
          </a:prstGeom>
        </p:spPr>
      </p:pic>
      <p:sp>
        <p:nvSpPr>
          <p:cNvPr id="4" name="TextBox 3">
            <a:extLst>
              <a:ext uri="{FF2B5EF4-FFF2-40B4-BE49-F238E27FC236}">
                <a16:creationId xmlns:a16="http://schemas.microsoft.com/office/drawing/2014/main" id="{CA19BB5D-5A7D-B848-9AF3-79FC7D1964AE}"/>
              </a:ext>
            </a:extLst>
          </p:cNvPr>
          <p:cNvSpPr txBox="1"/>
          <p:nvPr/>
        </p:nvSpPr>
        <p:spPr>
          <a:xfrm>
            <a:off x="733137" y="4941870"/>
            <a:ext cx="2616742" cy="923330"/>
          </a:xfrm>
          <a:prstGeom prst="rect">
            <a:avLst/>
          </a:prstGeom>
          <a:noFill/>
        </p:spPr>
        <p:txBody>
          <a:bodyPr wrap="none" rtlCol="0">
            <a:spAutoFit/>
          </a:bodyPr>
          <a:lstStyle/>
          <a:p>
            <a:r>
              <a:rPr lang="en-US" dirty="0"/>
              <a:t>Partition by node position</a:t>
            </a:r>
          </a:p>
          <a:p>
            <a:endParaRPr lang="en-US" dirty="0"/>
          </a:p>
          <a:p>
            <a:r>
              <a:rPr lang="en-US" dirty="0"/>
              <a:t>Basic Consistent Hashing</a:t>
            </a:r>
          </a:p>
        </p:txBody>
      </p:sp>
      <p:sp>
        <p:nvSpPr>
          <p:cNvPr id="5" name="TextBox 4">
            <a:extLst>
              <a:ext uri="{FF2B5EF4-FFF2-40B4-BE49-F238E27FC236}">
                <a16:creationId xmlns:a16="http://schemas.microsoft.com/office/drawing/2014/main" id="{C728FB41-C7C0-5C40-AF4E-35DE3D279866}"/>
              </a:ext>
            </a:extLst>
          </p:cNvPr>
          <p:cNvSpPr txBox="1"/>
          <p:nvPr/>
        </p:nvSpPr>
        <p:spPr>
          <a:xfrm>
            <a:off x="4284323" y="4828854"/>
            <a:ext cx="4465332" cy="1477328"/>
          </a:xfrm>
          <a:prstGeom prst="rect">
            <a:avLst/>
          </a:prstGeom>
          <a:noFill/>
        </p:spPr>
        <p:txBody>
          <a:bodyPr wrap="square" rtlCol="0">
            <a:spAutoFit/>
          </a:bodyPr>
          <a:lstStyle/>
          <a:p>
            <a:r>
              <a:rPr lang="en-US" dirty="0"/>
              <a:t>Consistent Hashing with equal size partitions</a:t>
            </a:r>
          </a:p>
          <a:p>
            <a:endParaRPr lang="en-US" dirty="0"/>
          </a:p>
          <a:p>
            <a:r>
              <a:rPr lang="en-US" dirty="0"/>
              <a:t>Key is stored on first N nodes encountered when walking the ring from the end of the partition</a:t>
            </a:r>
          </a:p>
        </p:txBody>
      </p:sp>
      <p:sp>
        <p:nvSpPr>
          <p:cNvPr id="6" name="TextBox 5">
            <a:extLst>
              <a:ext uri="{FF2B5EF4-FFF2-40B4-BE49-F238E27FC236}">
                <a16:creationId xmlns:a16="http://schemas.microsoft.com/office/drawing/2014/main" id="{7171B565-B6CC-2841-A3BD-5022E6B3BCFA}"/>
              </a:ext>
            </a:extLst>
          </p:cNvPr>
          <p:cNvSpPr txBox="1"/>
          <p:nvPr/>
        </p:nvSpPr>
        <p:spPr>
          <a:xfrm>
            <a:off x="9157708" y="4941870"/>
            <a:ext cx="3034292" cy="923330"/>
          </a:xfrm>
          <a:prstGeom prst="rect">
            <a:avLst/>
          </a:prstGeom>
          <a:noFill/>
        </p:spPr>
        <p:txBody>
          <a:bodyPr wrap="none" rtlCol="0">
            <a:spAutoFit/>
          </a:bodyPr>
          <a:lstStyle/>
          <a:p>
            <a:r>
              <a:rPr lang="en-US" dirty="0"/>
              <a:t>Equal size partitions with</a:t>
            </a:r>
          </a:p>
          <a:p>
            <a:r>
              <a:rPr lang="en-US" dirty="0"/>
              <a:t>moving the consistent hashing</a:t>
            </a:r>
          </a:p>
          <a:p>
            <a:r>
              <a:rPr lang="en-US" dirty="0"/>
              <a:t>locations</a:t>
            </a:r>
          </a:p>
        </p:txBody>
      </p:sp>
    </p:spTree>
    <p:extLst>
      <p:ext uri="{BB962C8B-B14F-4D97-AF65-F5344CB8AC3E}">
        <p14:creationId xmlns:p14="http://schemas.microsoft.com/office/powerpoint/2010/main" val="15218656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10;&#10;Description automatically generated">
            <a:extLst>
              <a:ext uri="{FF2B5EF4-FFF2-40B4-BE49-F238E27FC236}">
                <a16:creationId xmlns:a16="http://schemas.microsoft.com/office/drawing/2014/main" id="{8912B7CB-15C2-C649-B55C-37DD7BE62507}"/>
              </a:ext>
            </a:extLst>
          </p:cNvPr>
          <p:cNvPicPr>
            <a:picLocks noChangeAspect="1"/>
          </p:cNvPicPr>
          <p:nvPr/>
        </p:nvPicPr>
        <p:blipFill>
          <a:blip r:embed="rId2"/>
          <a:stretch>
            <a:fillRect/>
          </a:stretch>
        </p:blipFill>
        <p:spPr>
          <a:xfrm>
            <a:off x="2133600" y="869950"/>
            <a:ext cx="7924800" cy="5118100"/>
          </a:xfrm>
          <a:prstGeom prst="rect">
            <a:avLst/>
          </a:prstGeom>
        </p:spPr>
      </p:pic>
    </p:spTree>
    <p:extLst>
      <p:ext uri="{BB962C8B-B14F-4D97-AF65-F5344CB8AC3E}">
        <p14:creationId xmlns:p14="http://schemas.microsoft.com/office/powerpoint/2010/main" val="27418636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563ED-8800-9341-A88D-71EAF85EA85B}"/>
              </a:ext>
            </a:extLst>
          </p:cNvPr>
          <p:cNvSpPr>
            <a:spLocks noGrp="1"/>
          </p:cNvSpPr>
          <p:nvPr>
            <p:ph type="title"/>
          </p:nvPr>
        </p:nvSpPr>
        <p:spPr/>
        <p:txBody>
          <a:bodyPr/>
          <a:lstStyle/>
          <a:p>
            <a:r>
              <a:rPr lang="en-US" dirty="0"/>
              <a:t>Performance takeaways</a:t>
            </a:r>
          </a:p>
        </p:txBody>
      </p:sp>
      <p:sp>
        <p:nvSpPr>
          <p:cNvPr id="3" name="Content Placeholder 2">
            <a:extLst>
              <a:ext uri="{FF2B5EF4-FFF2-40B4-BE49-F238E27FC236}">
                <a16:creationId xmlns:a16="http://schemas.microsoft.com/office/drawing/2014/main" id="{FD8D0D35-AFE1-3C4A-BF6F-9EEE0412DD77}"/>
              </a:ext>
            </a:extLst>
          </p:cNvPr>
          <p:cNvSpPr>
            <a:spLocks noGrp="1"/>
          </p:cNvSpPr>
          <p:nvPr>
            <p:ph idx="1"/>
          </p:nvPr>
        </p:nvSpPr>
        <p:spPr/>
        <p:txBody>
          <a:bodyPr/>
          <a:lstStyle/>
          <a:p>
            <a:r>
              <a:rPr lang="en-US" dirty="0"/>
              <a:t>Basic Consistent Hashing (Strategy 1) does pretty good</a:t>
            </a:r>
          </a:p>
          <a:p>
            <a:r>
              <a:rPr lang="en-US" dirty="0"/>
              <a:t>Strategy 3 does better because of equal size partitions</a:t>
            </a:r>
          </a:p>
          <a:p>
            <a:pPr lvl="1"/>
            <a:r>
              <a:rPr lang="en-US" dirty="0"/>
              <a:t>Better load balance</a:t>
            </a:r>
          </a:p>
          <a:p>
            <a:r>
              <a:rPr lang="en-US" dirty="0"/>
              <a:t>Strategy 2 doesn’t do well because it must keep track of more information</a:t>
            </a:r>
          </a:p>
          <a:p>
            <a:pPr lvl="1"/>
            <a:r>
              <a:rPr lang="en-US" dirty="0"/>
              <a:t>Equal size partitions and hash locations and mapping</a:t>
            </a:r>
          </a:p>
        </p:txBody>
      </p:sp>
    </p:spTree>
    <p:extLst>
      <p:ext uri="{BB962C8B-B14F-4D97-AF65-F5344CB8AC3E}">
        <p14:creationId xmlns:p14="http://schemas.microsoft.com/office/powerpoint/2010/main" val="37373695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451EC-F4C4-6F42-90A3-7D8B15A68035}"/>
              </a:ext>
            </a:extLst>
          </p:cNvPr>
          <p:cNvSpPr>
            <a:spLocks noGrp="1"/>
          </p:cNvSpPr>
          <p:nvPr>
            <p:ph type="title"/>
          </p:nvPr>
        </p:nvSpPr>
        <p:spPr/>
        <p:txBody>
          <a:bodyPr/>
          <a:lstStyle/>
          <a:p>
            <a:r>
              <a:rPr lang="en-US" dirty="0"/>
              <a:t>Client or Server driven coordination?</a:t>
            </a:r>
          </a:p>
        </p:txBody>
      </p:sp>
      <p:sp>
        <p:nvSpPr>
          <p:cNvPr id="3" name="Content Placeholder 2">
            <a:extLst>
              <a:ext uri="{FF2B5EF4-FFF2-40B4-BE49-F238E27FC236}">
                <a16:creationId xmlns:a16="http://schemas.microsoft.com/office/drawing/2014/main" id="{52ABA1DC-5C5F-B24A-B7CB-119091EE3FF1}"/>
              </a:ext>
            </a:extLst>
          </p:cNvPr>
          <p:cNvSpPr>
            <a:spLocks noGrp="1"/>
          </p:cNvSpPr>
          <p:nvPr>
            <p:ph idx="1"/>
          </p:nvPr>
        </p:nvSpPr>
        <p:spPr/>
        <p:txBody>
          <a:bodyPr>
            <a:normAutofit/>
          </a:bodyPr>
          <a:lstStyle/>
          <a:p>
            <a:r>
              <a:rPr lang="en-US" dirty="0"/>
              <a:t>Server driven</a:t>
            </a:r>
          </a:p>
          <a:p>
            <a:pPr lvl="1"/>
            <a:r>
              <a:rPr lang="en-US" dirty="0"/>
              <a:t>Client can talk to anyone</a:t>
            </a:r>
          </a:p>
          <a:p>
            <a:pPr lvl="1"/>
            <a:r>
              <a:rPr lang="en-US" dirty="0"/>
              <a:t>Load is directed by a load balancing system</a:t>
            </a:r>
          </a:p>
          <a:p>
            <a:pPr lvl="1"/>
            <a:r>
              <a:rPr lang="en-US" dirty="0"/>
              <a:t>Request is then forwarded to appropriate nodes</a:t>
            </a:r>
          </a:p>
          <a:p>
            <a:r>
              <a:rPr lang="en-US" dirty="0"/>
              <a:t>Client driven</a:t>
            </a:r>
          </a:p>
          <a:p>
            <a:pPr lvl="1"/>
            <a:r>
              <a:rPr lang="en-US" dirty="0"/>
              <a:t>Client periodically requests state of the system</a:t>
            </a:r>
          </a:p>
          <a:p>
            <a:pPr lvl="2"/>
            <a:r>
              <a:rPr lang="en-US" dirty="0"/>
              <a:t>Nodes and locations etc.</a:t>
            </a:r>
          </a:p>
          <a:p>
            <a:pPr lvl="1"/>
            <a:r>
              <a:rPr lang="en-US" dirty="0"/>
              <a:t>Client then can talk directly to the appropriate nodes</a:t>
            </a:r>
          </a:p>
          <a:p>
            <a:pPr lvl="1"/>
            <a:r>
              <a:rPr lang="en-US" dirty="0"/>
              <a:t>Avoid the extra network hop</a:t>
            </a:r>
          </a:p>
          <a:p>
            <a:pPr lvl="1"/>
            <a:r>
              <a:rPr lang="en-US" dirty="0"/>
              <a:t>Depends on how fresh the information is</a:t>
            </a:r>
          </a:p>
          <a:p>
            <a:pPr lvl="2"/>
            <a:r>
              <a:rPr lang="en-US" dirty="0"/>
              <a:t>Currently clients poll every 10 seconds</a:t>
            </a:r>
          </a:p>
        </p:txBody>
      </p:sp>
    </p:spTree>
    <p:extLst>
      <p:ext uri="{BB962C8B-B14F-4D97-AF65-F5344CB8AC3E}">
        <p14:creationId xmlns:p14="http://schemas.microsoft.com/office/powerpoint/2010/main" val="11000477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able&#10;&#10;Description automatically generated">
            <a:extLst>
              <a:ext uri="{FF2B5EF4-FFF2-40B4-BE49-F238E27FC236}">
                <a16:creationId xmlns:a16="http://schemas.microsoft.com/office/drawing/2014/main" id="{69AFDB9A-76C4-CF4F-9885-9FA7C482E94E}"/>
              </a:ext>
            </a:extLst>
          </p:cNvPr>
          <p:cNvPicPr>
            <a:picLocks noChangeAspect="1"/>
          </p:cNvPicPr>
          <p:nvPr/>
        </p:nvPicPr>
        <p:blipFill>
          <a:blip r:embed="rId2"/>
          <a:stretch>
            <a:fillRect/>
          </a:stretch>
        </p:blipFill>
        <p:spPr>
          <a:xfrm>
            <a:off x="1771650" y="1181100"/>
            <a:ext cx="8648700" cy="4495800"/>
          </a:xfrm>
          <a:prstGeom prst="rect">
            <a:avLst/>
          </a:prstGeom>
        </p:spPr>
      </p:pic>
    </p:spTree>
    <p:extLst>
      <p:ext uri="{BB962C8B-B14F-4D97-AF65-F5344CB8AC3E}">
        <p14:creationId xmlns:p14="http://schemas.microsoft.com/office/powerpoint/2010/main" val="12131093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BB680-5232-544F-9CA2-75E73384859E}"/>
              </a:ext>
            </a:extLst>
          </p:cNvPr>
          <p:cNvSpPr>
            <a:spLocks noGrp="1"/>
          </p:cNvSpPr>
          <p:nvPr>
            <p:ph type="title"/>
          </p:nvPr>
        </p:nvSpPr>
        <p:spPr/>
        <p:txBody>
          <a:bodyPr/>
          <a:lstStyle/>
          <a:p>
            <a:r>
              <a:rPr lang="en-US" dirty="0"/>
              <a:t>Discussion</a:t>
            </a:r>
          </a:p>
        </p:txBody>
      </p:sp>
      <p:sp>
        <p:nvSpPr>
          <p:cNvPr id="3" name="Content Placeholder 2">
            <a:extLst>
              <a:ext uri="{FF2B5EF4-FFF2-40B4-BE49-F238E27FC236}">
                <a16:creationId xmlns:a16="http://schemas.microsoft.com/office/drawing/2014/main" id="{0783FDBD-CE66-1341-85A8-9D43BA3E8361}"/>
              </a:ext>
            </a:extLst>
          </p:cNvPr>
          <p:cNvSpPr>
            <a:spLocks noGrp="1"/>
          </p:cNvSpPr>
          <p:nvPr>
            <p:ph idx="1"/>
          </p:nvPr>
        </p:nvSpPr>
        <p:spPr/>
        <p:txBody>
          <a:bodyPr>
            <a:normAutofit/>
          </a:bodyPr>
          <a:lstStyle/>
          <a:p>
            <a:r>
              <a:rPr lang="en-US" dirty="0"/>
              <a:t>Many Amazon internal services have used Dynamo for the past two years and it has provided significant levels of availability to its applications. In particular, applications have received successful responses (without timing out) for 99.9995% of its requests and no data loss event has occurred to date. </a:t>
            </a:r>
            <a:endParaRPr lang="en-US" dirty="0">
              <a:effectLst/>
            </a:endParaRPr>
          </a:p>
          <a:p>
            <a:r>
              <a:rPr lang="en-US" dirty="0"/>
              <a:t>The primary advantage of Dynamo is that it provides the necessary knobs using the three parameters of (N,R,W) to tune their instance based on their needs. </a:t>
            </a:r>
          </a:p>
          <a:p>
            <a:r>
              <a:rPr lang="en-US" dirty="0"/>
              <a:t>For new applications that want to use Dynamo, some analysis is required during the initial stages of the development to pick the right conflict resolution mechanisms that meet the business case appropriately. </a:t>
            </a:r>
            <a:endParaRPr lang="en-US" dirty="0">
              <a:effectLst/>
            </a:endParaRPr>
          </a:p>
          <a:p>
            <a:r>
              <a:rPr lang="en-US" dirty="0">
                <a:effectLst/>
              </a:rPr>
              <a:t>Gossip model works well for hundreds of nodes but might be a problem for thousands of nodes</a:t>
            </a:r>
          </a:p>
          <a:p>
            <a:endParaRPr lang="en-US" dirty="0"/>
          </a:p>
        </p:txBody>
      </p:sp>
    </p:spTree>
    <p:extLst>
      <p:ext uri="{BB962C8B-B14F-4D97-AF65-F5344CB8AC3E}">
        <p14:creationId xmlns:p14="http://schemas.microsoft.com/office/powerpoint/2010/main" val="2566706071"/>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6B9F25"/>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Presentation2" id="{B8161CE3-1ECC-C945-B31E-724735EE6F50}" vid="{743CEF73-0D38-6542-AA38-B91A3FC6627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895</TotalTime>
  <Words>2614</Words>
  <Application>Microsoft Macintosh PowerPoint</Application>
  <PresentationFormat>Widescreen</PresentationFormat>
  <Paragraphs>327</Paragraphs>
  <Slides>42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42</vt:i4>
      </vt:variant>
    </vt:vector>
  </HeadingPairs>
  <TitlesOfParts>
    <vt:vector size="46" baseType="lpstr">
      <vt:lpstr>Arial</vt:lpstr>
      <vt:lpstr>Calibri</vt:lpstr>
      <vt:lpstr>Calibri Light</vt:lpstr>
      <vt:lpstr>Retrospect</vt:lpstr>
      <vt:lpstr>Key-Value Databases</vt:lpstr>
      <vt:lpstr>Keys and Values</vt:lpstr>
      <vt:lpstr>Assumptions</vt:lpstr>
      <vt:lpstr>System Interface</vt:lpstr>
      <vt:lpstr>Keys and Values</vt:lpstr>
      <vt:lpstr>Designing for Key-Value Databases</vt:lpstr>
      <vt:lpstr>Keys</vt:lpstr>
      <vt:lpstr>Keys and Partitioning</vt:lpstr>
      <vt:lpstr>Values</vt:lpstr>
      <vt:lpstr>Values</vt:lpstr>
      <vt:lpstr>Remember </vt:lpstr>
      <vt:lpstr>Design Patterns</vt:lpstr>
      <vt:lpstr>Emulating Tables</vt:lpstr>
      <vt:lpstr>Aggregates</vt:lpstr>
      <vt:lpstr>Atomic Aggregates - Enumerable Keys – Range Keys</vt:lpstr>
      <vt:lpstr>Dynamo: Amazon’s Highly Available Key-value Store </vt:lpstr>
      <vt:lpstr>Dynamo Goals</vt:lpstr>
      <vt:lpstr>Dynamo</vt:lpstr>
      <vt:lpstr>Assumptions</vt:lpstr>
      <vt:lpstr>PowerPoint Presentation</vt:lpstr>
      <vt:lpstr>Design Considerations</vt:lpstr>
      <vt:lpstr>Design Considerations</vt:lpstr>
      <vt:lpstr>PowerPoint Presentation</vt:lpstr>
      <vt:lpstr>Partitioning</vt:lpstr>
      <vt:lpstr>Replication</vt:lpstr>
      <vt:lpstr>Data Versioning</vt:lpstr>
      <vt:lpstr>Execution of Operations</vt:lpstr>
      <vt:lpstr>Hinted Handoff</vt:lpstr>
      <vt:lpstr>Hinted Handoff</vt:lpstr>
      <vt:lpstr>Replica Inconsistency</vt:lpstr>
      <vt:lpstr>Membership &amp; Failure Detection</vt:lpstr>
      <vt:lpstr>Implementation</vt:lpstr>
      <vt:lpstr>Lessons Learned</vt:lpstr>
      <vt:lpstr>Performance</vt:lpstr>
      <vt:lpstr>Optimization – Buffered Writes</vt:lpstr>
      <vt:lpstr>Load Balance</vt:lpstr>
      <vt:lpstr>PowerPoint Presentation</vt:lpstr>
      <vt:lpstr>PowerPoint Presentation</vt:lpstr>
      <vt:lpstr>Performance takeaways</vt:lpstr>
      <vt:lpstr>Client or Server driven coordination?</vt:lpstr>
      <vt:lpstr>PowerPoint Presentation</vt:lpstr>
      <vt:lpstr>Discussion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Key-Value Databases</dc:title>
  <dc:creator>Quinn Snell</dc:creator>
  <cp:lastModifiedBy>Quinn Snell</cp:lastModifiedBy>
  <cp:revision>5</cp:revision>
  <dcterms:created xsi:type="dcterms:W3CDTF">2021-11-02T02:25:26Z</dcterms:created>
  <dcterms:modified xsi:type="dcterms:W3CDTF">2021-11-02T17:20:38Z</dcterms:modified>
</cp:coreProperties>
</file>